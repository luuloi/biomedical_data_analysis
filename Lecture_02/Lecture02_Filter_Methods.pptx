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24"/>
  </p:notesMasterIdLst>
  <p:sldIdLst>
    <p:sldId id="257" r:id="rId2"/>
    <p:sldId id="270" r:id="rId3"/>
    <p:sldId id="339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3" r:id="rId14"/>
    <p:sldId id="352" r:id="rId15"/>
    <p:sldId id="354" r:id="rId16"/>
    <p:sldId id="355" r:id="rId17"/>
    <p:sldId id="356" r:id="rId18"/>
    <p:sldId id="357" r:id="rId19"/>
    <p:sldId id="358" r:id="rId20"/>
    <p:sldId id="359" r:id="rId21"/>
    <p:sldId id="278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fld id="{5CDF7F7E-F815-4845-9F25-6AA55375E7FC}" type="datetimeFigureOut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fld id="{BD503204-0D85-4D43-9361-EE939A533D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0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0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9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3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3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5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9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92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0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3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09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940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55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60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14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5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7BA9-91CD-41CC-B7FA-68F96BC9FFC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F577-10E9-484E-8F87-B30A3AFE5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558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1_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4504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D2BE7BA9-91CD-41CC-B7FA-68F96BC9FFCB}" type="datetimeFigureOut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028FF577-10E9-484E-8F87-B30A3AFE55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321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Calibri Light" panose="020F030202020403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uu.p.loi@google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grawalsam1997/feature-selection-using-lasso-regression-10f49c973f08" TargetMode="External"/><Relationship Id="rId2" Type="http://schemas.openxmlformats.org/officeDocument/2006/relationships/hyperlink" Target="https://www.datacamp.com/tutorial/tutorial-lasso-ridge-regress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og.trainindata.com/lasso-feature-selection-with-python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/>
        </p:nvSpPr>
        <p:spPr>
          <a:xfrm>
            <a:off x="1036320" y="2314683"/>
            <a:ext cx="10226040" cy="134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400" tIns="28400" rIns="28400" bIns="28400" anchor="ctr" anchorCtr="0">
            <a:noAutofit/>
          </a:bodyPr>
          <a:lstStyle/>
          <a:p>
            <a:pPr algn="ctr">
              <a:spcBef>
                <a:spcPts val="133"/>
              </a:spcBef>
              <a:buClr>
                <a:schemeClr val="dk1"/>
              </a:buClr>
              <a:buSzPts val="1100"/>
            </a:pPr>
            <a:r>
              <a:rPr lang="en-GB" sz="54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Feature Selection with Filter Methods</a:t>
            </a:r>
            <a:endParaRPr lang="vi-VN" sz="5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5437414" y="4457608"/>
            <a:ext cx="5459186" cy="153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/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Nov 08 2025</a:t>
            </a:r>
          </a:p>
          <a:p>
            <a:pPr algn="r"/>
            <a:r>
              <a:rPr lang="en-US" sz="2400" b="1" dirty="0" err="1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Giảng</a:t>
            </a:r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</a:t>
            </a:r>
            <a:r>
              <a:rPr lang="en-US" sz="2400" b="1" dirty="0" err="1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viên</a:t>
            </a:r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: TS. Lưu Phúc Lợi</a:t>
            </a:r>
          </a:p>
          <a:p>
            <a:pPr algn="r"/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Email: </a:t>
            </a:r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  <a:hlinkClick r:id="rId3"/>
              </a:rPr>
              <a:t>Luu.p.loi@googlemail.com</a:t>
            </a:r>
            <a:endParaRPr lang="en-US" sz="2400" b="1" dirty="0">
              <a:solidFill>
                <a:schemeClr val="lt1"/>
              </a:solidFill>
              <a:latin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algn="r"/>
            <a:r>
              <a:rPr lang="en-US" sz="2400" b="1" dirty="0" err="1">
                <a:solidFill>
                  <a:schemeClr val="lt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Zalo</a:t>
            </a:r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: 0901802182</a:t>
            </a:r>
            <a:endParaRPr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635A84-5931-D1B3-DAA6-7EB2A6DD0E54}"/>
              </a:ext>
            </a:extLst>
          </p:cNvPr>
          <p:cNvSpPr txBox="1">
            <a:spLocks/>
          </p:cNvSpPr>
          <p:nvPr/>
        </p:nvSpPr>
        <p:spPr>
          <a:xfrm>
            <a:off x="957943" y="401074"/>
            <a:ext cx="10348687" cy="836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102E0B-9F84-E59D-665A-5A742E7E06CD}"/>
              </a:ext>
            </a:extLst>
          </p:cNvPr>
          <p:cNvSpPr txBox="1">
            <a:spLocks/>
          </p:cNvSpPr>
          <p:nvPr/>
        </p:nvSpPr>
        <p:spPr>
          <a:xfrm>
            <a:off x="544204" y="1613647"/>
            <a:ext cx="10762426" cy="4425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 algn="just">
              <a:buFont typeface="+mj-lt"/>
              <a:buAutoNum type="arabicPeriod"/>
            </a:pPr>
            <a: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Recap of Covariance and Correlation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Coefficient correlation filter methods: Principle and Process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Advantage and limitation</a:t>
            </a:r>
            <a:endParaRPr lang="en-US" sz="32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83364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CCFA41E-7F18-AE1B-377D-CC212B023EC4}"/>
              </a:ext>
            </a:extLst>
          </p:cNvPr>
          <p:cNvGrpSpPr/>
          <p:nvPr/>
        </p:nvGrpSpPr>
        <p:grpSpPr>
          <a:xfrm>
            <a:off x="123335" y="1241370"/>
            <a:ext cx="11945881" cy="5009804"/>
            <a:chOff x="123335" y="1158240"/>
            <a:chExt cx="11945881" cy="5009804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7D9097F3-19AE-BCA8-700A-E9E87F8198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94"/>
            <a:stretch/>
          </p:blipFill>
          <p:spPr bwMode="auto">
            <a:xfrm>
              <a:off x="123335" y="1158240"/>
              <a:ext cx="11945881" cy="5009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4ACBEE-43FF-87E7-F08E-587EA877B093}"/>
                </a:ext>
              </a:extLst>
            </p:cNvPr>
            <p:cNvSpPr/>
            <p:nvPr/>
          </p:nvSpPr>
          <p:spPr>
            <a:xfrm>
              <a:off x="7187739" y="2975956"/>
              <a:ext cx="2371898" cy="117486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Light" panose="020F03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6D8974-90F1-291A-D7C7-38A7C99328B9}"/>
                </a:ext>
              </a:extLst>
            </p:cNvPr>
            <p:cNvSpPr/>
            <p:nvPr/>
          </p:nvSpPr>
          <p:spPr>
            <a:xfrm>
              <a:off x="5270266" y="3491344"/>
              <a:ext cx="2105893" cy="52647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0EA35AC-6876-84A6-C53F-E76821E0F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446" y="181165"/>
            <a:ext cx="9404723" cy="661191"/>
          </a:xfrm>
        </p:spPr>
        <p:txBody>
          <a:bodyPr/>
          <a:lstStyle/>
          <a:p>
            <a:pPr algn="ctr"/>
            <a:r>
              <a:rPr lang="en-GB" sz="3200" b="1" dirty="0"/>
              <a:t>Supervised Feature Selection: Filter Methods</a:t>
            </a:r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77249-29A7-7786-DE02-55B7F89AEBA0}"/>
              </a:ext>
            </a:extLst>
          </p:cNvPr>
          <p:cNvSpPr txBox="1"/>
          <p:nvPr/>
        </p:nvSpPr>
        <p:spPr>
          <a:xfrm>
            <a:off x="2449483" y="6382438"/>
            <a:ext cx="967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Calibri Light" panose="020F0302020204030204" pitchFamily="34" charset="0"/>
              </a:rPr>
              <a:t>https://medium.com/analytics-vidhya/feature-selection-extended-overview-b58f1d524c1c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5F3D903-5E19-CAD6-3C72-0586F3FF6DB7}"/>
              </a:ext>
            </a:extLst>
          </p:cNvPr>
          <p:cNvSpPr/>
          <p:nvPr/>
        </p:nvSpPr>
        <p:spPr>
          <a:xfrm>
            <a:off x="2144683" y="1390996"/>
            <a:ext cx="1512917" cy="737062"/>
          </a:xfrm>
          <a:prstGeom prst="ellipse">
            <a:avLst/>
          </a:prstGeom>
          <a:noFill/>
          <a:ln w="57150"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F553D4-28F2-3CE2-6BC4-A1156A9A1C86}"/>
              </a:ext>
            </a:extLst>
          </p:cNvPr>
          <p:cNvSpPr/>
          <p:nvPr/>
        </p:nvSpPr>
        <p:spPr>
          <a:xfrm>
            <a:off x="3150523" y="2128058"/>
            <a:ext cx="1512917" cy="737062"/>
          </a:xfrm>
          <a:prstGeom prst="ellipse">
            <a:avLst/>
          </a:prstGeom>
          <a:noFill/>
          <a:ln w="57150"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73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97547"/>
            <a:ext cx="10086109" cy="699980"/>
          </a:xfrm>
        </p:spPr>
        <p:txBody>
          <a:bodyPr/>
          <a:lstStyle/>
          <a:p>
            <a:pPr algn="ctr"/>
            <a:r>
              <a:rPr lang="en-GB" sz="3200" b="1" dirty="0"/>
              <a:t>Relationship between Independent and dependent variables</a:t>
            </a:r>
            <a:endParaRPr lang="en-US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4AA77F-96D3-7AE7-70B4-9296EF174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657" y="1379914"/>
            <a:ext cx="8360685" cy="4431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0DCEB9-2C51-20DF-3398-28E3A8A0C988}"/>
              </a:ext>
            </a:extLst>
          </p:cNvPr>
          <p:cNvSpPr txBox="1"/>
          <p:nvPr/>
        </p:nvSpPr>
        <p:spPr>
          <a:xfrm>
            <a:off x="2163228" y="6283454"/>
            <a:ext cx="8360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https://www.geeksforgeeks.org/engineering-mathematics/mathematics-covariance-and-correlation/</a:t>
            </a:r>
          </a:p>
        </p:txBody>
      </p:sp>
    </p:spTree>
    <p:extLst>
      <p:ext uri="{BB962C8B-B14F-4D97-AF65-F5344CB8AC3E}">
        <p14:creationId xmlns:p14="http://schemas.microsoft.com/office/powerpoint/2010/main" val="824025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97547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Covariance</a:t>
            </a:r>
            <a:endParaRPr lang="en-US" sz="4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36A01-438A-C5DE-F52D-8752034EE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24" y="1331259"/>
            <a:ext cx="10889183" cy="4195481"/>
          </a:xfrm>
        </p:spPr>
        <p:txBody>
          <a:bodyPr/>
          <a:lstStyle/>
          <a:p>
            <a:r>
              <a:rPr lang="en-GB" dirty="0"/>
              <a:t>It can take any value between - infinity to +infinity, where the negative value represents the negative relationship whereas a positive value represents the positive relationship.</a:t>
            </a:r>
          </a:p>
          <a:p>
            <a:r>
              <a:rPr lang="en-GB" dirty="0"/>
              <a:t>It is used for the linear relationship between variables.</a:t>
            </a:r>
          </a:p>
          <a:p>
            <a:r>
              <a:rPr lang="en-GB" dirty="0"/>
              <a:t>It gives the direction of relationship between variables.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0251A7-F09F-7299-1236-B8D2B20DC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486" y="3327905"/>
            <a:ext cx="7194819" cy="296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0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6280-879E-3E4E-A0F5-B0A5DA44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9"/>
            <a:ext cx="9404723" cy="650104"/>
          </a:xfrm>
        </p:spPr>
        <p:txBody>
          <a:bodyPr/>
          <a:lstStyle/>
          <a:p>
            <a:pPr algn="ctr"/>
            <a:r>
              <a:rPr lang="en-GB" b="1" dirty="0"/>
              <a:t>Sample Covariance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077AE5-D8A0-CCB6-88D5-987BB6F07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292" y="1468430"/>
            <a:ext cx="8824323" cy="4936851"/>
          </a:xfrm>
        </p:spPr>
      </p:pic>
    </p:spTree>
    <p:extLst>
      <p:ext uri="{BB962C8B-B14F-4D97-AF65-F5344CB8AC3E}">
        <p14:creationId xmlns:p14="http://schemas.microsoft.com/office/powerpoint/2010/main" val="384167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6280-879E-3E4E-A0F5-B0A5DA44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11" y="319715"/>
            <a:ext cx="9404723" cy="650104"/>
          </a:xfrm>
        </p:spPr>
        <p:txBody>
          <a:bodyPr/>
          <a:lstStyle/>
          <a:p>
            <a:pPr algn="ctr"/>
            <a:r>
              <a:rPr lang="en-GB" b="1" dirty="0"/>
              <a:t>Population Covariance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78E96F-9779-834B-49F8-911B96A64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229" y="1378438"/>
            <a:ext cx="7782459" cy="489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67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170085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Correlation</a:t>
            </a:r>
            <a:endParaRPr lang="en-US" sz="4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36A01-438A-C5DE-F52D-8752034EE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24" y="1131754"/>
            <a:ext cx="10889183" cy="4195481"/>
          </a:xfrm>
        </p:spPr>
        <p:txBody>
          <a:bodyPr/>
          <a:lstStyle/>
          <a:p>
            <a:pPr algn="just"/>
            <a:r>
              <a:rPr lang="en-GB" dirty="0"/>
              <a:t>Correlation is a standardized measure of the strength and direction of the linear relationship between two variables. It is derived from covariance and ranges between -1 and 1. Unlike covariance, which only indicates the direction of the relationship, correlation provides a standardized measure.</a:t>
            </a:r>
          </a:p>
          <a:p>
            <a:pPr algn="just"/>
            <a:r>
              <a:rPr lang="en-GB" dirty="0"/>
              <a:t>Positive Correlation (close to +1): As one variable increases, the other variable also tends to increase.</a:t>
            </a:r>
          </a:p>
          <a:p>
            <a:pPr algn="just"/>
            <a:r>
              <a:rPr lang="en-GB" dirty="0"/>
              <a:t>Negative Correlation (close to -1): As one variable increases, the other variable tends to decrease.</a:t>
            </a:r>
          </a:p>
          <a:p>
            <a:pPr algn="just"/>
            <a:r>
              <a:rPr lang="en-GB" dirty="0"/>
              <a:t>Zero Correlation: There is no linear relationship between the variables.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3FBC0-F36E-1ED3-3055-6157AB2E9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388" y="3639745"/>
            <a:ext cx="6274883" cy="289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97547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Correlation Coefficient </a:t>
            </a:r>
            <a:br>
              <a:rPr lang="en-GB" sz="4400" b="1" dirty="0"/>
            </a:br>
            <a:r>
              <a:rPr lang="el-GR" sz="4400" b="1" dirty="0"/>
              <a:t>ρ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E3AA75-13D2-C238-D8CA-BFD64EB1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25" y="1240941"/>
            <a:ext cx="6279660" cy="5051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E4A0E4-6919-6BC2-E3FF-A1C36B6F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024" y="3700615"/>
            <a:ext cx="4207086" cy="135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2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97547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Pearson Correlation Coefficient</a:t>
            </a:r>
            <a:endParaRPr lang="el-GR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D47A1-F9FD-B2E0-2ED8-456AA6B3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02" y="1324495"/>
            <a:ext cx="9753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4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97547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Anscombe's quartet</a:t>
            </a:r>
            <a:endParaRPr lang="el-GR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E75BF-9FEC-D0F8-726D-E2BCF3E3B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842" y="1640521"/>
            <a:ext cx="6004598" cy="4233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26213-1122-DFFF-7851-468FBFB50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8"/>
          <a:stretch/>
        </p:blipFill>
        <p:spPr>
          <a:xfrm>
            <a:off x="947363" y="1620492"/>
            <a:ext cx="3874018" cy="42760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5E2925-43BF-20E3-DAC4-F77D42CAE744}"/>
              </a:ext>
            </a:extLst>
          </p:cNvPr>
          <p:cNvSpPr txBox="1"/>
          <p:nvPr/>
        </p:nvSpPr>
        <p:spPr>
          <a:xfrm>
            <a:off x="3906782" y="6252202"/>
            <a:ext cx="730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https://en.wikipedia.org/wiki/Anscombe%27s_quartet</a:t>
            </a:r>
          </a:p>
        </p:txBody>
      </p:sp>
    </p:spTree>
    <p:extLst>
      <p:ext uri="{BB962C8B-B14F-4D97-AF65-F5344CB8AC3E}">
        <p14:creationId xmlns:p14="http://schemas.microsoft.com/office/powerpoint/2010/main" val="1864847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97547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Anscombe's quartet</a:t>
            </a:r>
            <a:endParaRPr lang="el-GR" sz="4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E2925-43BF-20E3-DAC4-F77D42CAE744}"/>
              </a:ext>
            </a:extLst>
          </p:cNvPr>
          <p:cNvSpPr txBox="1"/>
          <p:nvPr/>
        </p:nvSpPr>
        <p:spPr>
          <a:xfrm>
            <a:off x="3906782" y="6252202"/>
            <a:ext cx="730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https://en.wikipedia.org/wiki/Anscombe%27s_quartet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638F1-B927-8B22-208F-DBDA1B33C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35" y="1158935"/>
            <a:ext cx="9515302" cy="493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22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97547"/>
            <a:ext cx="10086109" cy="699980"/>
          </a:xfrm>
        </p:spPr>
        <p:txBody>
          <a:bodyPr/>
          <a:lstStyle/>
          <a:p>
            <a:pPr algn="ctr"/>
            <a:r>
              <a:rPr lang="en-GB" sz="3200" b="1" dirty="0"/>
              <a:t>Relationship between Independent and dependent variables</a:t>
            </a:r>
            <a:endParaRPr lang="en-US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4AA77F-96D3-7AE7-70B4-9296EF174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733" y="1379914"/>
            <a:ext cx="8360685" cy="4431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0DCEB9-2C51-20DF-3398-28E3A8A0C988}"/>
              </a:ext>
            </a:extLst>
          </p:cNvPr>
          <p:cNvSpPr txBox="1"/>
          <p:nvPr/>
        </p:nvSpPr>
        <p:spPr>
          <a:xfrm>
            <a:off x="2163228" y="6283454"/>
            <a:ext cx="8360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https://www.geeksforgeeks.org/engineering-mathematics/mathematics-covariance-and-correlation/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4DD23-2D52-2884-D621-A795CABA8592}"/>
              </a:ext>
            </a:extLst>
          </p:cNvPr>
          <p:cNvSpPr txBox="1"/>
          <p:nvPr/>
        </p:nvSpPr>
        <p:spPr>
          <a:xfrm>
            <a:off x="188422" y="2948247"/>
            <a:ext cx="1435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Features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42C62-AFB7-3E72-FE44-5F1F68C5E842}"/>
              </a:ext>
            </a:extLst>
          </p:cNvPr>
          <p:cNvSpPr txBox="1"/>
          <p:nvPr/>
        </p:nvSpPr>
        <p:spPr>
          <a:xfrm>
            <a:off x="10324398" y="3078480"/>
            <a:ext cx="167918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Targets</a:t>
            </a:r>
          </a:p>
          <a:p>
            <a:r>
              <a:rPr lang="en-GB" sz="1400" dirty="0"/>
              <a:t>Or</a:t>
            </a:r>
          </a:p>
          <a:p>
            <a:r>
              <a:rPr lang="en-GB" sz="2400" b="1" dirty="0"/>
              <a:t>Response variables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48537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19959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Coefficient correlation filter methods</a:t>
            </a:r>
            <a:endParaRPr lang="el-GR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CC38A-388B-B35B-5EB7-2DBBDE100240}"/>
              </a:ext>
            </a:extLst>
          </p:cNvPr>
          <p:cNvSpPr txBox="1"/>
          <p:nvPr/>
        </p:nvSpPr>
        <p:spPr>
          <a:xfrm>
            <a:off x="914400" y="1488500"/>
            <a:ext cx="10147069" cy="4404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Core Principles</a:t>
            </a:r>
            <a:endParaRPr lang="en-GB" sz="2000" b="1" dirty="0"/>
          </a:p>
          <a:p>
            <a:endParaRPr lang="en-GB" sz="20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Relevance to </a:t>
            </a:r>
            <a:r>
              <a:rPr lang="en-GB" sz="2000" b="1" dirty="0"/>
              <a:t>Target </a:t>
            </a:r>
            <a:r>
              <a:rPr lang="en-GB" sz="2000" dirty="0"/>
              <a:t>Variable: </a:t>
            </a:r>
            <a:r>
              <a:rPr lang="en-GB" sz="2000" b="1" dirty="0"/>
              <a:t>Features</a:t>
            </a:r>
            <a:r>
              <a:rPr lang="en-GB" sz="2000" dirty="0"/>
              <a:t> with a strong correlation (positive or negative) to the </a:t>
            </a:r>
            <a:r>
              <a:rPr lang="en-GB" sz="2000" b="1" dirty="0"/>
              <a:t>target</a:t>
            </a:r>
            <a:r>
              <a:rPr lang="en-GB" sz="2000" dirty="0"/>
              <a:t> variable are considered more relevant and informative for predicting the outcome.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GB" sz="20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Minimizing Redundancy (Multicollinearity): Highly correlated </a:t>
            </a:r>
            <a:r>
              <a:rPr lang="en-GB" sz="2000" b="1" dirty="0"/>
              <a:t>features</a:t>
            </a:r>
            <a:r>
              <a:rPr lang="en-GB" sz="2000" dirty="0"/>
              <a:t> among themselves (multicollinearity) can introduce redundancy and potentially hinder model performance. One of the highly correlated features should be removed to reduce this redundancy.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1458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19959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Coefficient correlation filter methods</a:t>
            </a:r>
            <a:endParaRPr lang="el-GR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CC38A-388B-B35B-5EB7-2DBBDE100240}"/>
              </a:ext>
            </a:extLst>
          </p:cNvPr>
          <p:cNvSpPr txBox="1"/>
          <p:nvPr/>
        </p:nvSpPr>
        <p:spPr>
          <a:xfrm>
            <a:off x="914400" y="1488500"/>
            <a:ext cx="10147069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Calculate Correlation Coefficients</a:t>
            </a:r>
          </a:p>
          <a:p>
            <a:endParaRPr lang="en-GB" sz="20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Feature-to-Target</a:t>
            </a:r>
            <a:r>
              <a:rPr lang="en-GB" sz="2000" dirty="0"/>
              <a:t> Correlation: Calculate the correlation coefficient between each individual feature and the target variable. </a:t>
            </a:r>
            <a:r>
              <a:rPr lang="en-GB" sz="2000" b="1" dirty="0"/>
              <a:t>Pearson correlation</a:t>
            </a:r>
            <a:r>
              <a:rPr lang="en-GB" sz="2000" dirty="0"/>
              <a:t> is commonly used for continuous variables, while other measures like </a:t>
            </a:r>
            <a:r>
              <a:rPr lang="en-GB" sz="2000" b="1" dirty="0"/>
              <a:t>Spearman correlation</a:t>
            </a:r>
            <a:r>
              <a:rPr lang="en-GB" sz="2000" dirty="0"/>
              <a:t> or </a:t>
            </a:r>
            <a:r>
              <a:rPr lang="en-GB" sz="2000" b="1" dirty="0"/>
              <a:t>Chi-squared</a:t>
            </a:r>
            <a:r>
              <a:rPr lang="en-GB" sz="2000" dirty="0"/>
              <a:t> can be used for other data types.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GB" sz="20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Feature-to-Feature</a:t>
            </a:r>
            <a:r>
              <a:rPr lang="en-GB" sz="2000" dirty="0"/>
              <a:t> Correlation: Calculate the correlation coefficient between all pairs of features to identify </a:t>
            </a:r>
            <a:r>
              <a:rPr lang="en-GB" sz="2000" b="1" dirty="0"/>
              <a:t>multicollinearity</a:t>
            </a:r>
            <a:r>
              <a:rPr lang="en-GB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25682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19959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Coefficient correlation filter methods</a:t>
            </a:r>
            <a:endParaRPr lang="el-GR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CC38A-388B-B35B-5EB7-2DBBDE100240}"/>
              </a:ext>
            </a:extLst>
          </p:cNvPr>
          <p:cNvSpPr txBox="1"/>
          <p:nvPr/>
        </p:nvSpPr>
        <p:spPr>
          <a:xfrm>
            <a:off x="1119447" y="1527292"/>
            <a:ext cx="10086109" cy="390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400" b="1" dirty="0"/>
              <a:t>Rank and Select Features (Relevance)</a:t>
            </a:r>
            <a:endParaRPr lang="en-GB" sz="2400" dirty="0"/>
          </a:p>
          <a:p>
            <a:pPr algn="just">
              <a:lnSpc>
                <a:spcPct val="150000"/>
              </a:lnSpc>
            </a:pPr>
            <a:endParaRPr lang="en-GB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Features are ranked based on the </a:t>
            </a:r>
            <a:r>
              <a:rPr lang="en-GB" sz="2400" b="1" dirty="0"/>
              <a:t>absolute</a:t>
            </a:r>
            <a:r>
              <a:rPr lang="en-GB" sz="2400" dirty="0"/>
              <a:t> value of their correlation with the </a:t>
            </a:r>
            <a:r>
              <a:rPr lang="en-GB" sz="2400" b="1" dirty="0"/>
              <a:t>target</a:t>
            </a:r>
            <a:r>
              <a:rPr lang="en-GB" sz="2400" dirty="0"/>
              <a:t> variable.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GB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A threshold can be set, and </a:t>
            </a:r>
            <a:r>
              <a:rPr lang="en-GB" sz="2400" b="1" dirty="0"/>
              <a:t>features</a:t>
            </a:r>
            <a:r>
              <a:rPr lang="en-GB" sz="2400" dirty="0"/>
              <a:t> exceeding this threshold are selected.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3802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19959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Coefficient correlation filter methods</a:t>
            </a:r>
            <a:endParaRPr lang="el-GR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CC38A-388B-B35B-5EB7-2DBBDE100240}"/>
              </a:ext>
            </a:extLst>
          </p:cNvPr>
          <p:cNvSpPr txBox="1"/>
          <p:nvPr/>
        </p:nvSpPr>
        <p:spPr>
          <a:xfrm>
            <a:off x="1052945" y="1338870"/>
            <a:ext cx="10086109" cy="445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400" b="1" dirty="0"/>
              <a:t>Address Multicollinearity (Redundancy)</a:t>
            </a:r>
          </a:p>
          <a:p>
            <a:pPr algn="just">
              <a:lnSpc>
                <a:spcPct val="150000"/>
              </a:lnSpc>
            </a:pPr>
            <a:endParaRPr lang="en-GB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If two or more </a:t>
            </a:r>
            <a:r>
              <a:rPr lang="en-GB" sz="2400" b="1" dirty="0"/>
              <a:t>features</a:t>
            </a:r>
            <a:r>
              <a:rPr lang="en-GB" sz="2400" dirty="0"/>
              <a:t> are highly correlated with each other, and also with the </a:t>
            </a:r>
            <a:r>
              <a:rPr lang="en-GB" sz="2400" b="1" dirty="0"/>
              <a:t>target</a:t>
            </a:r>
            <a:r>
              <a:rPr lang="en-GB" sz="2400" dirty="0"/>
              <a:t> variable, a decision is made to remove one of them.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GB" sz="24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/>
              <a:t>A common strategy is to keep the </a:t>
            </a:r>
            <a:r>
              <a:rPr lang="en-GB" sz="2400" b="1" dirty="0"/>
              <a:t>feature</a:t>
            </a:r>
            <a:r>
              <a:rPr lang="en-GB" sz="2400" dirty="0"/>
              <a:t> with the higher correlation to the </a:t>
            </a:r>
            <a:r>
              <a:rPr lang="en-GB" sz="2400" b="1" dirty="0"/>
              <a:t>target</a:t>
            </a:r>
            <a:r>
              <a:rPr lang="en-GB" sz="2400" dirty="0"/>
              <a:t> variable and remove the others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2233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19959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Coefficient correlation filter methods</a:t>
            </a:r>
            <a:endParaRPr lang="el-GR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CC38A-388B-B35B-5EB7-2DBBDE100240}"/>
              </a:ext>
            </a:extLst>
          </p:cNvPr>
          <p:cNvSpPr txBox="1"/>
          <p:nvPr/>
        </p:nvSpPr>
        <p:spPr>
          <a:xfrm>
            <a:off x="1052945" y="1106115"/>
            <a:ext cx="10086109" cy="53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200" dirty="0"/>
              <a:t>import pandas as pd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from </a:t>
            </a:r>
            <a:r>
              <a:rPr lang="en-GB" sz="1200" dirty="0" err="1"/>
              <a:t>sklearn.datasets</a:t>
            </a:r>
            <a:r>
              <a:rPr lang="en-GB" sz="1200" dirty="0"/>
              <a:t> 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import </a:t>
            </a:r>
            <a:r>
              <a:rPr lang="en-GB" sz="1200" dirty="0" err="1"/>
              <a:t>make_regression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/>
              <a:t># Create a synthetic dataset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X, y = </a:t>
            </a:r>
            <a:r>
              <a:rPr lang="en-GB" sz="1200" dirty="0" err="1"/>
              <a:t>make_regression</a:t>
            </a:r>
            <a:r>
              <a:rPr lang="en-GB" sz="1200" dirty="0"/>
              <a:t>(</a:t>
            </a:r>
            <a:r>
              <a:rPr lang="en-GB" sz="1200" dirty="0" err="1"/>
              <a:t>n_samples</a:t>
            </a:r>
            <a:r>
              <a:rPr lang="en-GB" sz="1200" dirty="0"/>
              <a:t>=100, </a:t>
            </a:r>
            <a:r>
              <a:rPr lang="en-GB" sz="1200" dirty="0" err="1"/>
              <a:t>n_features</a:t>
            </a:r>
            <a:r>
              <a:rPr lang="en-GB" sz="1200" dirty="0"/>
              <a:t>=10, </a:t>
            </a:r>
            <a:r>
              <a:rPr lang="en-GB" sz="1200" dirty="0" err="1"/>
              <a:t>random_state</a:t>
            </a:r>
            <a:r>
              <a:rPr lang="en-GB" sz="1200" dirty="0"/>
              <a:t>=42)</a:t>
            </a:r>
          </a:p>
          <a:p>
            <a:pPr algn="just">
              <a:lnSpc>
                <a:spcPct val="150000"/>
              </a:lnSpc>
            </a:pPr>
            <a:r>
              <a:rPr lang="en-GB" sz="1200" dirty="0" err="1"/>
              <a:t>df</a:t>
            </a:r>
            <a:r>
              <a:rPr lang="en-GB" sz="1200" dirty="0"/>
              <a:t> = </a:t>
            </a:r>
            <a:r>
              <a:rPr lang="en-GB" sz="1200" dirty="0" err="1"/>
              <a:t>pd.DataFrame</a:t>
            </a:r>
            <a:r>
              <a:rPr lang="en-GB" sz="1200" dirty="0"/>
              <a:t>(X, columns=[</a:t>
            </a:r>
            <a:r>
              <a:rPr lang="en-GB" sz="1200" dirty="0" err="1"/>
              <a:t>f'feature</a:t>
            </a:r>
            <a:r>
              <a:rPr lang="en-GB" sz="1200" dirty="0"/>
              <a:t>_{</a:t>
            </a:r>
            <a:r>
              <a:rPr lang="en-GB" sz="1200" dirty="0" err="1"/>
              <a:t>i</a:t>
            </a:r>
            <a:r>
              <a:rPr lang="en-GB" sz="1200" dirty="0"/>
              <a:t>}' for </a:t>
            </a:r>
            <a:r>
              <a:rPr lang="en-GB" sz="1200" dirty="0" err="1"/>
              <a:t>i</a:t>
            </a:r>
            <a:r>
              <a:rPr lang="en-GB" sz="1200" dirty="0"/>
              <a:t> in range(10)])</a:t>
            </a:r>
          </a:p>
          <a:p>
            <a:pPr algn="just">
              <a:lnSpc>
                <a:spcPct val="150000"/>
              </a:lnSpc>
            </a:pPr>
            <a:r>
              <a:rPr lang="en-GB" sz="1200" dirty="0" err="1"/>
              <a:t>df</a:t>
            </a:r>
            <a:r>
              <a:rPr lang="en-GB" sz="1200" dirty="0"/>
              <a:t>['target'] = y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# Calculate Pearson correlation between features and target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correlations = </a:t>
            </a:r>
            <a:r>
              <a:rPr lang="en-GB" sz="1200" dirty="0" err="1"/>
              <a:t>df.corr</a:t>
            </a:r>
            <a:r>
              <a:rPr lang="en-GB" sz="1200" dirty="0"/>
              <a:t>()['target'].abs().</a:t>
            </a:r>
            <a:r>
              <a:rPr lang="en-GB" sz="1200" dirty="0" err="1"/>
              <a:t>sort_values</a:t>
            </a:r>
            <a:r>
              <a:rPr lang="en-GB" sz="1200" dirty="0"/>
              <a:t>(ascending=False)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print("Feature-to-Target Correlations:\n", correlations)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# Select features with a correlation above a threshold (e.g., 0.5)</a:t>
            </a:r>
          </a:p>
          <a:p>
            <a:pPr algn="just">
              <a:lnSpc>
                <a:spcPct val="150000"/>
              </a:lnSpc>
            </a:pPr>
            <a:r>
              <a:rPr lang="en-GB" sz="1200" dirty="0" err="1"/>
              <a:t>selected_features_target</a:t>
            </a:r>
            <a:r>
              <a:rPr lang="en-GB" sz="1200" dirty="0"/>
              <a:t> = correlations[correlations &gt; 0.5].</a:t>
            </a:r>
            <a:r>
              <a:rPr lang="en-GB" sz="1200" dirty="0" err="1"/>
              <a:t>index.tolist</a:t>
            </a:r>
            <a:r>
              <a:rPr lang="en-GB" sz="1200" dirty="0"/>
              <a:t>()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print("\</a:t>
            </a:r>
            <a:r>
              <a:rPr lang="en-GB" sz="1200" dirty="0" err="1"/>
              <a:t>nSelected</a:t>
            </a:r>
            <a:r>
              <a:rPr lang="en-GB" sz="1200" dirty="0"/>
              <a:t> features based on target correlation:", </a:t>
            </a:r>
            <a:r>
              <a:rPr lang="en-GB" sz="1200" dirty="0" err="1"/>
              <a:t>selected_features_target</a:t>
            </a:r>
            <a:r>
              <a:rPr lang="en-GB" sz="12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# Calculate feature-to-feature correlations to address multicollinearity</a:t>
            </a:r>
          </a:p>
          <a:p>
            <a:pPr algn="just">
              <a:lnSpc>
                <a:spcPct val="150000"/>
              </a:lnSpc>
            </a:pPr>
            <a:r>
              <a:rPr lang="en-GB" sz="1200" dirty="0" err="1"/>
              <a:t>feature_corr_matrix</a:t>
            </a:r>
            <a:r>
              <a:rPr lang="en-GB" sz="1200" dirty="0"/>
              <a:t> = </a:t>
            </a:r>
            <a:r>
              <a:rPr lang="en-GB" sz="1200" dirty="0" err="1"/>
              <a:t>df</a:t>
            </a:r>
            <a:r>
              <a:rPr lang="en-GB" sz="1200" dirty="0"/>
              <a:t>[</a:t>
            </a:r>
            <a:r>
              <a:rPr lang="en-GB" sz="1200" dirty="0" err="1"/>
              <a:t>selected_features_target</a:t>
            </a:r>
            <a:r>
              <a:rPr lang="en-GB" sz="1200" dirty="0"/>
              <a:t>].</a:t>
            </a:r>
            <a:r>
              <a:rPr lang="en-GB" sz="1200" dirty="0" err="1"/>
              <a:t>corr</a:t>
            </a:r>
            <a:r>
              <a:rPr lang="en-GB" sz="1200" dirty="0"/>
              <a:t>().abs()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print("\</a:t>
            </a:r>
            <a:r>
              <a:rPr lang="en-GB" sz="1200" dirty="0" err="1"/>
              <a:t>nFeature</a:t>
            </a:r>
            <a:r>
              <a:rPr lang="en-GB" sz="1200" dirty="0"/>
              <a:t>-to-Feature Correlation Matrix:\n", </a:t>
            </a:r>
            <a:r>
              <a:rPr lang="en-GB" sz="1200" dirty="0" err="1"/>
              <a:t>feature_corr_matrix</a:t>
            </a:r>
            <a:r>
              <a:rPr lang="en-GB" sz="12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# Example of removing redundant features (manual for demonstration)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# If feature_1 and feature_2 are highly correlated, and feature_1 has higher target correlation, keep feature_1.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# This step often involves a more systematic approach in practice.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59335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6A7-D2C7-07EB-63F2-4698CE52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219959"/>
            <a:ext cx="10086109" cy="699980"/>
          </a:xfrm>
        </p:spPr>
        <p:txBody>
          <a:bodyPr/>
          <a:lstStyle/>
          <a:p>
            <a:pPr algn="ctr"/>
            <a:r>
              <a:rPr lang="en-GB" sz="4400" b="1" dirty="0"/>
              <a:t>Coefficient correlation filter methods</a:t>
            </a:r>
            <a:endParaRPr lang="el-GR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CC38A-388B-B35B-5EB7-2DBBDE100240}"/>
              </a:ext>
            </a:extLst>
          </p:cNvPr>
          <p:cNvSpPr txBox="1"/>
          <p:nvPr/>
        </p:nvSpPr>
        <p:spPr>
          <a:xfrm>
            <a:off x="576344" y="1106115"/>
            <a:ext cx="10978347" cy="5025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Advantages</a:t>
            </a:r>
          </a:p>
          <a:p>
            <a:pPr marL="685800" lvl="1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Computational Efficiency</a:t>
            </a:r>
            <a:r>
              <a:rPr lang="en-GB" dirty="0"/>
              <a:t>: Filter methods are generally faster than wrapper or embedded methods as they don't involve training and evaluating a model repeatedly.</a:t>
            </a:r>
          </a:p>
          <a:p>
            <a:pPr marL="685800" lvl="1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Generality</a:t>
            </a:r>
            <a:r>
              <a:rPr lang="en-GB" dirty="0"/>
              <a:t>: They can be applied independently of the chosen machine learning algorithm.</a:t>
            </a:r>
          </a:p>
          <a:p>
            <a:pPr marL="685800" lvl="1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Interpretability</a:t>
            </a:r>
            <a:r>
              <a:rPr lang="en-GB" dirty="0"/>
              <a:t>: Correlation coefficients provide a clear understanding of the relationships between variables.</a:t>
            </a:r>
          </a:p>
          <a:p>
            <a:pPr lvl="1" algn="just">
              <a:lnSpc>
                <a:spcPct val="150000"/>
              </a:lnSpc>
            </a:pPr>
            <a:endParaRPr lang="en-GB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Limitations</a:t>
            </a:r>
            <a:endParaRPr lang="en-GB" dirty="0"/>
          </a:p>
          <a:p>
            <a:pPr marL="685800" lvl="1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Ignores Feature Interactions</a:t>
            </a:r>
            <a:r>
              <a:rPr lang="en-GB" dirty="0"/>
              <a:t>: Filter methods do not inherently consider interactions between features, which might be crucial for model performance.</a:t>
            </a:r>
          </a:p>
          <a:p>
            <a:pPr marL="685800" lvl="1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Suboptimal Feature Subsets</a:t>
            </a:r>
            <a:r>
              <a:rPr lang="en-GB" dirty="0"/>
              <a:t>: The selected feature subset might not be optimal for a specific learning algorithm, as the selection is independent of the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575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A0B0-A811-7515-8741-7E0D9BAD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474AF-817C-0CD5-C432-90302BA51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https://www.datacamp.com/tutorial/tutorial-lasso-ridge-regression</a:t>
            </a:r>
            <a:endParaRPr lang="en-US" b="1" dirty="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https://medium.com/@agrawalsam1997/feature-selection-using-lasso-regression-10f49c973f08</a:t>
            </a:r>
            <a:endParaRPr lang="en-US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https://www.blog.trainindata.com/lasso-feature-selection-with-python/</a:t>
            </a:r>
            <a:endParaRPr lang="en-US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144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CCFA41E-7F18-AE1B-377D-CC212B023EC4}"/>
              </a:ext>
            </a:extLst>
          </p:cNvPr>
          <p:cNvGrpSpPr/>
          <p:nvPr/>
        </p:nvGrpSpPr>
        <p:grpSpPr>
          <a:xfrm>
            <a:off x="123335" y="1241370"/>
            <a:ext cx="11945881" cy="5009804"/>
            <a:chOff x="123335" y="1158240"/>
            <a:chExt cx="11945881" cy="5009804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7D9097F3-19AE-BCA8-700A-E9E87F8198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94"/>
            <a:stretch/>
          </p:blipFill>
          <p:spPr bwMode="auto">
            <a:xfrm>
              <a:off x="123335" y="1158240"/>
              <a:ext cx="11945881" cy="5009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4ACBEE-43FF-87E7-F08E-587EA877B093}"/>
                </a:ext>
              </a:extLst>
            </p:cNvPr>
            <p:cNvSpPr/>
            <p:nvPr/>
          </p:nvSpPr>
          <p:spPr>
            <a:xfrm>
              <a:off x="7187739" y="2975956"/>
              <a:ext cx="2371898" cy="117486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Light" panose="020F03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6D8974-90F1-291A-D7C7-38A7C99328B9}"/>
                </a:ext>
              </a:extLst>
            </p:cNvPr>
            <p:cNvSpPr/>
            <p:nvPr/>
          </p:nvSpPr>
          <p:spPr>
            <a:xfrm>
              <a:off x="5270266" y="3491344"/>
              <a:ext cx="2105893" cy="52647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0EA35AC-6876-84A6-C53F-E76821E0F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446" y="181165"/>
            <a:ext cx="9404723" cy="727694"/>
          </a:xfrm>
        </p:spPr>
        <p:txBody>
          <a:bodyPr/>
          <a:lstStyle/>
          <a:p>
            <a:pPr algn="ctr"/>
            <a:r>
              <a:rPr lang="en-GB" sz="4000" b="1" dirty="0"/>
              <a:t>What’s next?</a:t>
            </a:r>
            <a:endParaRPr lang="en-US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77249-29A7-7786-DE02-55B7F89AEBA0}"/>
              </a:ext>
            </a:extLst>
          </p:cNvPr>
          <p:cNvSpPr txBox="1"/>
          <p:nvPr/>
        </p:nvSpPr>
        <p:spPr>
          <a:xfrm>
            <a:off x="2449483" y="6426773"/>
            <a:ext cx="967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Calibri Light" panose="020F0302020204030204" pitchFamily="34" charset="0"/>
              </a:rPr>
              <a:t>https://medium.com/analytics-vidhya/feature-selection-extended-overview-b58f1d524c1c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E49B1E-508A-B8F6-84E4-6DCBAC38E05B}"/>
              </a:ext>
            </a:extLst>
          </p:cNvPr>
          <p:cNvSpPr/>
          <p:nvPr/>
        </p:nvSpPr>
        <p:spPr>
          <a:xfrm>
            <a:off x="5203767" y="2133603"/>
            <a:ext cx="1939637" cy="737062"/>
          </a:xfrm>
          <a:prstGeom prst="ellipse">
            <a:avLst/>
          </a:prstGeom>
          <a:noFill/>
          <a:ln w="57150"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31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2FDC-DBEB-99F5-E8DD-22AC2DE42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vi-VN" sz="7200" b="1" i="0" dirty="0">
                <a:solidFill>
                  <a:schemeClr val="tx1"/>
                </a:solidFill>
                <a:effectLst/>
                <a:latin typeface="Calibri Light" panose="020F0302020204030204" pitchFamily="34" charset="0"/>
              </a:rPr>
              <a:t>Xin chân thành cảm ơn!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AAA23-BC4D-773B-8E37-395D5A12E1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Luu Phuc Loi, PhD</a:t>
            </a:r>
          </a:p>
          <a:p>
            <a:r>
              <a:rPr lang="en-US" dirty="0" err="1">
                <a:solidFill>
                  <a:schemeClr val="tx1"/>
                </a:solidFill>
              </a:rPr>
              <a:t>Zalo</a:t>
            </a:r>
            <a:r>
              <a:rPr lang="en-US" dirty="0">
                <a:solidFill>
                  <a:schemeClr val="tx1"/>
                </a:solidFill>
              </a:rPr>
              <a:t>: 0901802182</a:t>
            </a:r>
          </a:p>
          <a:p>
            <a:r>
              <a:rPr lang="en-US" dirty="0">
                <a:solidFill>
                  <a:schemeClr val="tx1"/>
                </a:solidFill>
              </a:rPr>
              <a:t>luu.p.loi@googlemail.com</a:t>
            </a:r>
          </a:p>
        </p:txBody>
      </p:sp>
    </p:spTree>
    <p:extLst>
      <p:ext uri="{BB962C8B-B14F-4D97-AF65-F5344CB8AC3E}">
        <p14:creationId xmlns:p14="http://schemas.microsoft.com/office/powerpoint/2010/main" val="3221103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9921</TotalTime>
  <Words>956</Words>
  <Application>Microsoft Office PowerPoint</Application>
  <PresentationFormat>Widescreen</PresentationFormat>
  <Paragraphs>100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 Light</vt:lpstr>
      <vt:lpstr>Century Gothic</vt:lpstr>
      <vt:lpstr>Wingdings 3</vt:lpstr>
      <vt:lpstr>Ion</vt:lpstr>
      <vt:lpstr>PowerPoint Presentation</vt:lpstr>
      <vt:lpstr>PowerPoint Presentation</vt:lpstr>
      <vt:lpstr>Supervised Feature Selection: Filter Methods</vt:lpstr>
      <vt:lpstr>Relationship between Independent and dependent variables</vt:lpstr>
      <vt:lpstr>Covariance</vt:lpstr>
      <vt:lpstr>Sample Covariance</vt:lpstr>
      <vt:lpstr>Population Covariance</vt:lpstr>
      <vt:lpstr>Correlation</vt:lpstr>
      <vt:lpstr>Correlation Coefficient  ρ</vt:lpstr>
      <vt:lpstr>Pearson Correlation Coefficient</vt:lpstr>
      <vt:lpstr>Anscombe's quartet</vt:lpstr>
      <vt:lpstr>Anscombe's quartet</vt:lpstr>
      <vt:lpstr>Relationship between Independent and dependent variables</vt:lpstr>
      <vt:lpstr>Coefficient correlation filter methods</vt:lpstr>
      <vt:lpstr>Coefficient correlation filter methods</vt:lpstr>
      <vt:lpstr>Coefficient correlation filter methods</vt:lpstr>
      <vt:lpstr>Coefficient correlation filter methods</vt:lpstr>
      <vt:lpstr>Coefficient correlation filter methods</vt:lpstr>
      <vt:lpstr>Coefficient correlation filter methods</vt:lpstr>
      <vt:lpstr>Practice</vt:lpstr>
      <vt:lpstr>What’s next?</vt:lpstr>
      <vt:lpstr>Xin chân thành cảm ơn!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Luu Loi</dc:creator>
  <cp:lastModifiedBy>Luu Loi</cp:lastModifiedBy>
  <cp:revision>310</cp:revision>
  <dcterms:created xsi:type="dcterms:W3CDTF">2024-11-15T02:34:27Z</dcterms:created>
  <dcterms:modified xsi:type="dcterms:W3CDTF">2025-11-08T11:49:34Z</dcterms:modified>
</cp:coreProperties>
</file>