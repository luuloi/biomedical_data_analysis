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8" r:id="rId1"/>
    <p:sldMasterId id="2147483717" r:id="rId2"/>
  </p:sldMasterIdLst>
  <p:notesMasterIdLst>
    <p:notesMasterId r:id="rId15"/>
  </p:notesMasterIdLst>
  <p:handoutMasterIdLst>
    <p:handoutMasterId r:id="rId16"/>
  </p:handoutMasterIdLst>
  <p:sldIdLst>
    <p:sldId id="343" r:id="rId3"/>
    <p:sldId id="344" r:id="rId4"/>
    <p:sldId id="338" r:id="rId5"/>
    <p:sldId id="339" r:id="rId6"/>
    <p:sldId id="341" r:id="rId7"/>
    <p:sldId id="340" r:id="rId8"/>
    <p:sldId id="342" r:id="rId9"/>
    <p:sldId id="345" r:id="rId10"/>
    <p:sldId id="348" r:id="rId11"/>
    <p:sldId id="349" r:id="rId12"/>
    <p:sldId id="346" r:id="rId13"/>
    <p:sldId id="273" r:id="rId14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78" autoAdjust="0"/>
    <p:restoredTop sz="94660"/>
  </p:normalViewPr>
  <p:slideViewPr>
    <p:cSldViewPr snapToGrid="0" showGuides="1">
      <p:cViewPr>
        <p:scale>
          <a:sx n="80" d="100"/>
          <a:sy n="80" d="100"/>
        </p:scale>
        <p:origin x="483" y="312"/>
      </p:cViewPr>
      <p:guideLst>
        <p:guide orient="horz" pos="216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 dirty="0">
              <a:latin typeface="Calibri Light" panose="020F0302020204030204" pitchFamily="34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>
                <a:latin typeface="Calibri Light" panose="020F0302020204030204" pitchFamily="34" charset="0"/>
              </a:rPr>
              <a:t>2025/11/21</a:t>
            </a:fld>
            <a:endParaRPr lang="zh-CN" altLang="en-US" dirty="0">
              <a:latin typeface="Calibri Light" panose="020F030202020403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 dirty="0">
              <a:latin typeface="Calibri Light" panose="020F030202020403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>
                <a:latin typeface="Calibri Light" panose="020F0302020204030204" pitchFamily="34" charset="0"/>
              </a:rPr>
              <a:t>‹#›</a:t>
            </a:fld>
            <a:endParaRPr lang="zh-CN" altLang="en-US" dirty="0">
              <a:latin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58080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329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367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2026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488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9449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623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35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56409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2025/11/21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 hidden="1">
            <a:extLst>
              <a:ext uri="{FF2B5EF4-FFF2-40B4-BE49-F238E27FC236}">
                <a16:creationId xmlns:a16="http://schemas.microsoft.com/office/drawing/2014/main" id="{4FD1549B-0BFE-C8C3-AEAC-DB303851DD55}"/>
              </a:ext>
            </a:extLst>
          </p:cNvPr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097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7889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152875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568353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358245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340563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45263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84765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552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1_Blank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>
            <a:spLocks noGrp="1"/>
          </p:cNvSpPr>
          <p:nvPr>
            <p:ph type="title"/>
          </p:nvPr>
        </p:nvSpPr>
        <p:spPr>
          <a:xfrm>
            <a:off x="304800" y="183092"/>
            <a:ext cx="54864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34912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7015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3359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0278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2899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0420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4218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8186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498266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2025/11/21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8" name="直接连接符 7" hidden="1">
            <a:extLst>
              <a:ext uri="{FF2B5EF4-FFF2-40B4-BE49-F238E27FC236}">
                <a16:creationId xmlns:a16="http://schemas.microsoft.com/office/drawing/2014/main" id="{0594E815-CD18-9A31-6ADF-1C30DDC43277}"/>
              </a:ext>
            </a:extLst>
          </p:cNvPr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55798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13064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4422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06965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36514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913117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40504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11098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79671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</a:p>
          <a:p>
            <a:pPr lvl="1"/>
            <a:r>
              <a:rPr lang="zh-CN" altLang="en-US" dirty="0"/>
              <a:t>Second level</a:t>
            </a:r>
          </a:p>
          <a:p>
            <a:pPr lvl="2"/>
            <a:r>
              <a:rPr lang="zh-CN" altLang="en-US" dirty="0"/>
              <a:t>Third level</a:t>
            </a:r>
          </a:p>
          <a:p>
            <a:pPr lvl="3"/>
            <a:r>
              <a:rPr lang="zh-CN" altLang="en-US" dirty="0"/>
              <a:t>Fourth level</a:t>
            </a:r>
          </a:p>
          <a:p>
            <a:pPr lvl="4"/>
            <a:r>
              <a:rPr lang="zh-CN" alt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21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28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413602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pPr/>
              <a:t>2025/11/21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353033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  <p:sldLayoutId id="2147483732" r:id="rId15"/>
    <p:sldLayoutId id="2147483733" r:id="rId16"/>
    <p:sldLayoutId id="2147483734" r:id="rId17"/>
    <p:sldLayoutId id="2147483658" r:id="rId18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uu.p.loi@googlemai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/>
          <p:nvPr/>
        </p:nvSpPr>
        <p:spPr>
          <a:xfrm>
            <a:off x="692727" y="2314683"/>
            <a:ext cx="10569633" cy="13429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400" tIns="28400" rIns="28400" bIns="28400" anchor="ctr" anchorCtr="0">
            <a:noAutofit/>
          </a:bodyPr>
          <a:lstStyle/>
          <a:p>
            <a:pPr algn="ctr">
              <a:spcBef>
                <a:spcPts val="133"/>
              </a:spcBef>
              <a:buClr>
                <a:schemeClr val="dk1"/>
              </a:buClr>
              <a:buSzPts val="1100"/>
            </a:pPr>
            <a:r>
              <a:rPr lang="en-GB" sz="6600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imes New Roman"/>
              </a:rPr>
              <a:t>Autocorrelation and </a:t>
            </a:r>
            <a:r>
              <a:rPr lang="en-GB" sz="6600" b="1" dirty="0" err="1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imes New Roman"/>
              </a:rPr>
              <a:t>Moran’I</a:t>
            </a:r>
            <a:endParaRPr lang="vi-VN" sz="6600" b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5437414" y="4457608"/>
            <a:ext cx="5459186" cy="1538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950" tIns="30467" rIns="60950" bIns="30467" anchor="t" anchorCtr="0">
            <a:spAutoFit/>
          </a:bodyPr>
          <a:lstStyle/>
          <a:p>
            <a:pPr algn="r"/>
            <a:r>
              <a:rPr lang="en-US" sz="2400" b="1" dirty="0">
                <a:solidFill>
                  <a:schemeClr val="l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Nov 21 2025</a:t>
            </a:r>
          </a:p>
          <a:p>
            <a:pPr algn="r"/>
            <a:r>
              <a:rPr lang="en-US" sz="2400" b="1" dirty="0" err="1">
                <a:solidFill>
                  <a:schemeClr val="l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Giảng</a:t>
            </a:r>
            <a:r>
              <a:rPr lang="en-US" sz="2400" b="1" dirty="0">
                <a:solidFill>
                  <a:schemeClr val="l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 </a:t>
            </a:r>
            <a:r>
              <a:rPr lang="en-US" sz="2400" b="1" dirty="0" err="1">
                <a:solidFill>
                  <a:schemeClr val="l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viên</a:t>
            </a:r>
            <a:r>
              <a:rPr lang="en-US" sz="2400" b="1" dirty="0">
                <a:solidFill>
                  <a:schemeClr val="lt1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: TS. Lưu Phúc Lợi</a:t>
            </a:r>
          </a:p>
          <a:p>
            <a:pPr algn="r"/>
            <a:r>
              <a:rPr lang="en-US" sz="2400" b="1" dirty="0">
                <a:solidFill>
                  <a:schemeClr val="lt1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Email: </a:t>
            </a:r>
            <a:r>
              <a:rPr lang="en-US" sz="2400" b="1" dirty="0">
                <a:solidFill>
                  <a:schemeClr val="lt1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"/>
                <a:hlinkClick r:id="rId3"/>
              </a:rPr>
              <a:t>Luu.p.loi@googlemail.com</a:t>
            </a:r>
            <a:endParaRPr lang="en-US" sz="2400" b="1" dirty="0">
              <a:solidFill>
                <a:schemeClr val="lt1"/>
              </a:solidFill>
              <a:latin typeface="Calibri Light" panose="020F0302020204030204" pitchFamily="34" charset="0"/>
              <a:cs typeface="Calibri Light" panose="020F0302020204030204" pitchFamily="34" charset="0"/>
              <a:sym typeface="Calibri"/>
            </a:endParaRPr>
          </a:p>
          <a:p>
            <a:pPr algn="r"/>
            <a:r>
              <a:rPr lang="en-US" sz="2400" b="1" dirty="0" err="1">
                <a:solidFill>
                  <a:schemeClr val="lt1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Zalo</a:t>
            </a:r>
            <a:r>
              <a:rPr lang="en-US" sz="2400" b="1" dirty="0">
                <a:solidFill>
                  <a:schemeClr val="lt1"/>
                </a:solidFill>
                <a:latin typeface="Calibri Light" panose="020F0302020204030204" pitchFamily="34" charset="0"/>
                <a:cs typeface="Calibri Light" panose="020F0302020204030204" pitchFamily="34" charset="0"/>
                <a:sym typeface="Calibri"/>
              </a:rPr>
              <a:t>: 0901802182</a:t>
            </a:r>
            <a:endParaRPr sz="12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080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2635A84-5931-D1B3-DAA6-7EB2A6DD0E54}"/>
              </a:ext>
            </a:extLst>
          </p:cNvPr>
          <p:cNvSpPr txBox="1">
            <a:spLocks/>
          </p:cNvSpPr>
          <p:nvPr/>
        </p:nvSpPr>
        <p:spPr>
          <a:xfrm>
            <a:off x="957943" y="401074"/>
            <a:ext cx="10348687" cy="83616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D102E0B-9F84-E59D-665A-5A742E7E06CD}"/>
              </a:ext>
            </a:extLst>
          </p:cNvPr>
          <p:cNvSpPr txBox="1">
            <a:spLocks/>
          </p:cNvSpPr>
          <p:nvPr/>
        </p:nvSpPr>
        <p:spPr>
          <a:xfrm>
            <a:off x="544204" y="1613647"/>
            <a:ext cx="10762426" cy="44251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71550" lvl="1" indent="-514350" algn="just">
              <a:buFont typeface="+mj-lt"/>
              <a:buAutoNum type="arabicPeriod"/>
            </a:pPr>
            <a:r>
              <a:rPr lang="en-GB" sz="3200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imes New Roman"/>
              </a:rPr>
              <a:t>What is Spatial Autocorrelation?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3200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imes New Roman"/>
              </a:rPr>
              <a:t>What is </a:t>
            </a:r>
            <a:r>
              <a:rPr lang="en-GB" sz="3200" b="1" dirty="0" err="1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imes New Roman"/>
              </a:rPr>
              <a:t>Moran’I</a:t>
            </a:r>
            <a:r>
              <a:rPr lang="en-GB" sz="3200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imes New Roman"/>
              </a:rPr>
              <a:t>?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3200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imes New Roman"/>
              </a:rPr>
              <a:t>How to compute </a:t>
            </a:r>
            <a:r>
              <a:rPr lang="en-GB" sz="3200" b="1" dirty="0" err="1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imes New Roman"/>
              </a:rPr>
              <a:t>Moran’I</a:t>
            </a:r>
            <a:r>
              <a:rPr lang="en-GB" sz="3200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imes New Roman"/>
              </a:rPr>
              <a:t>?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3200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imes New Roman"/>
              </a:rPr>
              <a:t>Applications of Autocorrelation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GB" sz="3200" b="1" dirty="0">
                <a:solidFill>
                  <a:srgbClr val="FFFFFF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  <a:sym typeface="Times New Roman"/>
              </a:rPr>
              <a:t>Practice</a:t>
            </a:r>
          </a:p>
          <a:p>
            <a:pPr marL="971550" lvl="1" indent="-514350" algn="just">
              <a:buFont typeface="+mj-lt"/>
              <a:buAutoNum type="arabicPeriod"/>
            </a:pPr>
            <a:endParaRPr lang="en-US" sz="3200" b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09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80695" y="6360795"/>
            <a:ext cx="70675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https://www.sciencedirect.com/science/article/pii/S0261517721000388</a:t>
            </a:r>
          </a:p>
        </p:txBody>
      </p:sp>
      <p:sp>
        <p:nvSpPr>
          <p:cNvPr id="7" name="Title 1"/>
          <p:cNvSpPr>
            <a:spLocks noGrp="1"/>
          </p:cNvSpPr>
          <p:nvPr/>
        </p:nvSpPr>
        <p:spPr>
          <a:xfrm>
            <a:off x="480695" y="158115"/>
            <a:ext cx="10111105" cy="66167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sym typeface="+mn-ea"/>
              </a:rPr>
              <a:t>Comment on the plot</a:t>
            </a:r>
            <a:endParaRPr lang="en-US" sz="2400" dirty="0">
              <a:latin typeface="Calibri Light" panose="020F0302020204030204" pitchFamily="3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555" y="819785"/>
            <a:ext cx="6410325" cy="51149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52500" y="5963285"/>
            <a:ext cx="59613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dirty="0">
                <a:latin typeface="Calibri Light" panose="020F0302020204030204" pitchFamily="34" charset="0"/>
              </a:rPr>
              <a:t>Attraction index in selected cities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7625255" y="1040524"/>
            <a:ext cx="3950795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en-US" sz="2400" b="1" dirty="0">
                <a:latin typeface="Calibri Light" panose="020F0302020204030204" pitchFamily="34" charset="0"/>
              </a:rPr>
              <a:t>The Fig. presents heatmaps for mean values of </a:t>
            </a:r>
            <a:r>
              <a:rPr lang="en-US" sz="2400" b="1" dirty="0" err="1">
                <a:latin typeface="Calibri Light" panose="020F0302020204030204" pitchFamily="34" charset="0"/>
              </a:rPr>
              <a:t>attr_index</a:t>
            </a:r>
            <a:r>
              <a:rPr lang="en-US" sz="2400" b="1" dirty="0">
                <a:latin typeface="Calibri Light" panose="020F0302020204030204" pitchFamily="34" charset="0"/>
              </a:rPr>
              <a:t>. </a:t>
            </a:r>
          </a:p>
          <a:p>
            <a:pPr algn="just"/>
            <a:r>
              <a:rPr lang="en-US" sz="2400" dirty="0">
                <a:latin typeface="Calibri Light" panose="020F0302020204030204" pitchFamily="34" charset="0"/>
              </a:rPr>
              <a:t>The maps show the concentration of attractions in the city </a:t>
            </a:r>
            <a:r>
              <a:rPr lang="en-US" sz="2400" dirty="0" err="1">
                <a:latin typeface="Calibri Light" panose="020F0302020204030204" pitchFamily="34" charset="0"/>
              </a:rPr>
              <a:t>centre</a:t>
            </a:r>
            <a:r>
              <a:rPr lang="en-US" sz="2400" dirty="0">
                <a:latin typeface="Calibri Light" panose="020F0302020204030204" pitchFamily="34" charset="0"/>
              </a:rPr>
              <a:t>: in general, the listings in central areas have a higher accessibility of attractions; while further from the </a:t>
            </a:r>
            <a:r>
              <a:rPr lang="en-US" sz="2400" dirty="0" err="1">
                <a:latin typeface="Calibri Light" panose="020F0302020204030204" pitchFamily="34" charset="0"/>
              </a:rPr>
              <a:t>centre</a:t>
            </a:r>
            <a:r>
              <a:rPr lang="en-US" sz="2400" dirty="0">
                <a:latin typeface="Calibri Light" panose="020F0302020204030204" pitchFamily="34" charset="0"/>
              </a:rPr>
              <a:t>, the index values decline. 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/>
        </p:nvSpPr>
        <p:spPr>
          <a:xfrm>
            <a:off x="480695" y="158115"/>
            <a:ext cx="10111105" cy="66167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sym typeface="+mn-ea"/>
              </a:rPr>
              <a:t>Comment on the linked plots</a:t>
            </a:r>
            <a:endParaRPr lang="en-US" sz="2400" dirty="0">
              <a:latin typeface="Calibri Light" panose="020F0302020204030204" pitchFamily="34" charset="0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1426210"/>
            <a:ext cx="5021580" cy="40074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97180" y="5687060"/>
            <a:ext cx="438086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dirty="0">
                <a:latin typeface="Calibri Light" panose="020F0302020204030204" pitchFamily="34" charset="0"/>
              </a:rPr>
              <a:t>Attraction index in selected cities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6565" y="819785"/>
            <a:ext cx="6353175" cy="504825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908800" y="6055360"/>
            <a:ext cx="31191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latin typeface="Calibri Light" panose="020F0302020204030204" pitchFamily="34" charset="0"/>
              </a:rPr>
              <a:t>Mean Airbnb prices (in EUR).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/>
        </p:nvSpPr>
        <p:spPr>
          <a:xfrm>
            <a:off x="480695" y="158115"/>
            <a:ext cx="10111105" cy="66167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sym typeface="+mn-ea"/>
              </a:rPr>
              <a:t>How to quantify autocorrelation? (The Moran’s I)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" y="1003738"/>
            <a:ext cx="7153122" cy="527958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110" y="459105"/>
            <a:ext cx="4063365" cy="60559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/>
        </p:nvSpPr>
        <p:spPr>
          <a:xfrm>
            <a:off x="480695" y="158115"/>
            <a:ext cx="10111105" cy="66167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sym typeface="+mn-ea"/>
              </a:rPr>
              <a:t>Comment on the below plots</a:t>
            </a:r>
            <a:endParaRPr lang="en-US" sz="2400" dirty="0">
              <a:latin typeface="Calibri Light" panose="020F0302020204030204" pitchFamily="34" charset="0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250" y="2333625"/>
            <a:ext cx="6096000" cy="21907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1110" y="459105"/>
            <a:ext cx="4063365" cy="605599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/>
        </p:nvSpPr>
        <p:spPr>
          <a:xfrm>
            <a:off x="480695" y="158115"/>
            <a:ext cx="10111105" cy="66167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 Light" panose="020F0302020204030204" pitchFamily="34" charset="0"/>
                <a:sym typeface="+mn-ea"/>
              </a:rPr>
              <a:t>Understanding the Moran’s I plot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175" y="940677"/>
            <a:ext cx="9221650" cy="52641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/>
        </p:nvSpPr>
        <p:spPr>
          <a:xfrm>
            <a:off x="480695" y="158115"/>
            <a:ext cx="10111105" cy="66167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latin typeface="Calibri Light" panose="020F0302020204030204" pitchFamily="34" charset="0"/>
                <a:sym typeface="+mn-ea"/>
              </a:rPr>
              <a:t>Practice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5992D-FFC7-7E5B-AAB3-DF29C3BE79DA}"/>
              </a:ext>
            </a:extLst>
          </p:cNvPr>
          <p:cNvSpPr txBox="1"/>
          <p:nvPr/>
        </p:nvSpPr>
        <p:spPr>
          <a:xfrm>
            <a:off x="5418083" y="6282587"/>
            <a:ext cx="65006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https://geographicdata.science/book/notebooks/06_spatial_autocorrelation.html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79DD0A-50F1-D55D-4C6F-DF71C1CC3B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980" y="1045287"/>
            <a:ext cx="10591800" cy="501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982510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F9C8D814-32AB-1E7B-405A-313F197088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809" y="456438"/>
            <a:ext cx="8014140" cy="3286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1C45A9DC-18F7-FA0F-3319-7179D62390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72" t="18679" r="12972" b="17873"/>
          <a:stretch/>
        </p:blipFill>
        <p:spPr bwMode="auto">
          <a:xfrm>
            <a:off x="4617936" y="3794830"/>
            <a:ext cx="3981370" cy="2460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13F1BDB4-804C-9EDF-1440-08B75CCA0D9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07" t="18333" r="12890" b="17989"/>
          <a:stretch/>
        </p:blipFill>
        <p:spPr bwMode="auto">
          <a:xfrm>
            <a:off x="572809" y="3794830"/>
            <a:ext cx="4020209" cy="2460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3B4C00B-DAF4-2778-030A-A39E41C267CE}"/>
              </a:ext>
            </a:extLst>
          </p:cNvPr>
          <p:cNvSpPr txBox="1"/>
          <p:nvPr/>
        </p:nvSpPr>
        <p:spPr>
          <a:xfrm>
            <a:off x="3231931" y="6393049"/>
            <a:ext cx="8276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https://jef.works/blog/2024/08/29/the-many-ways-to-detect-svgs-using-moransI/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F40E675-6AFC-2A18-65C7-EC590B3093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82"/>
          <a:stretch/>
        </p:blipFill>
        <p:spPr bwMode="auto">
          <a:xfrm>
            <a:off x="8626671" y="3429000"/>
            <a:ext cx="2934714" cy="2809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92808AFD-92E6-3CD6-AB8B-2B4B8ED1FA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467"/>
          <a:stretch/>
        </p:blipFill>
        <p:spPr bwMode="auto">
          <a:xfrm>
            <a:off x="8620326" y="456438"/>
            <a:ext cx="2934715" cy="2781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2472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3B4C00B-DAF4-2778-030A-A39E41C267CE}"/>
              </a:ext>
            </a:extLst>
          </p:cNvPr>
          <p:cNvSpPr txBox="1"/>
          <p:nvPr/>
        </p:nvSpPr>
        <p:spPr>
          <a:xfrm>
            <a:off x="3578561" y="6393049"/>
            <a:ext cx="82768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https://www.cell.com/cell/fulltext/S0092-8674(23)01219-9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6D9EE81-7A9B-E3CC-A007-8793B3A4F6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54"/>
          <a:stretch/>
        </p:blipFill>
        <p:spPr bwMode="auto">
          <a:xfrm>
            <a:off x="183931" y="849535"/>
            <a:ext cx="5410528" cy="526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599531-EEEF-0F02-B703-5284A9B76F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569"/>
          <a:stretch/>
        </p:blipFill>
        <p:spPr bwMode="auto">
          <a:xfrm>
            <a:off x="5609569" y="867452"/>
            <a:ext cx="6319006" cy="3052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4525B2-ED0A-57BF-FB61-778377E4E9F7}"/>
              </a:ext>
            </a:extLst>
          </p:cNvPr>
          <p:cNvSpPr txBox="1"/>
          <p:nvPr/>
        </p:nvSpPr>
        <p:spPr>
          <a:xfrm>
            <a:off x="725214" y="191833"/>
            <a:ext cx="107047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Spatial autocorrelation highlights regions of statistical similarity in gene-wise expression</a:t>
            </a:r>
            <a:endParaRPr lang="en-US" sz="24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460A0-14DF-8A19-D8C6-150D7E38177E}"/>
              </a:ext>
            </a:extLst>
          </p:cNvPr>
          <p:cNvSpPr txBox="1"/>
          <p:nvPr/>
        </p:nvSpPr>
        <p:spPr>
          <a:xfrm>
            <a:off x="5609569" y="3900059"/>
            <a:ext cx="63341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12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(A) A simulated example of spatial autocorrelation (SA) for binary data associated with Moran’s </a:t>
            </a:r>
            <a:r>
              <a:rPr lang="en-GB" sz="1200" b="0" i="1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2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statistics. The leftmost panel shows perfect dispersion or dissimilarity, corresponding to a Moran’s </a:t>
            </a:r>
            <a:r>
              <a:rPr lang="en-GB" sz="1200" b="0" i="1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2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of −1. The </a:t>
            </a:r>
            <a:r>
              <a:rPr lang="en-GB" sz="1200" b="0" i="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center</a:t>
            </a:r>
            <a:r>
              <a:rPr lang="en-GB" sz="12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panel shows a random spatial distribution, corresponding to Moran’s </a:t>
            </a:r>
            <a:r>
              <a:rPr lang="en-GB" sz="1200" b="0" i="1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2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of 0. The rightmost panel shows perfect spatial autocorrelation, clustering, or similarity, corresponding to a Moran’s </a:t>
            </a:r>
            <a:r>
              <a:rPr lang="en-GB" sz="1200" b="0" i="1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2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of +1.</a:t>
            </a:r>
          </a:p>
          <a:p>
            <a:pPr algn="just"/>
            <a:r>
              <a:rPr lang="en-GB" sz="12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(B) Examples of SA from tissue measurements of gene expression. (</a:t>
            </a:r>
            <a:r>
              <a:rPr lang="en-GB" sz="1200" b="0" i="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2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Positive SA (</a:t>
            </a:r>
            <a:r>
              <a:rPr lang="en-GB" sz="1200" b="0" i="1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2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= 0.8): notice how high values cluster in one corner of the tissue while low values are highly localized. (ii) The same observations but randomly distributed over space (</a:t>
            </a:r>
            <a:r>
              <a:rPr lang="en-GB" sz="1200" b="0" i="1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2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≈ 0). (iii) The local Moran’s </a:t>
            </a:r>
            <a:r>
              <a:rPr lang="en-GB" sz="1200" b="0" i="1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Ii</a:t>
            </a:r>
            <a:r>
              <a:rPr lang="en-GB" sz="12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(LISA) for the variable in (</a:t>
            </a:r>
            <a:r>
              <a:rPr lang="en-GB" sz="1200" b="0" i="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GB" sz="12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). Here, the local statistic provides a more detailed representation of SA over space, revealing locations with high SA. Significant locations (p &lt; 0.05) are highlighted with a white border. (iv) The local significance of the local Moran’s </a:t>
            </a:r>
            <a:r>
              <a:rPr lang="en-GB" sz="1200" b="0" i="1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Ii</a:t>
            </a:r>
            <a:r>
              <a:rPr lang="en-GB" sz="1200" b="0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 (LISA) in (ii). Significant locations (p &lt; 0.05) are highlighted with a white border.</a:t>
            </a:r>
          </a:p>
        </p:txBody>
      </p:sp>
    </p:spTree>
    <p:extLst>
      <p:ext uri="{BB962C8B-B14F-4D97-AF65-F5344CB8AC3E}">
        <p14:creationId xmlns:p14="http://schemas.microsoft.com/office/powerpoint/2010/main" val="2716079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/>
        </p:nvSpPr>
        <p:spPr>
          <a:xfrm>
            <a:off x="480695" y="158115"/>
            <a:ext cx="10111105" cy="66167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latin typeface="Calibri Light" panose="020F0302020204030204" pitchFamily="34" charset="0"/>
                <a:sym typeface="+mn-ea"/>
              </a:rPr>
              <a:t>Example applications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85992D-FFC7-7E5B-AAB3-DF29C3BE79DA}"/>
              </a:ext>
            </a:extLst>
          </p:cNvPr>
          <p:cNvSpPr txBox="1"/>
          <p:nvPr/>
        </p:nvSpPr>
        <p:spPr>
          <a:xfrm>
            <a:off x="2201917" y="6282587"/>
            <a:ext cx="97168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https://pro.arcgis.com/en/pro-app/latest/tool-reference/spatial-statistics/h-how-spatial-autocorrelation-moran-s-i-spatial-st.htm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23F20B-FCFB-D63F-A131-95789CC62760}"/>
              </a:ext>
            </a:extLst>
          </p:cNvPr>
          <p:cNvSpPr txBox="1"/>
          <p:nvPr/>
        </p:nvSpPr>
        <p:spPr>
          <a:xfrm>
            <a:off x="551793" y="1042419"/>
            <a:ext cx="10930759" cy="5088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GB" sz="2800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The following are example applications of the tool:</a:t>
            </a:r>
          </a:p>
          <a:p>
            <a:pPr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800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Identify an appropriate </a:t>
            </a:r>
            <a:r>
              <a:rPr lang="en-GB" sz="2800" b="1" i="0" dirty="0" err="1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neighborhood</a:t>
            </a:r>
            <a:r>
              <a:rPr lang="en-GB" sz="2800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distance for a variety of spatial analysis methods by finding the distance where spatial autocorrelation is strongest.</a:t>
            </a:r>
          </a:p>
          <a:p>
            <a:pPr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800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Measure broad trends in ethnic or racial segregation over time—is segregation increasing or decreasing?</a:t>
            </a:r>
          </a:p>
          <a:p>
            <a:pPr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GB" sz="2800" b="1" i="0" dirty="0"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Summarize the diffusion of an idea, disease, or trend over space and time—is the idea, disease, or trend remaining isolated and concentrated, or spreading and becoming more diffuse?</a:t>
            </a:r>
          </a:p>
        </p:txBody>
      </p:sp>
    </p:spTree>
    <p:extLst>
      <p:ext uri="{BB962C8B-B14F-4D97-AF65-F5344CB8AC3E}">
        <p14:creationId xmlns:p14="http://schemas.microsoft.com/office/powerpoint/2010/main" val="2372107070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A2FDC-DBEB-99F5-E8DD-22AC2DE42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/>
          </a:bodyPr>
          <a:lstStyle/>
          <a:p>
            <a:r>
              <a:rPr lang="vi-VN" sz="7200" b="1" i="0" dirty="0">
                <a:solidFill>
                  <a:schemeClr val="tx1"/>
                </a:solidFill>
                <a:effectLst/>
                <a:latin typeface="Calibri Light" panose="020F0302020204030204" pitchFamily="34" charset="0"/>
              </a:rPr>
              <a:t>Xin chân thành cảm ơn!</a:t>
            </a:r>
            <a:endParaRPr lang="en-US" sz="72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8AAA23-BC4D-773B-8E37-395D5A12E1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Luu Phuc Loi, PhD</a:t>
            </a:r>
          </a:p>
          <a:p>
            <a:r>
              <a:rPr lang="en-US" dirty="0" err="1">
                <a:solidFill>
                  <a:schemeClr val="tx1"/>
                </a:solidFill>
              </a:rPr>
              <a:t>Zalo</a:t>
            </a:r>
            <a:r>
              <a:rPr lang="en-US" dirty="0">
                <a:solidFill>
                  <a:schemeClr val="tx1"/>
                </a:solidFill>
              </a:rPr>
              <a:t>: 0901802182</a:t>
            </a:r>
          </a:p>
          <a:p>
            <a:r>
              <a:rPr lang="en-US" dirty="0">
                <a:solidFill>
                  <a:schemeClr val="tx1"/>
                </a:solidFill>
              </a:rPr>
              <a:t>luu.p.loi@googlemail.com</a:t>
            </a:r>
          </a:p>
        </p:txBody>
      </p:sp>
    </p:spTree>
    <p:extLst>
      <p:ext uri="{BB962C8B-B14F-4D97-AF65-F5344CB8AC3E}">
        <p14:creationId xmlns:p14="http://schemas.microsoft.com/office/powerpoint/2010/main" val="32211031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1_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563</Words>
  <Application>Microsoft Office PowerPoint</Application>
  <PresentationFormat>Widescreen</PresentationFormat>
  <Paragraphs>39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宋体</vt:lpstr>
      <vt:lpstr>Arial</vt:lpstr>
      <vt:lpstr>Calibri Light</vt:lpstr>
      <vt:lpstr>Century Gothic</vt:lpstr>
      <vt:lpstr>Wingdings 3</vt:lpstr>
      <vt:lpstr>Ion</vt:lpstr>
      <vt:lpstr>1_Ion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Xin chân thành cảm ơn!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 Paper Data Visualization</dc:title>
  <dc:creator>dell</dc:creator>
  <cp:lastModifiedBy>Luu Loi</cp:lastModifiedBy>
  <cp:revision>90</cp:revision>
  <dcterms:created xsi:type="dcterms:W3CDTF">2022-09-26T16:05:44Z</dcterms:created>
  <dcterms:modified xsi:type="dcterms:W3CDTF">2025-11-21T11:55:22Z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1033-11.1.0.10920</vt:lpwstr>
  </property>
</Properties>
</file>