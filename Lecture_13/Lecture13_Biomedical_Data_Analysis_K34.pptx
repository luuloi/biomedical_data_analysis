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57" r:id="rId3"/>
    <p:sldId id="258" r:id="rId4"/>
    <p:sldId id="259" r:id="rId5"/>
    <p:sldId id="260" r:id="rId6"/>
    <p:sldId id="412" r:id="rId7"/>
    <p:sldId id="261" r:id="rId8"/>
    <p:sldId id="351" r:id="rId9"/>
    <p:sldId id="380" r:id="rId10"/>
    <p:sldId id="394" r:id="rId11"/>
    <p:sldId id="389" r:id="rId12"/>
    <p:sldId id="391" r:id="rId13"/>
    <p:sldId id="392" r:id="rId14"/>
    <p:sldId id="396" r:id="rId15"/>
    <p:sldId id="397" r:id="rId16"/>
    <p:sldId id="398" r:id="rId17"/>
    <p:sldId id="399" r:id="rId18"/>
    <p:sldId id="400" r:id="rId19"/>
    <p:sldId id="401" r:id="rId20"/>
    <p:sldId id="262" r:id="rId21"/>
    <p:sldId id="402" r:id="rId22"/>
    <p:sldId id="403" r:id="rId23"/>
    <p:sldId id="404" r:id="rId24"/>
    <p:sldId id="405" r:id="rId25"/>
    <p:sldId id="406" r:id="rId26"/>
    <p:sldId id="407" r:id="rId27"/>
    <p:sldId id="408" r:id="rId28"/>
    <p:sldId id="411" r:id="rId29"/>
    <p:sldId id="409" r:id="rId30"/>
    <p:sldId id="413" r:id="rId31"/>
    <p:sldId id="414" r:id="rId32"/>
    <p:sldId id="415" r:id="rId33"/>
    <p:sldId id="4706" r:id="rId34"/>
    <p:sldId id="271" r:id="rId35"/>
    <p:sldId id="4683" r:id="rId36"/>
    <p:sldId id="4689" r:id="rId37"/>
    <p:sldId id="4684" r:id="rId38"/>
    <p:sldId id="4685" r:id="rId39"/>
    <p:sldId id="416" r:id="rId40"/>
    <p:sldId id="417" r:id="rId41"/>
    <p:sldId id="418" r:id="rId42"/>
    <p:sldId id="395"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6" autoAdjust="0"/>
    <p:restoredTop sz="94660"/>
  </p:normalViewPr>
  <p:slideViewPr>
    <p:cSldViewPr snapToGrid="0">
      <p:cViewPr varScale="1">
        <p:scale>
          <a:sx n="86" d="100"/>
          <a:sy n="86" d="100"/>
        </p:scale>
        <p:origin x="48" y="1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635EAE-622B-4E0A-911D-F0624C9C88BE}" type="doc">
      <dgm:prSet loTypeId="urn:microsoft.com/office/officeart/2005/8/layout/radial5" loCatId="cycle" qsTypeId="urn:microsoft.com/office/officeart/2005/8/quickstyle/simple1" qsCatId="simple" csTypeId="urn:microsoft.com/office/officeart/2005/8/colors/accent0_3" csCatId="mainScheme" phldr="1"/>
      <dgm:spPr/>
      <dgm:t>
        <a:bodyPr/>
        <a:lstStyle/>
        <a:p>
          <a:endParaRPr lang="en-US"/>
        </a:p>
      </dgm:t>
    </dgm:pt>
    <dgm:pt modelId="{CD4E1C6C-1BD3-42AC-9AA5-2B4980E6B028}">
      <dgm:prSet phldrT="[Text]"/>
      <dgm:spPr/>
      <dgm:t>
        <a:bodyPr/>
        <a:lstStyle/>
        <a:p>
          <a:r>
            <a:rPr lang="en-US" b="1" dirty="0">
              <a:solidFill>
                <a:srgbClr val="FFFF00"/>
              </a:solidFill>
              <a:latin typeface="Calibri Light" panose="020F0302020204030204" pitchFamily="34" charset="0"/>
              <a:cs typeface="Calibri Light" panose="020F0302020204030204" pitchFamily="34" charset="0"/>
            </a:rPr>
            <a:t>HCV</a:t>
          </a:r>
        </a:p>
        <a:p>
          <a:r>
            <a:rPr lang="en-US" b="1" dirty="0">
              <a:solidFill>
                <a:srgbClr val="FFFF00"/>
              </a:solidFill>
              <a:latin typeface="Calibri Light" panose="020F0302020204030204" pitchFamily="34" charset="0"/>
              <a:cs typeface="Calibri Light" panose="020F0302020204030204" pitchFamily="34" charset="0"/>
            </a:rPr>
            <a:t>treatment</a:t>
          </a:r>
        </a:p>
      </dgm:t>
    </dgm:pt>
    <dgm:pt modelId="{5D0EE252-1DD8-456B-8921-7118874D60FC}" type="parTrans" cxnId="{B5353A88-D169-46C3-87DF-95E3E714657D}">
      <dgm:prSet/>
      <dgm:spPr/>
      <dgm:t>
        <a:bodyPr/>
        <a:lstStyle/>
        <a:p>
          <a:endParaRPr lang="en-US"/>
        </a:p>
      </dgm:t>
    </dgm:pt>
    <dgm:pt modelId="{A0EDEAAD-332B-4CA0-9F8A-CBB95A1C89BB}" type="sibTrans" cxnId="{B5353A88-D169-46C3-87DF-95E3E714657D}">
      <dgm:prSet/>
      <dgm:spPr/>
      <dgm:t>
        <a:bodyPr/>
        <a:lstStyle/>
        <a:p>
          <a:endParaRPr lang="en-US"/>
        </a:p>
      </dgm:t>
    </dgm:pt>
    <dgm:pt modelId="{DDE4C143-091D-4BE9-B896-54C9E15FE395}">
      <dgm:prSet phldrT="[Text]"/>
      <dgm:spPr>
        <a:solidFill>
          <a:schemeClr val="accent5"/>
        </a:solidFill>
      </dgm:spPr>
      <dgm:t>
        <a:bodyPr/>
        <a:lstStyle/>
        <a:p>
          <a:r>
            <a:rPr lang="en-US" b="1" dirty="0">
              <a:latin typeface="Calibri Light" panose="020F0302020204030204" pitchFamily="34" charset="0"/>
              <a:cs typeface="Calibri Light" panose="020F0302020204030204" pitchFamily="34" charset="0"/>
            </a:rPr>
            <a:t>HCV genotype</a:t>
          </a:r>
          <a:endParaRPr lang="en-US" dirty="0"/>
        </a:p>
      </dgm:t>
    </dgm:pt>
    <dgm:pt modelId="{413230EB-1448-470A-9DA4-7C304D7203F8}" type="parTrans" cxnId="{D1FB4209-F55A-40EE-A547-DBFE87067F73}">
      <dgm:prSet/>
      <dgm:spPr/>
      <dgm:t>
        <a:bodyPr/>
        <a:lstStyle/>
        <a:p>
          <a:endParaRPr lang="en-US"/>
        </a:p>
      </dgm:t>
    </dgm:pt>
    <dgm:pt modelId="{46E2F936-B438-4A95-9A67-B3B435CF0E21}" type="sibTrans" cxnId="{D1FB4209-F55A-40EE-A547-DBFE87067F73}">
      <dgm:prSet/>
      <dgm:spPr/>
      <dgm:t>
        <a:bodyPr/>
        <a:lstStyle/>
        <a:p>
          <a:endParaRPr lang="en-US"/>
        </a:p>
      </dgm:t>
    </dgm:pt>
    <dgm:pt modelId="{E2BB554F-2553-40CE-8403-039EA7E1C89A}">
      <dgm:prSet phldrT="[Text]"/>
      <dgm:spPr/>
      <dgm:t>
        <a:bodyPr/>
        <a:lstStyle/>
        <a:p>
          <a:r>
            <a:rPr lang="en-US" b="1" dirty="0">
              <a:latin typeface="Calibri Light" panose="020F0302020204030204" pitchFamily="34" charset="0"/>
              <a:cs typeface="Calibri Light" panose="020F0302020204030204" pitchFamily="34" charset="0"/>
            </a:rPr>
            <a:t>Degree of liver fibrosis</a:t>
          </a:r>
          <a:endParaRPr lang="en-US" dirty="0"/>
        </a:p>
      </dgm:t>
    </dgm:pt>
    <dgm:pt modelId="{4BA464EE-5C79-422B-A2B3-76B9880AD62E}" type="parTrans" cxnId="{63A140B6-FB5F-4DD6-88D9-2B0346E50DCE}">
      <dgm:prSet/>
      <dgm:spPr/>
      <dgm:t>
        <a:bodyPr/>
        <a:lstStyle/>
        <a:p>
          <a:endParaRPr lang="en-US"/>
        </a:p>
      </dgm:t>
    </dgm:pt>
    <dgm:pt modelId="{2BDF776D-041E-4108-9A7E-AEE6329C42D8}" type="sibTrans" cxnId="{63A140B6-FB5F-4DD6-88D9-2B0346E50DCE}">
      <dgm:prSet/>
      <dgm:spPr/>
      <dgm:t>
        <a:bodyPr/>
        <a:lstStyle/>
        <a:p>
          <a:endParaRPr lang="en-US"/>
        </a:p>
      </dgm:t>
    </dgm:pt>
    <dgm:pt modelId="{316A09DB-991A-457B-897A-4D5BD52D9AE0}">
      <dgm:prSet phldrT="[Text]"/>
      <dgm:spPr>
        <a:solidFill>
          <a:srgbClr val="FFC000"/>
        </a:solidFill>
      </dgm:spPr>
      <dgm:t>
        <a:bodyPr/>
        <a:lstStyle/>
        <a:p>
          <a:r>
            <a:rPr lang="en-US" b="1" dirty="0">
              <a:latin typeface="Calibri Light" panose="020F0302020204030204" pitchFamily="34" charset="0"/>
              <a:cs typeface="Calibri Light" panose="020F0302020204030204" pitchFamily="34" charset="0"/>
            </a:rPr>
            <a:t>Treatment adherence</a:t>
          </a:r>
          <a:endParaRPr lang="en-US" dirty="0"/>
        </a:p>
      </dgm:t>
    </dgm:pt>
    <dgm:pt modelId="{0F07613B-6D23-49B1-B15C-3A2CA18C6EA4}" type="parTrans" cxnId="{D0A4060E-940C-4D04-8B75-EBA23AA03252}">
      <dgm:prSet/>
      <dgm:spPr/>
      <dgm:t>
        <a:bodyPr/>
        <a:lstStyle/>
        <a:p>
          <a:endParaRPr lang="en-US"/>
        </a:p>
      </dgm:t>
    </dgm:pt>
    <dgm:pt modelId="{1C7E6F5B-A5EE-43AF-B83E-6FDCEF054C63}" type="sibTrans" cxnId="{D0A4060E-940C-4D04-8B75-EBA23AA03252}">
      <dgm:prSet/>
      <dgm:spPr/>
      <dgm:t>
        <a:bodyPr/>
        <a:lstStyle/>
        <a:p>
          <a:endParaRPr lang="en-US"/>
        </a:p>
      </dgm:t>
    </dgm:pt>
    <dgm:pt modelId="{77FF0678-96F3-4812-B325-29378E19B37D}">
      <dgm:prSet phldrT="[Text]"/>
      <dgm:spPr>
        <a:solidFill>
          <a:srgbClr val="FF0000"/>
        </a:solidFill>
      </dgm:spPr>
      <dgm:t>
        <a:bodyPr/>
        <a:lstStyle/>
        <a:p>
          <a:r>
            <a:rPr lang="en-US" b="1" dirty="0">
              <a:latin typeface="Calibri Light" panose="020F0302020204030204" pitchFamily="34" charset="0"/>
              <a:cs typeface="Calibri Light" panose="020F0302020204030204" pitchFamily="34" charset="0"/>
            </a:rPr>
            <a:t>Drug resistance</a:t>
          </a:r>
        </a:p>
        <a:p>
          <a:r>
            <a:rPr lang="en-US" b="1" dirty="0">
              <a:latin typeface="Calibri Light" panose="020F0302020204030204" pitchFamily="34" charset="0"/>
              <a:cs typeface="Calibri Light" panose="020F0302020204030204" pitchFamily="34" charset="0"/>
            </a:rPr>
            <a:t>(RASs)</a:t>
          </a:r>
          <a:endParaRPr lang="en-US" dirty="0"/>
        </a:p>
      </dgm:t>
    </dgm:pt>
    <dgm:pt modelId="{112ABD47-0B7C-41D9-96AB-C5776F2EA4F4}" type="parTrans" cxnId="{F4E1322E-8E12-4CF9-BBEC-8D5E3F9EB74B}">
      <dgm:prSet/>
      <dgm:spPr/>
      <dgm:t>
        <a:bodyPr/>
        <a:lstStyle/>
        <a:p>
          <a:endParaRPr lang="en-US"/>
        </a:p>
      </dgm:t>
    </dgm:pt>
    <dgm:pt modelId="{AD0499E3-F935-4130-AE08-9C7376FA5157}" type="sibTrans" cxnId="{F4E1322E-8E12-4CF9-BBEC-8D5E3F9EB74B}">
      <dgm:prSet/>
      <dgm:spPr/>
      <dgm:t>
        <a:bodyPr/>
        <a:lstStyle/>
        <a:p>
          <a:endParaRPr lang="en-US"/>
        </a:p>
      </dgm:t>
    </dgm:pt>
    <dgm:pt modelId="{3065F1C9-BE16-4CF0-A644-1B9988AF68D5}">
      <dgm:prSet phldrT="[Text]"/>
      <dgm:spPr/>
      <dgm:t>
        <a:bodyPr/>
        <a:lstStyle/>
        <a:p>
          <a:r>
            <a:rPr lang="en-US" b="1" dirty="0">
              <a:latin typeface="Calibri Light" panose="020F0302020204030204" pitchFamily="34" charset="0"/>
              <a:cs typeface="Calibri Light" panose="020F0302020204030204" pitchFamily="34" charset="0"/>
            </a:rPr>
            <a:t>Patient factors</a:t>
          </a:r>
          <a:endParaRPr lang="en-US" dirty="0"/>
        </a:p>
      </dgm:t>
    </dgm:pt>
    <dgm:pt modelId="{57EB3693-40C3-46F3-AB52-73B0B8F09F57}" type="parTrans" cxnId="{BEF8D3A9-82C9-4705-BE46-0E44A8EE746C}">
      <dgm:prSet/>
      <dgm:spPr/>
      <dgm:t>
        <a:bodyPr/>
        <a:lstStyle/>
        <a:p>
          <a:endParaRPr lang="en-US"/>
        </a:p>
      </dgm:t>
    </dgm:pt>
    <dgm:pt modelId="{02C04812-92B4-49BC-8FEA-3623FEFCD1B6}" type="sibTrans" cxnId="{BEF8D3A9-82C9-4705-BE46-0E44A8EE746C}">
      <dgm:prSet/>
      <dgm:spPr/>
      <dgm:t>
        <a:bodyPr/>
        <a:lstStyle/>
        <a:p>
          <a:endParaRPr lang="en-US"/>
        </a:p>
      </dgm:t>
    </dgm:pt>
    <dgm:pt modelId="{A3FD88BE-310E-4C5F-A228-6EFE11224371}" type="pres">
      <dgm:prSet presAssocID="{F4635EAE-622B-4E0A-911D-F0624C9C88BE}" presName="Name0" presStyleCnt="0">
        <dgm:presLayoutVars>
          <dgm:chMax val="1"/>
          <dgm:dir/>
          <dgm:animLvl val="ctr"/>
          <dgm:resizeHandles val="exact"/>
        </dgm:presLayoutVars>
      </dgm:prSet>
      <dgm:spPr/>
    </dgm:pt>
    <dgm:pt modelId="{E0846225-B00C-4FBC-8B9F-17B6C3651550}" type="pres">
      <dgm:prSet presAssocID="{CD4E1C6C-1BD3-42AC-9AA5-2B4980E6B028}" presName="centerShape" presStyleLbl="node0" presStyleIdx="0" presStyleCnt="1"/>
      <dgm:spPr/>
    </dgm:pt>
    <dgm:pt modelId="{5A601D1F-9999-4D86-884B-DF56A28FE80B}" type="pres">
      <dgm:prSet presAssocID="{413230EB-1448-470A-9DA4-7C304D7203F8}" presName="parTrans" presStyleLbl="sibTrans2D1" presStyleIdx="0" presStyleCnt="5"/>
      <dgm:spPr/>
    </dgm:pt>
    <dgm:pt modelId="{8012A396-AFD5-4C9B-86BF-32724ADBDEFF}" type="pres">
      <dgm:prSet presAssocID="{413230EB-1448-470A-9DA4-7C304D7203F8}" presName="connectorText" presStyleLbl="sibTrans2D1" presStyleIdx="0" presStyleCnt="5"/>
      <dgm:spPr/>
    </dgm:pt>
    <dgm:pt modelId="{4B104261-DF23-40B5-B219-F99B053DD8C2}" type="pres">
      <dgm:prSet presAssocID="{DDE4C143-091D-4BE9-B896-54C9E15FE395}" presName="node" presStyleLbl="node1" presStyleIdx="0" presStyleCnt="5">
        <dgm:presLayoutVars>
          <dgm:bulletEnabled val="1"/>
        </dgm:presLayoutVars>
      </dgm:prSet>
      <dgm:spPr/>
    </dgm:pt>
    <dgm:pt modelId="{7C062080-647D-47E6-97FE-BBA5F802D54A}" type="pres">
      <dgm:prSet presAssocID="{4BA464EE-5C79-422B-A2B3-76B9880AD62E}" presName="parTrans" presStyleLbl="sibTrans2D1" presStyleIdx="1" presStyleCnt="5"/>
      <dgm:spPr/>
    </dgm:pt>
    <dgm:pt modelId="{09CBDA57-F269-4687-A255-CE2600326B1B}" type="pres">
      <dgm:prSet presAssocID="{4BA464EE-5C79-422B-A2B3-76B9880AD62E}" presName="connectorText" presStyleLbl="sibTrans2D1" presStyleIdx="1" presStyleCnt="5"/>
      <dgm:spPr/>
    </dgm:pt>
    <dgm:pt modelId="{CF7EA86B-3AE2-40FF-857F-08DFD32AD72C}" type="pres">
      <dgm:prSet presAssocID="{E2BB554F-2553-40CE-8403-039EA7E1C89A}" presName="node" presStyleLbl="node1" presStyleIdx="1" presStyleCnt="5">
        <dgm:presLayoutVars>
          <dgm:bulletEnabled val="1"/>
        </dgm:presLayoutVars>
      </dgm:prSet>
      <dgm:spPr/>
    </dgm:pt>
    <dgm:pt modelId="{D5E6D581-56BF-47C1-B87A-0E5903F5E2FA}" type="pres">
      <dgm:prSet presAssocID="{57EB3693-40C3-46F3-AB52-73B0B8F09F57}" presName="parTrans" presStyleLbl="sibTrans2D1" presStyleIdx="2" presStyleCnt="5"/>
      <dgm:spPr/>
    </dgm:pt>
    <dgm:pt modelId="{A61CB725-EF54-4EBC-B350-168770727923}" type="pres">
      <dgm:prSet presAssocID="{57EB3693-40C3-46F3-AB52-73B0B8F09F57}" presName="connectorText" presStyleLbl="sibTrans2D1" presStyleIdx="2" presStyleCnt="5"/>
      <dgm:spPr/>
    </dgm:pt>
    <dgm:pt modelId="{410BAFB6-3759-4BBF-8E43-61BD6A72D37D}" type="pres">
      <dgm:prSet presAssocID="{3065F1C9-BE16-4CF0-A644-1B9988AF68D5}" presName="node" presStyleLbl="node1" presStyleIdx="2" presStyleCnt="5">
        <dgm:presLayoutVars>
          <dgm:bulletEnabled val="1"/>
        </dgm:presLayoutVars>
      </dgm:prSet>
      <dgm:spPr/>
    </dgm:pt>
    <dgm:pt modelId="{4541E39C-46D4-4EDC-AD56-E8CE4844AE54}" type="pres">
      <dgm:prSet presAssocID="{0F07613B-6D23-49B1-B15C-3A2CA18C6EA4}" presName="parTrans" presStyleLbl="sibTrans2D1" presStyleIdx="3" presStyleCnt="5"/>
      <dgm:spPr/>
    </dgm:pt>
    <dgm:pt modelId="{FFA4EC12-68D2-44E1-BF8B-831319D4DC05}" type="pres">
      <dgm:prSet presAssocID="{0F07613B-6D23-49B1-B15C-3A2CA18C6EA4}" presName="connectorText" presStyleLbl="sibTrans2D1" presStyleIdx="3" presStyleCnt="5"/>
      <dgm:spPr/>
    </dgm:pt>
    <dgm:pt modelId="{1A116580-518B-4682-9D28-D061A9D8CCD4}" type="pres">
      <dgm:prSet presAssocID="{316A09DB-991A-457B-897A-4D5BD52D9AE0}" presName="node" presStyleLbl="node1" presStyleIdx="3" presStyleCnt="5">
        <dgm:presLayoutVars>
          <dgm:bulletEnabled val="1"/>
        </dgm:presLayoutVars>
      </dgm:prSet>
      <dgm:spPr/>
    </dgm:pt>
    <dgm:pt modelId="{22D126EE-F8E8-4F58-B42C-54CEE198FD55}" type="pres">
      <dgm:prSet presAssocID="{112ABD47-0B7C-41D9-96AB-C5776F2EA4F4}" presName="parTrans" presStyleLbl="sibTrans2D1" presStyleIdx="4" presStyleCnt="5"/>
      <dgm:spPr/>
    </dgm:pt>
    <dgm:pt modelId="{2BB498EF-1CF5-42F8-9EB1-81B895E6B2D7}" type="pres">
      <dgm:prSet presAssocID="{112ABD47-0B7C-41D9-96AB-C5776F2EA4F4}" presName="connectorText" presStyleLbl="sibTrans2D1" presStyleIdx="4" presStyleCnt="5"/>
      <dgm:spPr/>
    </dgm:pt>
    <dgm:pt modelId="{684EE6D0-269D-4543-8570-1539BEE024D0}" type="pres">
      <dgm:prSet presAssocID="{77FF0678-96F3-4812-B325-29378E19B37D}" presName="node" presStyleLbl="node1" presStyleIdx="4" presStyleCnt="5">
        <dgm:presLayoutVars>
          <dgm:bulletEnabled val="1"/>
        </dgm:presLayoutVars>
      </dgm:prSet>
      <dgm:spPr/>
    </dgm:pt>
  </dgm:ptLst>
  <dgm:cxnLst>
    <dgm:cxn modelId="{36284102-C786-4D42-8DF1-A30003A86D85}" type="presOf" srcId="{112ABD47-0B7C-41D9-96AB-C5776F2EA4F4}" destId="{2BB498EF-1CF5-42F8-9EB1-81B895E6B2D7}" srcOrd="1" destOrd="0" presId="urn:microsoft.com/office/officeart/2005/8/layout/radial5"/>
    <dgm:cxn modelId="{D1FB4209-F55A-40EE-A547-DBFE87067F73}" srcId="{CD4E1C6C-1BD3-42AC-9AA5-2B4980E6B028}" destId="{DDE4C143-091D-4BE9-B896-54C9E15FE395}" srcOrd="0" destOrd="0" parTransId="{413230EB-1448-470A-9DA4-7C304D7203F8}" sibTransId="{46E2F936-B438-4A95-9A67-B3B435CF0E21}"/>
    <dgm:cxn modelId="{D0A4060E-940C-4D04-8B75-EBA23AA03252}" srcId="{CD4E1C6C-1BD3-42AC-9AA5-2B4980E6B028}" destId="{316A09DB-991A-457B-897A-4D5BD52D9AE0}" srcOrd="3" destOrd="0" parTransId="{0F07613B-6D23-49B1-B15C-3A2CA18C6EA4}" sibTransId="{1C7E6F5B-A5EE-43AF-B83E-6FDCEF054C63}"/>
    <dgm:cxn modelId="{EFA59D16-B830-43E2-B156-79998F6EC6CC}" type="presOf" srcId="{F4635EAE-622B-4E0A-911D-F0624C9C88BE}" destId="{A3FD88BE-310E-4C5F-A228-6EFE11224371}" srcOrd="0" destOrd="0" presId="urn:microsoft.com/office/officeart/2005/8/layout/radial5"/>
    <dgm:cxn modelId="{F4E1322E-8E12-4CF9-BBEC-8D5E3F9EB74B}" srcId="{CD4E1C6C-1BD3-42AC-9AA5-2B4980E6B028}" destId="{77FF0678-96F3-4812-B325-29378E19B37D}" srcOrd="4" destOrd="0" parTransId="{112ABD47-0B7C-41D9-96AB-C5776F2EA4F4}" sibTransId="{AD0499E3-F935-4130-AE08-9C7376FA5157}"/>
    <dgm:cxn modelId="{B32EA15C-BA8E-48BD-8D29-93BF921CAE40}" type="presOf" srcId="{57EB3693-40C3-46F3-AB52-73B0B8F09F57}" destId="{D5E6D581-56BF-47C1-B87A-0E5903F5E2FA}" srcOrd="0" destOrd="0" presId="urn:microsoft.com/office/officeart/2005/8/layout/radial5"/>
    <dgm:cxn modelId="{635A3761-6E95-4796-AD75-EBD01FF3A99D}" type="presOf" srcId="{316A09DB-991A-457B-897A-4D5BD52D9AE0}" destId="{1A116580-518B-4682-9D28-D061A9D8CCD4}" srcOrd="0" destOrd="0" presId="urn:microsoft.com/office/officeart/2005/8/layout/radial5"/>
    <dgm:cxn modelId="{B53DC862-0DCB-4072-AA65-551086C14626}" type="presOf" srcId="{4BA464EE-5C79-422B-A2B3-76B9880AD62E}" destId="{09CBDA57-F269-4687-A255-CE2600326B1B}" srcOrd="1" destOrd="0" presId="urn:microsoft.com/office/officeart/2005/8/layout/radial5"/>
    <dgm:cxn modelId="{DC09006B-9CEF-42F5-BA72-BDC49A369DF7}" type="presOf" srcId="{413230EB-1448-470A-9DA4-7C304D7203F8}" destId="{8012A396-AFD5-4C9B-86BF-32724ADBDEFF}" srcOrd="1" destOrd="0" presId="urn:microsoft.com/office/officeart/2005/8/layout/radial5"/>
    <dgm:cxn modelId="{92C1654C-9950-4FB5-A20A-C1EB9C3D38E1}" type="presOf" srcId="{57EB3693-40C3-46F3-AB52-73B0B8F09F57}" destId="{A61CB725-EF54-4EBC-B350-168770727923}" srcOrd="1" destOrd="0" presId="urn:microsoft.com/office/officeart/2005/8/layout/radial5"/>
    <dgm:cxn modelId="{0995D76D-FC27-428F-9B29-1C27EF3EB928}" type="presOf" srcId="{4BA464EE-5C79-422B-A2B3-76B9880AD62E}" destId="{7C062080-647D-47E6-97FE-BBA5F802D54A}" srcOrd="0" destOrd="0" presId="urn:microsoft.com/office/officeart/2005/8/layout/radial5"/>
    <dgm:cxn modelId="{73163253-F417-43ED-9F0F-67BC8DF71D50}" type="presOf" srcId="{0F07613B-6D23-49B1-B15C-3A2CA18C6EA4}" destId="{4541E39C-46D4-4EDC-AD56-E8CE4844AE54}" srcOrd="0" destOrd="0" presId="urn:microsoft.com/office/officeart/2005/8/layout/radial5"/>
    <dgm:cxn modelId="{9C86B053-050A-4F1C-9860-8052C785AFF7}" type="presOf" srcId="{112ABD47-0B7C-41D9-96AB-C5776F2EA4F4}" destId="{22D126EE-F8E8-4F58-B42C-54CEE198FD55}" srcOrd="0" destOrd="0" presId="urn:microsoft.com/office/officeart/2005/8/layout/radial5"/>
    <dgm:cxn modelId="{BAC6E286-6CC2-4220-AB0F-7138625A2292}" type="presOf" srcId="{413230EB-1448-470A-9DA4-7C304D7203F8}" destId="{5A601D1F-9999-4D86-884B-DF56A28FE80B}" srcOrd="0" destOrd="0" presId="urn:microsoft.com/office/officeart/2005/8/layout/radial5"/>
    <dgm:cxn modelId="{B5353A88-D169-46C3-87DF-95E3E714657D}" srcId="{F4635EAE-622B-4E0A-911D-F0624C9C88BE}" destId="{CD4E1C6C-1BD3-42AC-9AA5-2B4980E6B028}" srcOrd="0" destOrd="0" parTransId="{5D0EE252-1DD8-456B-8921-7118874D60FC}" sibTransId="{A0EDEAAD-332B-4CA0-9F8A-CBB95A1C89BB}"/>
    <dgm:cxn modelId="{BEF8D3A9-82C9-4705-BE46-0E44A8EE746C}" srcId="{CD4E1C6C-1BD3-42AC-9AA5-2B4980E6B028}" destId="{3065F1C9-BE16-4CF0-A644-1B9988AF68D5}" srcOrd="2" destOrd="0" parTransId="{57EB3693-40C3-46F3-AB52-73B0B8F09F57}" sibTransId="{02C04812-92B4-49BC-8FEA-3623FEFCD1B6}"/>
    <dgm:cxn modelId="{D03567B5-2952-402B-9A4C-0B86D9592904}" type="presOf" srcId="{DDE4C143-091D-4BE9-B896-54C9E15FE395}" destId="{4B104261-DF23-40B5-B219-F99B053DD8C2}" srcOrd="0" destOrd="0" presId="urn:microsoft.com/office/officeart/2005/8/layout/radial5"/>
    <dgm:cxn modelId="{63A140B6-FB5F-4DD6-88D9-2B0346E50DCE}" srcId="{CD4E1C6C-1BD3-42AC-9AA5-2B4980E6B028}" destId="{E2BB554F-2553-40CE-8403-039EA7E1C89A}" srcOrd="1" destOrd="0" parTransId="{4BA464EE-5C79-422B-A2B3-76B9880AD62E}" sibTransId="{2BDF776D-041E-4108-9A7E-AEE6329C42D8}"/>
    <dgm:cxn modelId="{7F2452C1-071B-4741-90A1-6EA3763EA68A}" type="presOf" srcId="{3065F1C9-BE16-4CF0-A644-1B9988AF68D5}" destId="{410BAFB6-3759-4BBF-8E43-61BD6A72D37D}" srcOrd="0" destOrd="0" presId="urn:microsoft.com/office/officeart/2005/8/layout/radial5"/>
    <dgm:cxn modelId="{717FFCD3-FCEA-45E4-AE7D-740FCB2C15CA}" type="presOf" srcId="{E2BB554F-2553-40CE-8403-039EA7E1C89A}" destId="{CF7EA86B-3AE2-40FF-857F-08DFD32AD72C}" srcOrd="0" destOrd="0" presId="urn:microsoft.com/office/officeart/2005/8/layout/radial5"/>
    <dgm:cxn modelId="{F3EAC7EA-2803-4826-8EE5-B50A868CA9FB}" type="presOf" srcId="{77FF0678-96F3-4812-B325-29378E19B37D}" destId="{684EE6D0-269D-4543-8570-1539BEE024D0}" srcOrd="0" destOrd="0" presId="urn:microsoft.com/office/officeart/2005/8/layout/radial5"/>
    <dgm:cxn modelId="{59AE8AFD-2174-415D-852C-9A0D7A85404E}" type="presOf" srcId="{CD4E1C6C-1BD3-42AC-9AA5-2B4980E6B028}" destId="{E0846225-B00C-4FBC-8B9F-17B6C3651550}" srcOrd="0" destOrd="0" presId="urn:microsoft.com/office/officeart/2005/8/layout/radial5"/>
    <dgm:cxn modelId="{121B6FFF-37D2-489A-9570-D52D142C784A}" type="presOf" srcId="{0F07613B-6D23-49B1-B15C-3A2CA18C6EA4}" destId="{FFA4EC12-68D2-44E1-BF8B-831319D4DC05}" srcOrd="1" destOrd="0" presId="urn:microsoft.com/office/officeart/2005/8/layout/radial5"/>
    <dgm:cxn modelId="{91A35A6C-536B-4A70-B7B3-789BBEFDD434}" type="presParOf" srcId="{A3FD88BE-310E-4C5F-A228-6EFE11224371}" destId="{E0846225-B00C-4FBC-8B9F-17B6C3651550}" srcOrd="0" destOrd="0" presId="urn:microsoft.com/office/officeart/2005/8/layout/radial5"/>
    <dgm:cxn modelId="{9C23CB0D-4E85-4F5A-BA36-BD861C3100D3}" type="presParOf" srcId="{A3FD88BE-310E-4C5F-A228-6EFE11224371}" destId="{5A601D1F-9999-4D86-884B-DF56A28FE80B}" srcOrd="1" destOrd="0" presId="urn:microsoft.com/office/officeart/2005/8/layout/radial5"/>
    <dgm:cxn modelId="{6BA382BE-0F33-4D99-B9C0-FF81C9D45F5E}" type="presParOf" srcId="{5A601D1F-9999-4D86-884B-DF56A28FE80B}" destId="{8012A396-AFD5-4C9B-86BF-32724ADBDEFF}" srcOrd="0" destOrd="0" presId="urn:microsoft.com/office/officeart/2005/8/layout/radial5"/>
    <dgm:cxn modelId="{56D19A95-7169-445D-A463-CB8CE040BB7B}" type="presParOf" srcId="{A3FD88BE-310E-4C5F-A228-6EFE11224371}" destId="{4B104261-DF23-40B5-B219-F99B053DD8C2}" srcOrd="2" destOrd="0" presId="urn:microsoft.com/office/officeart/2005/8/layout/radial5"/>
    <dgm:cxn modelId="{A5B6D711-C5BF-4012-8BFE-57F5F62DE65C}" type="presParOf" srcId="{A3FD88BE-310E-4C5F-A228-6EFE11224371}" destId="{7C062080-647D-47E6-97FE-BBA5F802D54A}" srcOrd="3" destOrd="0" presId="urn:microsoft.com/office/officeart/2005/8/layout/radial5"/>
    <dgm:cxn modelId="{83715A0C-0C0E-4F15-A7D7-50338FACCABD}" type="presParOf" srcId="{7C062080-647D-47E6-97FE-BBA5F802D54A}" destId="{09CBDA57-F269-4687-A255-CE2600326B1B}" srcOrd="0" destOrd="0" presId="urn:microsoft.com/office/officeart/2005/8/layout/radial5"/>
    <dgm:cxn modelId="{69336DE3-CB79-4D09-B104-FFCEF23BB472}" type="presParOf" srcId="{A3FD88BE-310E-4C5F-A228-6EFE11224371}" destId="{CF7EA86B-3AE2-40FF-857F-08DFD32AD72C}" srcOrd="4" destOrd="0" presId="urn:microsoft.com/office/officeart/2005/8/layout/radial5"/>
    <dgm:cxn modelId="{CB39F9F9-F408-4591-BE8E-8BB7D5DD0CCA}" type="presParOf" srcId="{A3FD88BE-310E-4C5F-A228-6EFE11224371}" destId="{D5E6D581-56BF-47C1-B87A-0E5903F5E2FA}" srcOrd="5" destOrd="0" presId="urn:microsoft.com/office/officeart/2005/8/layout/radial5"/>
    <dgm:cxn modelId="{B4157BAB-69D3-4F38-A43C-E48292E49F44}" type="presParOf" srcId="{D5E6D581-56BF-47C1-B87A-0E5903F5E2FA}" destId="{A61CB725-EF54-4EBC-B350-168770727923}" srcOrd="0" destOrd="0" presId="urn:microsoft.com/office/officeart/2005/8/layout/radial5"/>
    <dgm:cxn modelId="{621F239D-EAC9-43B3-923D-D166501A3D16}" type="presParOf" srcId="{A3FD88BE-310E-4C5F-A228-6EFE11224371}" destId="{410BAFB6-3759-4BBF-8E43-61BD6A72D37D}" srcOrd="6" destOrd="0" presId="urn:microsoft.com/office/officeart/2005/8/layout/radial5"/>
    <dgm:cxn modelId="{FF2E49A8-9C9B-4259-8171-7EF54B4636C7}" type="presParOf" srcId="{A3FD88BE-310E-4C5F-A228-6EFE11224371}" destId="{4541E39C-46D4-4EDC-AD56-E8CE4844AE54}" srcOrd="7" destOrd="0" presId="urn:microsoft.com/office/officeart/2005/8/layout/radial5"/>
    <dgm:cxn modelId="{DE2B80D2-3918-42CA-90BD-6911B82E896D}" type="presParOf" srcId="{4541E39C-46D4-4EDC-AD56-E8CE4844AE54}" destId="{FFA4EC12-68D2-44E1-BF8B-831319D4DC05}" srcOrd="0" destOrd="0" presId="urn:microsoft.com/office/officeart/2005/8/layout/radial5"/>
    <dgm:cxn modelId="{1E017902-F822-4BD4-81D9-6E3B82DFE3A1}" type="presParOf" srcId="{A3FD88BE-310E-4C5F-A228-6EFE11224371}" destId="{1A116580-518B-4682-9D28-D061A9D8CCD4}" srcOrd="8" destOrd="0" presId="urn:microsoft.com/office/officeart/2005/8/layout/radial5"/>
    <dgm:cxn modelId="{1FC8E789-896B-46F6-8D21-B8C372732E74}" type="presParOf" srcId="{A3FD88BE-310E-4C5F-A228-6EFE11224371}" destId="{22D126EE-F8E8-4F58-B42C-54CEE198FD55}" srcOrd="9" destOrd="0" presId="urn:microsoft.com/office/officeart/2005/8/layout/radial5"/>
    <dgm:cxn modelId="{ADA54406-39D3-43CA-A885-16269EE86B8F}" type="presParOf" srcId="{22D126EE-F8E8-4F58-B42C-54CEE198FD55}" destId="{2BB498EF-1CF5-42F8-9EB1-81B895E6B2D7}" srcOrd="0" destOrd="0" presId="urn:microsoft.com/office/officeart/2005/8/layout/radial5"/>
    <dgm:cxn modelId="{9BA44AD4-CB92-4792-9CF2-553C7D90F466}" type="presParOf" srcId="{A3FD88BE-310E-4C5F-A228-6EFE11224371}" destId="{684EE6D0-269D-4543-8570-1539BEE024D0}" srcOrd="10"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846225-B00C-4FBC-8B9F-17B6C3651550}">
      <dsp:nvSpPr>
        <dsp:cNvPr id="0" name=""/>
        <dsp:cNvSpPr/>
      </dsp:nvSpPr>
      <dsp:spPr>
        <a:xfrm>
          <a:off x="3298031" y="2148196"/>
          <a:ext cx="1531937" cy="1531937"/>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FFF00"/>
              </a:solidFill>
              <a:latin typeface="Calibri Light" panose="020F0302020204030204" pitchFamily="34" charset="0"/>
              <a:cs typeface="Calibri Light" panose="020F0302020204030204" pitchFamily="34" charset="0"/>
            </a:rPr>
            <a:t>HCV</a:t>
          </a:r>
        </a:p>
        <a:p>
          <a:pPr marL="0" lvl="0" indent="0" algn="ctr" defTabSz="889000">
            <a:lnSpc>
              <a:spcPct val="90000"/>
            </a:lnSpc>
            <a:spcBef>
              <a:spcPct val="0"/>
            </a:spcBef>
            <a:spcAft>
              <a:spcPct val="35000"/>
            </a:spcAft>
            <a:buNone/>
          </a:pPr>
          <a:r>
            <a:rPr lang="en-US" sz="2000" b="1" kern="1200" dirty="0">
              <a:solidFill>
                <a:srgbClr val="FFFF00"/>
              </a:solidFill>
              <a:latin typeface="Calibri Light" panose="020F0302020204030204" pitchFamily="34" charset="0"/>
              <a:cs typeface="Calibri Light" panose="020F0302020204030204" pitchFamily="34" charset="0"/>
            </a:rPr>
            <a:t>treatment</a:t>
          </a:r>
        </a:p>
      </dsp:txBody>
      <dsp:txXfrm>
        <a:off x="3522378" y="2372543"/>
        <a:ext cx="1083243" cy="1083243"/>
      </dsp:txXfrm>
    </dsp:sp>
    <dsp:sp modelId="{5A601D1F-9999-4D86-884B-DF56A28FE80B}">
      <dsp:nvSpPr>
        <dsp:cNvPr id="0" name=""/>
        <dsp:cNvSpPr/>
      </dsp:nvSpPr>
      <dsp:spPr>
        <a:xfrm rot="16200000">
          <a:off x="3901531" y="1590418"/>
          <a:ext cx="324937" cy="52085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3950272" y="1743331"/>
        <a:ext cx="227456" cy="312514"/>
      </dsp:txXfrm>
    </dsp:sp>
    <dsp:sp modelId="{4B104261-DF23-40B5-B219-F99B053DD8C2}">
      <dsp:nvSpPr>
        <dsp:cNvPr id="0" name=""/>
        <dsp:cNvSpPr/>
      </dsp:nvSpPr>
      <dsp:spPr>
        <a:xfrm>
          <a:off x="3298031" y="3169"/>
          <a:ext cx="1531937" cy="1531937"/>
        </a:xfrm>
        <a:prstGeom prst="ellipse">
          <a:avLst/>
        </a:prstGeom>
        <a:solidFill>
          <a:schemeClr val="accent5"/>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latin typeface="Calibri Light" panose="020F0302020204030204" pitchFamily="34" charset="0"/>
              <a:cs typeface="Calibri Light" panose="020F0302020204030204" pitchFamily="34" charset="0"/>
            </a:rPr>
            <a:t>HCV genotype</a:t>
          </a:r>
          <a:endParaRPr lang="en-US" sz="1900" kern="1200" dirty="0"/>
        </a:p>
      </dsp:txBody>
      <dsp:txXfrm>
        <a:off x="3522378" y="227516"/>
        <a:ext cx="1083243" cy="1083243"/>
      </dsp:txXfrm>
    </dsp:sp>
    <dsp:sp modelId="{7C062080-647D-47E6-97FE-BBA5F802D54A}">
      <dsp:nvSpPr>
        <dsp:cNvPr id="0" name=""/>
        <dsp:cNvSpPr/>
      </dsp:nvSpPr>
      <dsp:spPr>
        <a:xfrm rot="20520000">
          <a:off x="4912806" y="2325152"/>
          <a:ext cx="324937" cy="52085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915192" y="2444386"/>
        <a:ext cx="227456" cy="312514"/>
      </dsp:txXfrm>
    </dsp:sp>
    <dsp:sp modelId="{CF7EA86B-3AE2-40FF-857F-08DFD32AD72C}">
      <dsp:nvSpPr>
        <dsp:cNvPr id="0" name=""/>
        <dsp:cNvSpPr/>
      </dsp:nvSpPr>
      <dsp:spPr>
        <a:xfrm>
          <a:off x="5338073" y="1485346"/>
          <a:ext cx="1531937" cy="1531937"/>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latin typeface="Calibri Light" panose="020F0302020204030204" pitchFamily="34" charset="0"/>
              <a:cs typeface="Calibri Light" panose="020F0302020204030204" pitchFamily="34" charset="0"/>
            </a:rPr>
            <a:t>Degree of liver fibrosis</a:t>
          </a:r>
          <a:endParaRPr lang="en-US" sz="1900" kern="1200" dirty="0"/>
        </a:p>
      </dsp:txBody>
      <dsp:txXfrm>
        <a:off x="5562420" y="1709693"/>
        <a:ext cx="1083243" cy="1083243"/>
      </dsp:txXfrm>
    </dsp:sp>
    <dsp:sp modelId="{D5E6D581-56BF-47C1-B87A-0E5903F5E2FA}">
      <dsp:nvSpPr>
        <dsp:cNvPr id="0" name=""/>
        <dsp:cNvSpPr/>
      </dsp:nvSpPr>
      <dsp:spPr>
        <a:xfrm rot="3240000">
          <a:off x="4526533" y="3513977"/>
          <a:ext cx="324937" cy="52085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546625" y="3578717"/>
        <a:ext cx="227456" cy="312514"/>
      </dsp:txXfrm>
    </dsp:sp>
    <dsp:sp modelId="{410BAFB6-3759-4BBF-8E43-61BD6A72D37D}">
      <dsp:nvSpPr>
        <dsp:cNvPr id="0" name=""/>
        <dsp:cNvSpPr/>
      </dsp:nvSpPr>
      <dsp:spPr>
        <a:xfrm>
          <a:off x="4558846" y="3883560"/>
          <a:ext cx="1531937" cy="1531937"/>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latin typeface="Calibri Light" panose="020F0302020204030204" pitchFamily="34" charset="0"/>
              <a:cs typeface="Calibri Light" panose="020F0302020204030204" pitchFamily="34" charset="0"/>
            </a:rPr>
            <a:t>Patient factors</a:t>
          </a:r>
          <a:endParaRPr lang="en-US" sz="1900" kern="1200" dirty="0"/>
        </a:p>
      </dsp:txBody>
      <dsp:txXfrm>
        <a:off x="4783193" y="4107907"/>
        <a:ext cx="1083243" cy="1083243"/>
      </dsp:txXfrm>
    </dsp:sp>
    <dsp:sp modelId="{4541E39C-46D4-4EDC-AD56-E8CE4844AE54}">
      <dsp:nvSpPr>
        <dsp:cNvPr id="0" name=""/>
        <dsp:cNvSpPr/>
      </dsp:nvSpPr>
      <dsp:spPr>
        <a:xfrm rot="7560000">
          <a:off x="3276528" y="3513977"/>
          <a:ext cx="324937" cy="52085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rot="10800000">
        <a:off x="3353917" y="3578717"/>
        <a:ext cx="227456" cy="312514"/>
      </dsp:txXfrm>
    </dsp:sp>
    <dsp:sp modelId="{1A116580-518B-4682-9D28-D061A9D8CCD4}">
      <dsp:nvSpPr>
        <dsp:cNvPr id="0" name=""/>
        <dsp:cNvSpPr/>
      </dsp:nvSpPr>
      <dsp:spPr>
        <a:xfrm>
          <a:off x="2037215" y="3883560"/>
          <a:ext cx="1531937" cy="1531937"/>
        </a:xfrm>
        <a:prstGeom prst="ellipse">
          <a:avLst/>
        </a:prstGeom>
        <a:solidFill>
          <a:srgbClr val="FFC000"/>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latin typeface="Calibri Light" panose="020F0302020204030204" pitchFamily="34" charset="0"/>
              <a:cs typeface="Calibri Light" panose="020F0302020204030204" pitchFamily="34" charset="0"/>
            </a:rPr>
            <a:t>Treatment adherence</a:t>
          </a:r>
          <a:endParaRPr lang="en-US" sz="1900" kern="1200" dirty="0"/>
        </a:p>
      </dsp:txBody>
      <dsp:txXfrm>
        <a:off x="2261562" y="4107907"/>
        <a:ext cx="1083243" cy="1083243"/>
      </dsp:txXfrm>
    </dsp:sp>
    <dsp:sp modelId="{22D126EE-F8E8-4F58-B42C-54CEE198FD55}">
      <dsp:nvSpPr>
        <dsp:cNvPr id="0" name=""/>
        <dsp:cNvSpPr/>
      </dsp:nvSpPr>
      <dsp:spPr>
        <a:xfrm rot="11880000">
          <a:off x="2890256" y="2325152"/>
          <a:ext cx="324937" cy="52085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rot="10800000">
        <a:off x="2985351" y="2444386"/>
        <a:ext cx="227456" cy="312514"/>
      </dsp:txXfrm>
    </dsp:sp>
    <dsp:sp modelId="{684EE6D0-269D-4543-8570-1539BEE024D0}">
      <dsp:nvSpPr>
        <dsp:cNvPr id="0" name=""/>
        <dsp:cNvSpPr/>
      </dsp:nvSpPr>
      <dsp:spPr>
        <a:xfrm>
          <a:off x="1257988" y="1485346"/>
          <a:ext cx="1531937" cy="1531937"/>
        </a:xfrm>
        <a:prstGeom prst="ellipse">
          <a:avLst/>
        </a:prstGeom>
        <a:solidFill>
          <a:srgbClr val="FF0000"/>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latin typeface="Calibri Light" panose="020F0302020204030204" pitchFamily="34" charset="0"/>
              <a:cs typeface="Calibri Light" panose="020F0302020204030204" pitchFamily="34" charset="0"/>
            </a:rPr>
            <a:t>Drug resistance</a:t>
          </a:r>
        </a:p>
        <a:p>
          <a:pPr marL="0" lvl="0" indent="0" algn="ctr" defTabSz="844550">
            <a:lnSpc>
              <a:spcPct val="90000"/>
            </a:lnSpc>
            <a:spcBef>
              <a:spcPct val="0"/>
            </a:spcBef>
            <a:spcAft>
              <a:spcPct val="35000"/>
            </a:spcAft>
            <a:buNone/>
          </a:pPr>
          <a:r>
            <a:rPr lang="en-US" sz="1900" b="1" kern="1200" dirty="0">
              <a:latin typeface="Calibri Light" panose="020F0302020204030204" pitchFamily="34" charset="0"/>
              <a:cs typeface="Calibri Light" panose="020F0302020204030204" pitchFamily="34" charset="0"/>
            </a:rPr>
            <a:t>(RASs)</a:t>
          </a:r>
          <a:endParaRPr lang="en-US" sz="1900" kern="1200" dirty="0"/>
        </a:p>
      </dsp:txBody>
      <dsp:txXfrm>
        <a:off x="1482335" y="1709693"/>
        <a:ext cx="1083243" cy="1083243"/>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Calibri Light" panose="020F030202020403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Calibri Light" panose="020F0302020204030204" pitchFamily="34" charset="0"/>
              </a:defRPr>
            </a:lvl1pPr>
          </a:lstStyle>
          <a:p>
            <a:fld id="{D3A8A066-ED64-49CB-B790-974199C7A884}" type="datetimeFigureOut">
              <a:rPr lang="en-US" smtClean="0"/>
              <a:pPr/>
              <a:t>12/2/2025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Calibri Light" panose="020F030202020403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Calibri Light" panose="020F0302020204030204" pitchFamily="34" charset="0"/>
              </a:defRPr>
            </a:lvl1pPr>
          </a:lstStyle>
          <a:p>
            <a:fld id="{18814104-B0C5-40F5-B8BD-85DC81791EA9}" type="slidenum">
              <a:rPr lang="en-US" smtClean="0"/>
              <a:pPr/>
              <a:t>‹#›</a:t>
            </a:fld>
            <a:endParaRPr lang="en-US" dirty="0"/>
          </a:p>
        </p:txBody>
      </p:sp>
    </p:spTree>
    <p:extLst>
      <p:ext uri="{BB962C8B-B14F-4D97-AF65-F5344CB8AC3E}">
        <p14:creationId xmlns:p14="http://schemas.microsoft.com/office/powerpoint/2010/main" val="985208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Calibri Light" panose="020F0302020204030204" pitchFamily="34" charset="0"/>
        <a:ea typeface="+mn-ea"/>
        <a:cs typeface="+mn-cs"/>
      </a:defRPr>
    </a:lvl1pPr>
    <a:lvl2pPr marL="457200" algn="l" defTabSz="914400" rtl="0" eaLnBrk="1" latinLnBrk="0" hangingPunct="1">
      <a:defRPr sz="1200" kern="1200">
        <a:solidFill>
          <a:schemeClr val="tx1"/>
        </a:solidFill>
        <a:latin typeface="Calibri Light" panose="020F0302020204030204" pitchFamily="34" charset="0"/>
        <a:ea typeface="+mn-ea"/>
        <a:cs typeface="+mn-cs"/>
      </a:defRPr>
    </a:lvl2pPr>
    <a:lvl3pPr marL="914400" algn="l" defTabSz="914400" rtl="0" eaLnBrk="1" latinLnBrk="0" hangingPunct="1">
      <a:defRPr sz="1200" kern="1200">
        <a:solidFill>
          <a:schemeClr val="tx1"/>
        </a:solidFill>
        <a:latin typeface="Calibri Light" panose="020F0302020204030204" pitchFamily="34" charset="0"/>
        <a:ea typeface="+mn-ea"/>
        <a:cs typeface="+mn-cs"/>
      </a:defRPr>
    </a:lvl3pPr>
    <a:lvl4pPr marL="1371600" algn="l" defTabSz="914400" rtl="0" eaLnBrk="1" latinLnBrk="0" hangingPunct="1">
      <a:defRPr sz="1200" kern="1200">
        <a:solidFill>
          <a:schemeClr val="tx1"/>
        </a:solidFill>
        <a:latin typeface="Calibri Light" panose="020F0302020204030204" pitchFamily="34" charset="0"/>
        <a:ea typeface="+mn-ea"/>
        <a:cs typeface="+mn-cs"/>
      </a:defRPr>
    </a:lvl4pPr>
    <a:lvl5pPr marL="1828800" algn="l" defTabSz="914400" rtl="0" eaLnBrk="1" latinLnBrk="0" hangingPunct="1">
      <a:defRPr sz="1200" kern="1200">
        <a:solidFill>
          <a:schemeClr val="tx1"/>
        </a:solidFill>
        <a:latin typeface="Calibri Light" panose="020F03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3214e99c8d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3214e99c8d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3214e99c8d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3214e99c8d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3a6d98fb68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3a6d98fb68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3a6d98fb6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3a6d98fb6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3a6d98fb68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3a6d98fb68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D6ED0-B5AF-2272-4C47-490EAC0472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8990DDE-A592-F764-25CF-008885B861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FD4553-F4A8-A926-93C5-30927544B527}"/>
              </a:ext>
            </a:extLst>
          </p:cNvPr>
          <p:cNvSpPr>
            <a:spLocks noGrp="1"/>
          </p:cNvSpPr>
          <p:nvPr>
            <p:ph type="dt" sz="half" idx="10"/>
          </p:nvPr>
        </p:nvSpPr>
        <p:spPr/>
        <p:txBody>
          <a:bodyPr/>
          <a:lstStyle/>
          <a:p>
            <a:fld id="{B0B7235A-EBBC-4E74-B536-994431929B35}" type="datetimeFigureOut">
              <a:rPr lang="en-US" smtClean="0"/>
              <a:t>12/2/2025</a:t>
            </a:fld>
            <a:endParaRPr lang="en-US"/>
          </a:p>
        </p:txBody>
      </p:sp>
      <p:sp>
        <p:nvSpPr>
          <p:cNvPr id="5" name="Footer Placeholder 4">
            <a:extLst>
              <a:ext uri="{FF2B5EF4-FFF2-40B4-BE49-F238E27FC236}">
                <a16:creationId xmlns:a16="http://schemas.microsoft.com/office/drawing/2014/main" id="{FA9657B9-B975-D1E3-F836-9A16A52FBE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F0FE1A-F1EA-E37F-8FD3-CB9F99C949F9}"/>
              </a:ext>
            </a:extLst>
          </p:cNvPr>
          <p:cNvSpPr>
            <a:spLocks noGrp="1"/>
          </p:cNvSpPr>
          <p:nvPr>
            <p:ph type="sldNum" sz="quarter" idx="12"/>
          </p:nvPr>
        </p:nvSpPr>
        <p:spPr/>
        <p:txBody>
          <a:bodyPr/>
          <a:lstStyle/>
          <a:p>
            <a:fld id="{7540260A-CFEE-495E-99BB-EADFF3FE933C}" type="slidenum">
              <a:rPr lang="en-US" smtClean="0"/>
              <a:t>‹#›</a:t>
            </a:fld>
            <a:endParaRPr lang="en-US"/>
          </a:p>
        </p:txBody>
      </p:sp>
    </p:spTree>
    <p:extLst>
      <p:ext uri="{BB962C8B-B14F-4D97-AF65-F5344CB8AC3E}">
        <p14:creationId xmlns:p14="http://schemas.microsoft.com/office/powerpoint/2010/main" val="94485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982F2-A758-2033-23CF-EDF0364484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DCE85D-6C45-6DB2-51DB-536923076E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FE899D-4C15-4122-EB57-E162F4EBE6C5}"/>
              </a:ext>
            </a:extLst>
          </p:cNvPr>
          <p:cNvSpPr>
            <a:spLocks noGrp="1"/>
          </p:cNvSpPr>
          <p:nvPr>
            <p:ph type="dt" sz="half" idx="10"/>
          </p:nvPr>
        </p:nvSpPr>
        <p:spPr/>
        <p:txBody>
          <a:bodyPr/>
          <a:lstStyle/>
          <a:p>
            <a:fld id="{B0B7235A-EBBC-4E74-B536-994431929B35}" type="datetimeFigureOut">
              <a:rPr lang="en-US" smtClean="0"/>
              <a:t>12/2/2025</a:t>
            </a:fld>
            <a:endParaRPr lang="en-US"/>
          </a:p>
        </p:txBody>
      </p:sp>
      <p:sp>
        <p:nvSpPr>
          <p:cNvPr id="5" name="Footer Placeholder 4">
            <a:extLst>
              <a:ext uri="{FF2B5EF4-FFF2-40B4-BE49-F238E27FC236}">
                <a16:creationId xmlns:a16="http://schemas.microsoft.com/office/drawing/2014/main" id="{B7D89204-93E8-B9BE-5B1F-B96A05D3FD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76A9AD-57D4-7286-0398-66C7CE97DA32}"/>
              </a:ext>
            </a:extLst>
          </p:cNvPr>
          <p:cNvSpPr>
            <a:spLocks noGrp="1"/>
          </p:cNvSpPr>
          <p:nvPr>
            <p:ph type="sldNum" sz="quarter" idx="12"/>
          </p:nvPr>
        </p:nvSpPr>
        <p:spPr/>
        <p:txBody>
          <a:bodyPr/>
          <a:lstStyle/>
          <a:p>
            <a:fld id="{7540260A-CFEE-495E-99BB-EADFF3FE933C}" type="slidenum">
              <a:rPr lang="en-US" smtClean="0"/>
              <a:t>‹#›</a:t>
            </a:fld>
            <a:endParaRPr lang="en-US"/>
          </a:p>
        </p:txBody>
      </p:sp>
    </p:spTree>
    <p:extLst>
      <p:ext uri="{BB962C8B-B14F-4D97-AF65-F5344CB8AC3E}">
        <p14:creationId xmlns:p14="http://schemas.microsoft.com/office/powerpoint/2010/main" val="389093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6BCCC-D886-3E34-96F0-A960583781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511754-FA1E-5C31-CD3D-3E1CAD9D0F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128421-13EF-084F-A08F-088476632249}"/>
              </a:ext>
            </a:extLst>
          </p:cNvPr>
          <p:cNvSpPr>
            <a:spLocks noGrp="1"/>
          </p:cNvSpPr>
          <p:nvPr>
            <p:ph type="dt" sz="half" idx="10"/>
          </p:nvPr>
        </p:nvSpPr>
        <p:spPr/>
        <p:txBody>
          <a:bodyPr/>
          <a:lstStyle/>
          <a:p>
            <a:fld id="{B0B7235A-EBBC-4E74-B536-994431929B35}" type="datetimeFigureOut">
              <a:rPr lang="en-US" smtClean="0"/>
              <a:t>12/2/2025</a:t>
            </a:fld>
            <a:endParaRPr lang="en-US"/>
          </a:p>
        </p:txBody>
      </p:sp>
      <p:sp>
        <p:nvSpPr>
          <p:cNvPr id="5" name="Footer Placeholder 4">
            <a:extLst>
              <a:ext uri="{FF2B5EF4-FFF2-40B4-BE49-F238E27FC236}">
                <a16:creationId xmlns:a16="http://schemas.microsoft.com/office/drawing/2014/main" id="{0FCB77FA-3E56-7A5A-3C77-7C01410D79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8165CF-F802-4ABF-DCE4-C8015C938126}"/>
              </a:ext>
            </a:extLst>
          </p:cNvPr>
          <p:cNvSpPr>
            <a:spLocks noGrp="1"/>
          </p:cNvSpPr>
          <p:nvPr>
            <p:ph type="sldNum" sz="quarter" idx="12"/>
          </p:nvPr>
        </p:nvSpPr>
        <p:spPr/>
        <p:txBody>
          <a:bodyPr/>
          <a:lstStyle/>
          <a:p>
            <a:fld id="{7540260A-CFEE-495E-99BB-EADFF3FE933C}" type="slidenum">
              <a:rPr lang="en-US" smtClean="0"/>
              <a:t>‹#›</a:t>
            </a:fld>
            <a:endParaRPr lang="en-US"/>
          </a:p>
        </p:txBody>
      </p:sp>
    </p:spTree>
    <p:extLst>
      <p:ext uri="{BB962C8B-B14F-4D97-AF65-F5344CB8AC3E}">
        <p14:creationId xmlns:p14="http://schemas.microsoft.com/office/powerpoint/2010/main" val="4118179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F7BA9-DC89-4575-2880-FDCE4867C8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963DB4-9853-45A4-FEAB-1C5EEC29B9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630AEB-6ACD-BA6F-7E1E-E97D356EEE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0478D9-387A-4BAA-6240-24E07E72A4F1}"/>
              </a:ext>
            </a:extLst>
          </p:cNvPr>
          <p:cNvSpPr>
            <a:spLocks noGrp="1"/>
          </p:cNvSpPr>
          <p:nvPr>
            <p:ph type="dt" sz="half" idx="10"/>
          </p:nvPr>
        </p:nvSpPr>
        <p:spPr/>
        <p:txBody>
          <a:bodyPr/>
          <a:lstStyle/>
          <a:p>
            <a:fld id="{B0B7235A-EBBC-4E74-B536-994431929B35}" type="datetimeFigureOut">
              <a:rPr lang="en-US" smtClean="0"/>
              <a:t>12/2/2025</a:t>
            </a:fld>
            <a:endParaRPr lang="en-US"/>
          </a:p>
        </p:txBody>
      </p:sp>
      <p:sp>
        <p:nvSpPr>
          <p:cNvPr id="6" name="Footer Placeholder 5">
            <a:extLst>
              <a:ext uri="{FF2B5EF4-FFF2-40B4-BE49-F238E27FC236}">
                <a16:creationId xmlns:a16="http://schemas.microsoft.com/office/drawing/2014/main" id="{9D0C0F34-7B82-1D30-B10F-A6FE881311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98DBE3-9CCD-61D7-BB34-07FB99DF422F}"/>
              </a:ext>
            </a:extLst>
          </p:cNvPr>
          <p:cNvSpPr>
            <a:spLocks noGrp="1"/>
          </p:cNvSpPr>
          <p:nvPr>
            <p:ph type="sldNum" sz="quarter" idx="12"/>
          </p:nvPr>
        </p:nvSpPr>
        <p:spPr/>
        <p:txBody>
          <a:bodyPr/>
          <a:lstStyle/>
          <a:p>
            <a:fld id="{7540260A-CFEE-495E-99BB-EADFF3FE933C}" type="slidenum">
              <a:rPr lang="en-US" smtClean="0"/>
              <a:t>‹#›</a:t>
            </a:fld>
            <a:endParaRPr lang="en-US"/>
          </a:p>
        </p:txBody>
      </p:sp>
    </p:spTree>
    <p:extLst>
      <p:ext uri="{BB962C8B-B14F-4D97-AF65-F5344CB8AC3E}">
        <p14:creationId xmlns:p14="http://schemas.microsoft.com/office/powerpoint/2010/main" val="984226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B0A89-11F7-EEFF-2D77-CC89954567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621682-1BCD-A5F4-FA0A-6B36808069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781DDE-9B20-9DC5-DFF5-A9A08EF1D7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BF0CB4-66F2-9289-5D8D-E16B2EEA2D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4720AC-8FC8-E610-05AB-DF1AD77BDB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56300BE-987F-29D5-C3D3-21E87D9A0D10}"/>
              </a:ext>
            </a:extLst>
          </p:cNvPr>
          <p:cNvSpPr>
            <a:spLocks noGrp="1"/>
          </p:cNvSpPr>
          <p:nvPr>
            <p:ph type="dt" sz="half" idx="10"/>
          </p:nvPr>
        </p:nvSpPr>
        <p:spPr/>
        <p:txBody>
          <a:bodyPr/>
          <a:lstStyle/>
          <a:p>
            <a:fld id="{B0B7235A-EBBC-4E74-B536-994431929B35}" type="datetimeFigureOut">
              <a:rPr lang="en-US" smtClean="0"/>
              <a:t>12/2/2025</a:t>
            </a:fld>
            <a:endParaRPr lang="en-US"/>
          </a:p>
        </p:txBody>
      </p:sp>
      <p:sp>
        <p:nvSpPr>
          <p:cNvPr id="8" name="Footer Placeholder 7">
            <a:extLst>
              <a:ext uri="{FF2B5EF4-FFF2-40B4-BE49-F238E27FC236}">
                <a16:creationId xmlns:a16="http://schemas.microsoft.com/office/drawing/2014/main" id="{6CF940F7-AC23-E8D5-42FD-0B984C63A3D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CDF463-ED4C-85ED-CC14-6C19B9966BA2}"/>
              </a:ext>
            </a:extLst>
          </p:cNvPr>
          <p:cNvSpPr>
            <a:spLocks noGrp="1"/>
          </p:cNvSpPr>
          <p:nvPr>
            <p:ph type="sldNum" sz="quarter" idx="12"/>
          </p:nvPr>
        </p:nvSpPr>
        <p:spPr/>
        <p:txBody>
          <a:bodyPr/>
          <a:lstStyle/>
          <a:p>
            <a:fld id="{7540260A-CFEE-495E-99BB-EADFF3FE933C}" type="slidenum">
              <a:rPr lang="en-US" smtClean="0"/>
              <a:t>‹#›</a:t>
            </a:fld>
            <a:endParaRPr lang="en-US"/>
          </a:p>
        </p:txBody>
      </p:sp>
    </p:spTree>
    <p:extLst>
      <p:ext uri="{BB962C8B-B14F-4D97-AF65-F5344CB8AC3E}">
        <p14:creationId xmlns:p14="http://schemas.microsoft.com/office/powerpoint/2010/main" val="555643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3223B-5176-1FAB-2753-0BF6A9B29F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B62232A-23E7-F960-EA75-24B091116325}"/>
              </a:ext>
            </a:extLst>
          </p:cNvPr>
          <p:cNvSpPr>
            <a:spLocks noGrp="1"/>
          </p:cNvSpPr>
          <p:nvPr>
            <p:ph type="dt" sz="half" idx="10"/>
          </p:nvPr>
        </p:nvSpPr>
        <p:spPr/>
        <p:txBody>
          <a:bodyPr/>
          <a:lstStyle/>
          <a:p>
            <a:fld id="{B0B7235A-EBBC-4E74-B536-994431929B35}" type="datetimeFigureOut">
              <a:rPr lang="en-US" smtClean="0"/>
              <a:t>12/2/2025</a:t>
            </a:fld>
            <a:endParaRPr lang="en-US"/>
          </a:p>
        </p:txBody>
      </p:sp>
      <p:sp>
        <p:nvSpPr>
          <p:cNvPr id="4" name="Footer Placeholder 3">
            <a:extLst>
              <a:ext uri="{FF2B5EF4-FFF2-40B4-BE49-F238E27FC236}">
                <a16:creationId xmlns:a16="http://schemas.microsoft.com/office/drawing/2014/main" id="{2052EA69-80DF-7F6F-5412-EF1A7C3605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5643D7-CB54-D3E6-AA79-2E2466DD969F}"/>
              </a:ext>
            </a:extLst>
          </p:cNvPr>
          <p:cNvSpPr>
            <a:spLocks noGrp="1"/>
          </p:cNvSpPr>
          <p:nvPr>
            <p:ph type="sldNum" sz="quarter" idx="12"/>
          </p:nvPr>
        </p:nvSpPr>
        <p:spPr/>
        <p:txBody>
          <a:bodyPr/>
          <a:lstStyle/>
          <a:p>
            <a:fld id="{7540260A-CFEE-495E-99BB-EADFF3FE933C}" type="slidenum">
              <a:rPr lang="en-US" smtClean="0"/>
              <a:t>‹#›</a:t>
            </a:fld>
            <a:endParaRPr lang="en-US"/>
          </a:p>
        </p:txBody>
      </p:sp>
    </p:spTree>
    <p:extLst>
      <p:ext uri="{BB962C8B-B14F-4D97-AF65-F5344CB8AC3E}">
        <p14:creationId xmlns:p14="http://schemas.microsoft.com/office/powerpoint/2010/main" val="1978164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94D7B0-E193-1AE7-C77A-86FBCA5C6DCA}"/>
              </a:ext>
            </a:extLst>
          </p:cNvPr>
          <p:cNvSpPr>
            <a:spLocks noGrp="1"/>
          </p:cNvSpPr>
          <p:nvPr>
            <p:ph type="dt" sz="half" idx="10"/>
          </p:nvPr>
        </p:nvSpPr>
        <p:spPr/>
        <p:txBody>
          <a:bodyPr/>
          <a:lstStyle/>
          <a:p>
            <a:fld id="{B0B7235A-EBBC-4E74-B536-994431929B35}" type="datetimeFigureOut">
              <a:rPr lang="en-US" smtClean="0"/>
              <a:t>12/2/2025</a:t>
            </a:fld>
            <a:endParaRPr lang="en-US"/>
          </a:p>
        </p:txBody>
      </p:sp>
      <p:sp>
        <p:nvSpPr>
          <p:cNvPr id="3" name="Footer Placeholder 2">
            <a:extLst>
              <a:ext uri="{FF2B5EF4-FFF2-40B4-BE49-F238E27FC236}">
                <a16:creationId xmlns:a16="http://schemas.microsoft.com/office/drawing/2014/main" id="{36ADADD4-0745-F759-1703-0BB2420677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4CF0EBC-05E5-F0C2-F534-BE0561820F85}"/>
              </a:ext>
            </a:extLst>
          </p:cNvPr>
          <p:cNvSpPr>
            <a:spLocks noGrp="1"/>
          </p:cNvSpPr>
          <p:nvPr>
            <p:ph type="sldNum" sz="quarter" idx="12"/>
          </p:nvPr>
        </p:nvSpPr>
        <p:spPr/>
        <p:txBody>
          <a:bodyPr/>
          <a:lstStyle/>
          <a:p>
            <a:fld id="{7540260A-CFEE-495E-99BB-EADFF3FE933C}" type="slidenum">
              <a:rPr lang="en-US" smtClean="0"/>
              <a:t>‹#›</a:t>
            </a:fld>
            <a:endParaRPr lang="en-US"/>
          </a:p>
        </p:txBody>
      </p:sp>
    </p:spTree>
    <p:extLst>
      <p:ext uri="{BB962C8B-B14F-4D97-AF65-F5344CB8AC3E}">
        <p14:creationId xmlns:p14="http://schemas.microsoft.com/office/powerpoint/2010/main" val="292859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8301D-74A5-11A4-E8B5-9C9FC35D45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8C281E5-2330-E0AE-F698-A2D6DA8301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F7F37D7-49AD-DB1B-80BB-20EA549A5D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13FBC7-185D-6FB2-789F-24ECB82CE33D}"/>
              </a:ext>
            </a:extLst>
          </p:cNvPr>
          <p:cNvSpPr>
            <a:spLocks noGrp="1"/>
          </p:cNvSpPr>
          <p:nvPr>
            <p:ph type="dt" sz="half" idx="10"/>
          </p:nvPr>
        </p:nvSpPr>
        <p:spPr/>
        <p:txBody>
          <a:bodyPr/>
          <a:lstStyle/>
          <a:p>
            <a:fld id="{B0B7235A-EBBC-4E74-B536-994431929B35}" type="datetimeFigureOut">
              <a:rPr lang="en-US" smtClean="0"/>
              <a:t>12/2/2025</a:t>
            </a:fld>
            <a:endParaRPr lang="en-US"/>
          </a:p>
        </p:txBody>
      </p:sp>
      <p:sp>
        <p:nvSpPr>
          <p:cNvPr id="6" name="Footer Placeholder 5">
            <a:extLst>
              <a:ext uri="{FF2B5EF4-FFF2-40B4-BE49-F238E27FC236}">
                <a16:creationId xmlns:a16="http://schemas.microsoft.com/office/drawing/2014/main" id="{57666E19-A1E6-0400-6411-A25B601E7D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A18B71-413C-4C48-EBF2-4D058C94D2E8}"/>
              </a:ext>
            </a:extLst>
          </p:cNvPr>
          <p:cNvSpPr>
            <a:spLocks noGrp="1"/>
          </p:cNvSpPr>
          <p:nvPr>
            <p:ph type="sldNum" sz="quarter" idx="12"/>
          </p:nvPr>
        </p:nvSpPr>
        <p:spPr/>
        <p:txBody>
          <a:bodyPr/>
          <a:lstStyle/>
          <a:p>
            <a:fld id="{7540260A-CFEE-495E-99BB-EADFF3FE933C}" type="slidenum">
              <a:rPr lang="en-US" smtClean="0"/>
              <a:t>‹#›</a:t>
            </a:fld>
            <a:endParaRPr lang="en-US"/>
          </a:p>
        </p:txBody>
      </p:sp>
    </p:spTree>
    <p:extLst>
      <p:ext uri="{BB962C8B-B14F-4D97-AF65-F5344CB8AC3E}">
        <p14:creationId xmlns:p14="http://schemas.microsoft.com/office/powerpoint/2010/main" val="2387387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D327A-D57A-5DB9-25EE-2168FFE102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F90FE02-30D8-5799-DF14-33D7CF0A39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E09C06-4DEA-98EA-F800-03C2236A89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6AF6BA-CAF1-6E92-6226-79A5FD446385}"/>
              </a:ext>
            </a:extLst>
          </p:cNvPr>
          <p:cNvSpPr>
            <a:spLocks noGrp="1"/>
          </p:cNvSpPr>
          <p:nvPr>
            <p:ph type="dt" sz="half" idx="10"/>
          </p:nvPr>
        </p:nvSpPr>
        <p:spPr/>
        <p:txBody>
          <a:bodyPr/>
          <a:lstStyle/>
          <a:p>
            <a:fld id="{B0B7235A-EBBC-4E74-B536-994431929B35}" type="datetimeFigureOut">
              <a:rPr lang="en-US" smtClean="0"/>
              <a:t>12/2/2025</a:t>
            </a:fld>
            <a:endParaRPr lang="en-US"/>
          </a:p>
        </p:txBody>
      </p:sp>
      <p:sp>
        <p:nvSpPr>
          <p:cNvPr id="6" name="Footer Placeholder 5">
            <a:extLst>
              <a:ext uri="{FF2B5EF4-FFF2-40B4-BE49-F238E27FC236}">
                <a16:creationId xmlns:a16="http://schemas.microsoft.com/office/drawing/2014/main" id="{E8AEA38F-BBD0-89BF-DB6B-13ED54C383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D96C63-2B7F-0C62-A415-848D25612A1C}"/>
              </a:ext>
            </a:extLst>
          </p:cNvPr>
          <p:cNvSpPr>
            <a:spLocks noGrp="1"/>
          </p:cNvSpPr>
          <p:nvPr>
            <p:ph type="sldNum" sz="quarter" idx="12"/>
          </p:nvPr>
        </p:nvSpPr>
        <p:spPr/>
        <p:txBody>
          <a:bodyPr/>
          <a:lstStyle/>
          <a:p>
            <a:fld id="{7540260A-CFEE-495E-99BB-EADFF3FE933C}" type="slidenum">
              <a:rPr lang="en-US" smtClean="0"/>
              <a:t>‹#›</a:t>
            </a:fld>
            <a:endParaRPr lang="en-US"/>
          </a:p>
        </p:txBody>
      </p:sp>
    </p:spTree>
    <p:extLst>
      <p:ext uri="{BB962C8B-B14F-4D97-AF65-F5344CB8AC3E}">
        <p14:creationId xmlns:p14="http://schemas.microsoft.com/office/powerpoint/2010/main" val="2540751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06DCC-EAE0-7EBE-58CB-F3084384EDB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5712E7-CDAD-D5B3-BD5C-15C056744A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BA0156-BA62-F758-628E-BFC78DBAEC53}"/>
              </a:ext>
            </a:extLst>
          </p:cNvPr>
          <p:cNvSpPr>
            <a:spLocks noGrp="1"/>
          </p:cNvSpPr>
          <p:nvPr>
            <p:ph type="dt" sz="half" idx="10"/>
          </p:nvPr>
        </p:nvSpPr>
        <p:spPr/>
        <p:txBody>
          <a:bodyPr/>
          <a:lstStyle/>
          <a:p>
            <a:fld id="{B0B7235A-EBBC-4E74-B536-994431929B35}" type="datetimeFigureOut">
              <a:rPr lang="en-US" smtClean="0"/>
              <a:t>12/2/2025</a:t>
            </a:fld>
            <a:endParaRPr lang="en-US"/>
          </a:p>
        </p:txBody>
      </p:sp>
      <p:sp>
        <p:nvSpPr>
          <p:cNvPr id="5" name="Footer Placeholder 4">
            <a:extLst>
              <a:ext uri="{FF2B5EF4-FFF2-40B4-BE49-F238E27FC236}">
                <a16:creationId xmlns:a16="http://schemas.microsoft.com/office/drawing/2014/main" id="{B8E1C6B3-1B5A-3943-6EE3-5A5B732667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5647A1-916D-0519-A33F-84F1674EF08A}"/>
              </a:ext>
            </a:extLst>
          </p:cNvPr>
          <p:cNvSpPr>
            <a:spLocks noGrp="1"/>
          </p:cNvSpPr>
          <p:nvPr>
            <p:ph type="sldNum" sz="quarter" idx="12"/>
          </p:nvPr>
        </p:nvSpPr>
        <p:spPr/>
        <p:txBody>
          <a:bodyPr/>
          <a:lstStyle/>
          <a:p>
            <a:fld id="{7540260A-CFEE-495E-99BB-EADFF3FE933C}" type="slidenum">
              <a:rPr lang="en-US" smtClean="0"/>
              <a:t>‹#›</a:t>
            </a:fld>
            <a:endParaRPr lang="en-US"/>
          </a:p>
        </p:txBody>
      </p:sp>
    </p:spTree>
    <p:extLst>
      <p:ext uri="{BB962C8B-B14F-4D97-AF65-F5344CB8AC3E}">
        <p14:creationId xmlns:p14="http://schemas.microsoft.com/office/powerpoint/2010/main" val="4282329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9EA602-DF99-F9BB-9160-A78DDCEB0EB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D8FF89-1149-AD02-E28D-CA4466F48D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825FD8-550A-2B91-40F3-45C8EB163B77}"/>
              </a:ext>
            </a:extLst>
          </p:cNvPr>
          <p:cNvSpPr>
            <a:spLocks noGrp="1"/>
          </p:cNvSpPr>
          <p:nvPr>
            <p:ph type="dt" sz="half" idx="10"/>
          </p:nvPr>
        </p:nvSpPr>
        <p:spPr/>
        <p:txBody>
          <a:bodyPr/>
          <a:lstStyle/>
          <a:p>
            <a:fld id="{B0B7235A-EBBC-4E74-B536-994431929B35}" type="datetimeFigureOut">
              <a:rPr lang="en-US" smtClean="0"/>
              <a:t>12/2/2025</a:t>
            </a:fld>
            <a:endParaRPr lang="en-US"/>
          </a:p>
        </p:txBody>
      </p:sp>
      <p:sp>
        <p:nvSpPr>
          <p:cNvPr id="5" name="Footer Placeholder 4">
            <a:extLst>
              <a:ext uri="{FF2B5EF4-FFF2-40B4-BE49-F238E27FC236}">
                <a16:creationId xmlns:a16="http://schemas.microsoft.com/office/drawing/2014/main" id="{2EA5AD06-98C5-A6F0-708E-182BEECB2A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5B5A67-57DC-A0FA-C831-BD4294C88F83}"/>
              </a:ext>
            </a:extLst>
          </p:cNvPr>
          <p:cNvSpPr>
            <a:spLocks noGrp="1"/>
          </p:cNvSpPr>
          <p:nvPr>
            <p:ph type="sldNum" sz="quarter" idx="12"/>
          </p:nvPr>
        </p:nvSpPr>
        <p:spPr/>
        <p:txBody>
          <a:bodyPr/>
          <a:lstStyle/>
          <a:p>
            <a:fld id="{7540260A-CFEE-495E-99BB-EADFF3FE933C}" type="slidenum">
              <a:rPr lang="en-US" smtClean="0"/>
              <a:t>‹#›</a:t>
            </a:fld>
            <a:endParaRPr lang="en-US"/>
          </a:p>
        </p:txBody>
      </p:sp>
    </p:spTree>
    <p:extLst>
      <p:ext uri="{BB962C8B-B14F-4D97-AF65-F5344CB8AC3E}">
        <p14:creationId xmlns:p14="http://schemas.microsoft.com/office/powerpoint/2010/main" val="8479762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97353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0485BF-ECC0-8109-8A1E-B567855143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8481A8-8968-6CC0-D6FE-ED7D180934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5C0BD34-1E4A-CAAF-1F6B-1D6439D747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Calibri Light" panose="020F0302020204030204" pitchFamily="34" charset="0"/>
              </a:defRPr>
            </a:lvl1pPr>
          </a:lstStyle>
          <a:p>
            <a:fld id="{B0B7235A-EBBC-4E74-B536-994431929B35}" type="datetimeFigureOut">
              <a:rPr lang="en-US" smtClean="0"/>
              <a:pPr/>
              <a:t>12/2/2025</a:t>
            </a:fld>
            <a:endParaRPr lang="en-US" dirty="0"/>
          </a:p>
        </p:txBody>
      </p:sp>
      <p:sp>
        <p:nvSpPr>
          <p:cNvPr id="5" name="Footer Placeholder 4">
            <a:extLst>
              <a:ext uri="{FF2B5EF4-FFF2-40B4-BE49-F238E27FC236}">
                <a16:creationId xmlns:a16="http://schemas.microsoft.com/office/drawing/2014/main" id="{C6CCDA49-0E67-31A1-80FE-2ACC9DFDBB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Calibri Light" panose="020F0302020204030204" pitchFamily="34" charset="0"/>
              </a:defRPr>
            </a:lvl1pPr>
          </a:lstStyle>
          <a:p>
            <a:endParaRPr lang="en-US" dirty="0"/>
          </a:p>
        </p:txBody>
      </p:sp>
      <p:sp>
        <p:nvSpPr>
          <p:cNvPr id="6" name="Slide Number Placeholder 5">
            <a:extLst>
              <a:ext uri="{FF2B5EF4-FFF2-40B4-BE49-F238E27FC236}">
                <a16:creationId xmlns:a16="http://schemas.microsoft.com/office/drawing/2014/main" id="{78669F72-DF49-A686-9AC0-3EF8A25506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Calibri Light" panose="020F0302020204030204" pitchFamily="34" charset="0"/>
              </a:defRPr>
            </a:lvl1pPr>
          </a:lstStyle>
          <a:p>
            <a:fld id="{7540260A-CFEE-495E-99BB-EADFF3FE933C}" type="slidenum">
              <a:rPr lang="en-US" smtClean="0"/>
              <a:pPr/>
              <a:t>‹#›</a:t>
            </a:fld>
            <a:endParaRPr lang="en-US" dirty="0"/>
          </a:p>
        </p:txBody>
      </p:sp>
    </p:spTree>
    <p:extLst>
      <p:ext uri="{BB962C8B-B14F-4D97-AF65-F5344CB8AC3E}">
        <p14:creationId xmlns:p14="http://schemas.microsoft.com/office/powerpoint/2010/main" val="22314196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Light" panose="020F03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Luu.p.loi@google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dx.doi.org/10.5772/22565" TargetMode="External"/><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hyperlink" Target="https://linkinghub.elsevier.com/retrieve/pii/S2667242122000628"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hyperlink" Target="https://doi.org/10.1007/978-3-030-75506-5_66"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hyperlink" Target="https://www.ncbi.nlm.nih.gov/clinvar/variation/522701/" TargetMode="External"/><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hyperlink" Target="https://3billion.io/blog/what-are-the-acmg-standards-and-guidelines-and-how-do-they-work"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onlinelibrary.wiley.com/doi/abs/10.1002/humu.24088"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95D40-3072-AF23-B22A-7F158FD89CDB}"/>
              </a:ext>
            </a:extLst>
          </p:cNvPr>
          <p:cNvSpPr>
            <a:spLocks noGrp="1"/>
          </p:cNvSpPr>
          <p:nvPr>
            <p:ph type="ctrTitle"/>
          </p:nvPr>
        </p:nvSpPr>
        <p:spPr>
          <a:xfrm>
            <a:off x="1524000" y="1122363"/>
            <a:ext cx="9144000" cy="1537710"/>
          </a:xfrm>
        </p:spPr>
        <p:txBody>
          <a:bodyPr>
            <a:normAutofit/>
          </a:bodyPr>
          <a:lstStyle/>
          <a:p>
            <a:r>
              <a:rPr lang="en-GB" b="1" dirty="0">
                <a:solidFill>
                  <a:srgbClr val="0070C0"/>
                </a:solidFill>
              </a:rPr>
              <a:t>K34: Biomedical Data Analysis</a:t>
            </a:r>
            <a:endParaRPr lang="en-US" b="1" dirty="0">
              <a:solidFill>
                <a:srgbClr val="0070C0"/>
              </a:solidFill>
            </a:endParaRPr>
          </a:p>
        </p:txBody>
      </p:sp>
      <p:sp>
        <p:nvSpPr>
          <p:cNvPr id="3" name="Subtitle 2">
            <a:extLst>
              <a:ext uri="{FF2B5EF4-FFF2-40B4-BE49-F238E27FC236}">
                <a16:creationId xmlns:a16="http://schemas.microsoft.com/office/drawing/2014/main" id="{12151EE0-A5C5-5B23-2D55-FEE47FAB0E98}"/>
              </a:ext>
            </a:extLst>
          </p:cNvPr>
          <p:cNvSpPr>
            <a:spLocks noGrp="1"/>
          </p:cNvSpPr>
          <p:nvPr>
            <p:ph type="subTitle" idx="1"/>
          </p:nvPr>
        </p:nvSpPr>
        <p:spPr/>
        <p:txBody>
          <a:bodyPr>
            <a:normAutofit lnSpcReduction="10000"/>
          </a:bodyPr>
          <a:lstStyle/>
          <a:p>
            <a:pPr algn="r"/>
            <a:r>
              <a:rPr lang="en-GB" dirty="0"/>
              <a:t>Nov 29 2025</a:t>
            </a:r>
          </a:p>
          <a:p>
            <a:pPr algn="r"/>
            <a:r>
              <a:rPr lang="en-GB" dirty="0"/>
              <a:t>Phuc Loi Luu, PhD</a:t>
            </a:r>
          </a:p>
          <a:p>
            <a:pPr algn="r"/>
            <a:r>
              <a:rPr lang="en-GB" dirty="0">
                <a:hlinkClick r:id="rId2"/>
              </a:rPr>
              <a:t>Luu.p.loi@googlemail.com</a:t>
            </a:r>
            <a:endParaRPr lang="en-GB" dirty="0"/>
          </a:p>
          <a:p>
            <a:pPr algn="r"/>
            <a:r>
              <a:rPr lang="en-GB" dirty="0"/>
              <a:t>Zalo:0901802182</a:t>
            </a:r>
            <a:endParaRPr lang="en-US" dirty="0"/>
          </a:p>
        </p:txBody>
      </p:sp>
    </p:spTree>
    <p:extLst>
      <p:ext uri="{BB962C8B-B14F-4D97-AF65-F5344CB8AC3E}">
        <p14:creationId xmlns:p14="http://schemas.microsoft.com/office/powerpoint/2010/main" val="1831465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84EE-157A-ADEC-446E-8814D45EDA68}"/>
              </a:ext>
            </a:extLst>
          </p:cNvPr>
          <p:cNvSpPr>
            <a:spLocks noGrp="1"/>
          </p:cNvSpPr>
          <p:nvPr>
            <p:ph type="title"/>
          </p:nvPr>
        </p:nvSpPr>
        <p:spPr/>
        <p:txBody>
          <a:bodyPr/>
          <a:lstStyle/>
          <a:p>
            <a:r>
              <a:rPr lang="en-GB" b="1" dirty="0">
                <a:solidFill>
                  <a:srgbClr val="7030A0"/>
                </a:solidFill>
              </a:rPr>
              <a:t>Content</a:t>
            </a:r>
            <a:endParaRPr lang="en-US" b="1" dirty="0">
              <a:solidFill>
                <a:srgbClr val="7030A0"/>
              </a:solidFill>
            </a:endParaRPr>
          </a:p>
        </p:txBody>
      </p:sp>
      <p:sp>
        <p:nvSpPr>
          <p:cNvPr id="3" name="Content Placeholder 2">
            <a:extLst>
              <a:ext uri="{FF2B5EF4-FFF2-40B4-BE49-F238E27FC236}">
                <a16:creationId xmlns:a16="http://schemas.microsoft.com/office/drawing/2014/main" id="{AB08B7E5-9498-A3D0-9D2F-270CD8364D8F}"/>
              </a:ext>
            </a:extLst>
          </p:cNvPr>
          <p:cNvSpPr>
            <a:spLocks noGrp="1"/>
          </p:cNvSpPr>
          <p:nvPr>
            <p:ph idx="1"/>
          </p:nvPr>
        </p:nvSpPr>
        <p:spPr/>
        <p:txBody>
          <a:bodyPr>
            <a:normAutofit/>
          </a:bodyPr>
          <a:lstStyle/>
          <a:p>
            <a:r>
              <a:rPr lang="en-GB" sz="3600" dirty="0"/>
              <a:t>Current questions and solutions</a:t>
            </a:r>
          </a:p>
          <a:p>
            <a:r>
              <a:rPr lang="en-GB" sz="3600" dirty="0"/>
              <a:t>Projects on biomedical data science</a:t>
            </a:r>
            <a:endParaRPr lang="en-US" sz="3600" dirty="0"/>
          </a:p>
        </p:txBody>
      </p:sp>
    </p:spTree>
    <p:extLst>
      <p:ext uri="{BB962C8B-B14F-4D97-AF65-F5344CB8AC3E}">
        <p14:creationId xmlns:p14="http://schemas.microsoft.com/office/powerpoint/2010/main" val="2471412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801AE-6F3C-34CC-8AC2-4296D995C2E6}"/>
              </a:ext>
            </a:extLst>
          </p:cNvPr>
          <p:cNvSpPr>
            <a:spLocks noGrp="1"/>
          </p:cNvSpPr>
          <p:nvPr>
            <p:ph type="title"/>
          </p:nvPr>
        </p:nvSpPr>
        <p:spPr>
          <a:xfrm>
            <a:off x="838200" y="365126"/>
            <a:ext cx="10515600" cy="626860"/>
          </a:xfrm>
        </p:spPr>
        <p:txBody>
          <a:bodyPr>
            <a:noAutofit/>
          </a:bodyPr>
          <a:lstStyle/>
          <a:p>
            <a:pPr algn="ctr"/>
            <a:r>
              <a:rPr lang="en-GB" sz="4800" b="1" dirty="0">
                <a:solidFill>
                  <a:schemeClr val="accent1"/>
                </a:solidFill>
              </a:rPr>
              <a:t>Feature Selection</a:t>
            </a:r>
            <a:endParaRPr lang="en-US" sz="4800" b="1" dirty="0">
              <a:solidFill>
                <a:schemeClr val="accent1"/>
              </a:solidFill>
            </a:endParaRPr>
          </a:p>
        </p:txBody>
      </p:sp>
      <p:pic>
        <p:nvPicPr>
          <p:cNvPr id="1026" name="Picture 2">
            <a:extLst>
              <a:ext uri="{FF2B5EF4-FFF2-40B4-BE49-F238E27FC236}">
                <a16:creationId xmlns:a16="http://schemas.microsoft.com/office/drawing/2014/main" id="{C3F1B2E4-AB27-5731-556C-2674F0B829C8}"/>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55115" b="50736"/>
          <a:stretch/>
        </p:blipFill>
        <p:spPr bwMode="auto">
          <a:xfrm>
            <a:off x="838200" y="1214692"/>
            <a:ext cx="4505499" cy="494503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45AB4BB-B32B-5DF9-1B85-884B6145F87E}"/>
              </a:ext>
            </a:extLst>
          </p:cNvPr>
          <p:cNvSpPr txBox="1"/>
          <p:nvPr/>
        </p:nvSpPr>
        <p:spPr>
          <a:xfrm>
            <a:off x="5962997" y="1352203"/>
            <a:ext cx="5430982" cy="707886"/>
          </a:xfrm>
          <a:prstGeom prst="rect">
            <a:avLst/>
          </a:prstGeom>
          <a:noFill/>
        </p:spPr>
        <p:txBody>
          <a:bodyPr wrap="square" rtlCol="0">
            <a:spAutoFit/>
          </a:bodyPr>
          <a:lstStyle/>
          <a:p>
            <a:pPr algn="ctr"/>
            <a:r>
              <a:rPr lang="en-GB" sz="2000" dirty="0">
                <a:latin typeface="Calibri Light" panose="020F0302020204030204" pitchFamily="34" charset="0"/>
              </a:rPr>
              <a:t>Problem</a:t>
            </a:r>
          </a:p>
          <a:p>
            <a:r>
              <a:rPr lang="en-GB" sz="2000" dirty="0">
                <a:latin typeface="Calibri Light" panose="020F0302020204030204" pitchFamily="34" charset="0"/>
              </a:rPr>
              <a:t>p (number of features) &gt;&gt; n (number of samples)</a:t>
            </a:r>
            <a:endParaRPr lang="en-US" sz="2000" dirty="0">
              <a:latin typeface="Calibri Light" panose="020F0302020204030204" pitchFamily="34" charset="0"/>
            </a:endParaRPr>
          </a:p>
        </p:txBody>
      </p:sp>
      <p:sp>
        <p:nvSpPr>
          <p:cNvPr id="6" name="TextBox 5">
            <a:extLst>
              <a:ext uri="{FF2B5EF4-FFF2-40B4-BE49-F238E27FC236}">
                <a16:creationId xmlns:a16="http://schemas.microsoft.com/office/drawing/2014/main" id="{253F5470-6E56-7321-FCC4-0EC68182C019}"/>
              </a:ext>
            </a:extLst>
          </p:cNvPr>
          <p:cNvSpPr txBox="1"/>
          <p:nvPr/>
        </p:nvSpPr>
        <p:spPr>
          <a:xfrm>
            <a:off x="1524000" y="6382435"/>
            <a:ext cx="6096000" cy="307777"/>
          </a:xfrm>
          <a:prstGeom prst="rect">
            <a:avLst/>
          </a:prstGeom>
          <a:noFill/>
        </p:spPr>
        <p:txBody>
          <a:bodyPr wrap="square">
            <a:spAutoFit/>
          </a:bodyPr>
          <a:lstStyle/>
          <a:p>
            <a:r>
              <a:rPr lang="en-US" sz="1400" dirty="0">
                <a:latin typeface="Calibri Light" panose="020F0302020204030204" pitchFamily="34" charset="0"/>
              </a:rPr>
              <a:t>https://www.sciencedirect.com/science/article/pii/S2211124721008597</a:t>
            </a:r>
          </a:p>
        </p:txBody>
      </p:sp>
      <p:pic>
        <p:nvPicPr>
          <p:cNvPr id="1028" name="Picture 4" descr="A Guide to 21 Feature Importance Methods and Packages in Machine Learning  (with Code) | by Dr. Theophano Mitsa | Towards Data Science">
            <a:extLst>
              <a:ext uri="{FF2B5EF4-FFF2-40B4-BE49-F238E27FC236}">
                <a16:creationId xmlns:a16="http://schemas.microsoft.com/office/drawing/2014/main" id="{5AC46A4F-6213-E541-0BAF-C2044E5676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8688" y="2428257"/>
            <a:ext cx="4419600" cy="2886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8268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801AE-6F3C-34CC-8AC2-4296D995C2E6}"/>
              </a:ext>
            </a:extLst>
          </p:cNvPr>
          <p:cNvSpPr>
            <a:spLocks noGrp="1"/>
          </p:cNvSpPr>
          <p:nvPr>
            <p:ph type="title"/>
          </p:nvPr>
        </p:nvSpPr>
        <p:spPr>
          <a:xfrm>
            <a:off x="838200" y="365126"/>
            <a:ext cx="10515600" cy="626860"/>
          </a:xfrm>
        </p:spPr>
        <p:txBody>
          <a:bodyPr>
            <a:noAutofit/>
          </a:bodyPr>
          <a:lstStyle/>
          <a:p>
            <a:pPr algn="ctr"/>
            <a:r>
              <a:rPr lang="en-GB" sz="4800" b="1" dirty="0"/>
              <a:t>Review 6 lectures: </a:t>
            </a:r>
            <a:r>
              <a:rPr lang="en-GB" sz="4800" b="1" dirty="0">
                <a:solidFill>
                  <a:schemeClr val="accent1"/>
                </a:solidFill>
              </a:rPr>
              <a:t>Feature Visualization</a:t>
            </a:r>
            <a:endParaRPr lang="en-US" sz="4800" b="1" dirty="0">
              <a:solidFill>
                <a:schemeClr val="accent1"/>
              </a:solidFill>
            </a:endParaRPr>
          </a:p>
        </p:txBody>
      </p:sp>
      <p:pic>
        <p:nvPicPr>
          <p:cNvPr id="2050" name="Picture 2" descr="Explaining a Black-box Using Deep Variational Information Bottleneck  Approach – Machine Learning Blog | ML@CMU | Carnegie Mellon University">
            <a:extLst>
              <a:ext uri="{FF2B5EF4-FFF2-40B4-BE49-F238E27FC236}">
                <a16:creationId xmlns:a16="http://schemas.microsoft.com/office/drawing/2014/main" id="{B70F42D6-12EF-F96C-248D-EAB7EF5A760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87361" y="2139144"/>
            <a:ext cx="6445090" cy="29137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342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801AE-6F3C-34CC-8AC2-4296D995C2E6}"/>
              </a:ext>
            </a:extLst>
          </p:cNvPr>
          <p:cNvSpPr>
            <a:spLocks noGrp="1"/>
          </p:cNvSpPr>
          <p:nvPr>
            <p:ph type="title"/>
          </p:nvPr>
        </p:nvSpPr>
        <p:spPr>
          <a:xfrm>
            <a:off x="838200" y="365126"/>
            <a:ext cx="10515600" cy="626860"/>
          </a:xfrm>
        </p:spPr>
        <p:txBody>
          <a:bodyPr>
            <a:noAutofit/>
          </a:bodyPr>
          <a:lstStyle/>
          <a:p>
            <a:pPr algn="ctr"/>
            <a:r>
              <a:rPr lang="en-GB" sz="4800" b="1" dirty="0">
                <a:solidFill>
                  <a:schemeClr val="accent1"/>
                </a:solidFill>
              </a:rPr>
              <a:t>Feature Visualization</a:t>
            </a:r>
            <a:endParaRPr lang="en-US" sz="4800" b="1" dirty="0">
              <a:solidFill>
                <a:schemeClr val="accent1"/>
              </a:solidFill>
            </a:endParaRPr>
          </a:p>
        </p:txBody>
      </p:sp>
      <p:pic>
        <p:nvPicPr>
          <p:cNvPr id="5" name="Picture 4">
            <a:extLst>
              <a:ext uri="{FF2B5EF4-FFF2-40B4-BE49-F238E27FC236}">
                <a16:creationId xmlns:a16="http://schemas.microsoft.com/office/drawing/2014/main" id="{D960C979-7464-97A5-8133-48D2691F7AE8}"/>
              </a:ext>
            </a:extLst>
          </p:cNvPr>
          <p:cNvPicPr>
            <a:picLocks noChangeAspect="1"/>
          </p:cNvPicPr>
          <p:nvPr/>
        </p:nvPicPr>
        <p:blipFill>
          <a:blip r:embed="rId2"/>
          <a:stretch>
            <a:fillRect/>
          </a:stretch>
        </p:blipFill>
        <p:spPr>
          <a:xfrm>
            <a:off x="1209798" y="1211946"/>
            <a:ext cx="9690960" cy="5457631"/>
          </a:xfrm>
          <a:prstGeom prst="rect">
            <a:avLst/>
          </a:prstGeom>
        </p:spPr>
      </p:pic>
    </p:spTree>
    <p:extLst>
      <p:ext uri="{BB962C8B-B14F-4D97-AF65-F5344CB8AC3E}">
        <p14:creationId xmlns:p14="http://schemas.microsoft.com/office/powerpoint/2010/main" val="2052997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801AE-6F3C-34CC-8AC2-4296D995C2E6}"/>
              </a:ext>
            </a:extLst>
          </p:cNvPr>
          <p:cNvSpPr>
            <a:spLocks noGrp="1"/>
          </p:cNvSpPr>
          <p:nvPr>
            <p:ph type="title"/>
          </p:nvPr>
        </p:nvSpPr>
        <p:spPr>
          <a:xfrm>
            <a:off x="838200" y="365126"/>
            <a:ext cx="10515600" cy="626860"/>
          </a:xfrm>
        </p:spPr>
        <p:txBody>
          <a:bodyPr>
            <a:noAutofit/>
          </a:bodyPr>
          <a:lstStyle/>
          <a:p>
            <a:pPr algn="ctr"/>
            <a:r>
              <a:rPr lang="en-GB" sz="4800" b="1" dirty="0">
                <a:solidFill>
                  <a:schemeClr val="accent1"/>
                </a:solidFill>
              </a:rPr>
              <a:t>Automation with </a:t>
            </a:r>
            <a:r>
              <a:rPr lang="en-GB" sz="4800" b="1" dirty="0" err="1">
                <a:solidFill>
                  <a:schemeClr val="accent1"/>
                </a:solidFill>
              </a:rPr>
              <a:t>Chatbox</a:t>
            </a:r>
            <a:r>
              <a:rPr lang="en-GB" sz="4800" b="1" dirty="0">
                <a:solidFill>
                  <a:schemeClr val="accent1"/>
                </a:solidFill>
              </a:rPr>
              <a:t>/Agent</a:t>
            </a:r>
            <a:endParaRPr lang="en-US" sz="4800" b="1" dirty="0">
              <a:solidFill>
                <a:schemeClr val="accent1"/>
              </a:solidFill>
            </a:endParaRPr>
          </a:p>
        </p:txBody>
      </p:sp>
      <p:pic>
        <p:nvPicPr>
          <p:cNvPr id="1026" name="Picture 2" descr="AI Chatbots vs. AI Agents: Understanding the Future of Intelligent  Automation">
            <a:extLst>
              <a:ext uri="{FF2B5EF4-FFF2-40B4-BE49-F238E27FC236}">
                <a16:creationId xmlns:a16="http://schemas.microsoft.com/office/drawing/2014/main" id="{2109AFF6-1AD0-021E-7B83-DC9B9239B29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545"/>
          <a:stretch/>
        </p:blipFill>
        <p:spPr bwMode="auto">
          <a:xfrm>
            <a:off x="790575" y="1490749"/>
            <a:ext cx="10610850" cy="4924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8461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7B11-EDF8-785C-500A-E4B9D5F258FD}"/>
              </a:ext>
            </a:extLst>
          </p:cNvPr>
          <p:cNvSpPr>
            <a:spLocks noGrp="1"/>
          </p:cNvSpPr>
          <p:nvPr>
            <p:ph type="title"/>
          </p:nvPr>
        </p:nvSpPr>
        <p:spPr>
          <a:xfrm>
            <a:off x="415862" y="365125"/>
            <a:ext cx="10937938" cy="1325563"/>
          </a:xfrm>
        </p:spPr>
        <p:txBody>
          <a:bodyPr/>
          <a:lstStyle/>
          <a:p>
            <a:r>
              <a:rPr lang="en-GB" dirty="0"/>
              <a:t>Project 1: </a:t>
            </a:r>
            <a:endParaRPr lang="en-US" dirty="0"/>
          </a:p>
        </p:txBody>
      </p:sp>
      <p:sp>
        <p:nvSpPr>
          <p:cNvPr id="4" name="Title 1">
            <a:extLst>
              <a:ext uri="{FF2B5EF4-FFF2-40B4-BE49-F238E27FC236}">
                <a16:creationId xmlns:a16="http://schemas.microsoft.com/office/drawing/2014/main" id="{94BB558B-467D-8C86-5231-AFF5FEB58AA6}"/>
              </a:ext>
            </a:extLst>
          </p:cNvPr>
          <p:cNvSpPr txBox="1">
            <a:spLocks/>
          </p:cNvSpPr>
          <p:nvPr/>
        </p:nvSpPr>
        <p:spPr>
          <a:xfrm>
            <a:off x="415862" y="2171340"/>
            <a:ext cx="4871257" cy="179925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70C0"/>
                </a:solidFill>
                <a:latin typeface="Arial" panose="020B0604020202020204" pitchFamily="34" charset="0"/>
                <a:ea typeface="+mj-ea"/>
                <a:cs typeface="Arial" panose="020B0604020202020204" pitchFamily="34" charset="0"/>
              </a:defRPr>
            </a:lvl1pPr>
          </a:lstStyle>
          <a:p>
            <a:pPr algn="ctr"/>
            <a:r>
              <a:rPr lang="en-GB" sz="3200" dirty="0">
                <a:solidFill>
                  <a:schemeClr val="tx1"/>
                </a:solidFill>
                <a:latin typeface="Calibri Light" panose="020F0302020204030204" pitchFamily="34" charset="0"/>
                <a:cs typeface="Calibri Light" panose="020F0302020204030204" pitchFamily="34" charset="0"/>
              </a:rPr>
              <a:t>Developing deep learning with EEG and sleep data for pattern searching</a:t>
            </a:r>
            <a:endParaRPr lang="en-US" sz="3200" dirty="0">
              <a:solidFill>
                <a:schemeClr val="tx1"/>
              </a:solidFill>
              <a:latin typeface="Calibri Light" panose="020F0302020204030204" pitchFamily="34" charset="0"/>
              <a:cs typeface="Calibri Light" panose="020F0302020204030204" pitchFamily="34" charset="0"/>
            </a:endParaRPr>
          </a:p>
        </p:txBody>
      </p:sp>
      <p:pic>
        <p:nvPicPr>
          <p:cNvPr id="5" name="Picture 4">
            <a:extLst>
              <a:ext uri="{FF2B5EF4-FFF2-40B4-BE49-F238E27FC236}">
                <a16:creationId xmlns:a16="http://schemas.microsoft.com/office/drawing/2014/main" id="{8A8E52EC-7F41-D062-1060-3AF239AFD70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82545" y="4212953"/>
            <a:ext cx="2337889" cy="2105169"/>
          </a:xfrm>
          <a:prstGeom prst="rect">
            <a:avLst/>
          </a:prstGeom>
          <a:noFill/>
          <a:ln>
            <a:noFill/>
          </a:ln>
        </p:spPr>
      </p:pic>
      <p:pic>
        <p:nvPicPr>
          <p:cNvPr id="6" name="Picture 5">
            <a:extLst>
              <a:ext uri="{FF2B5EF4-FFF2-40B4-BE49-F238E27FC236}">
                <a16:creationId xmlns:a16="http://schemas.microsoft.com/office/drawing/2014/main" id="{5C01C46F-8DD3-FEEF-02BA-B91C7B57DD7B}"/>
              </a:ext>
            </a:extLst>
          </p:cNvPr>
          <p:cNvPicPr>
            <a:picLocks noChangeAspect="1"/>
          </p:cNvPicPr>
          <p:nvPr/>
        </p:nvPicPr>
        <p:blipFill rotWithShape="1">
          <a:blip r:embed="rId3">
            <a:extLst>
              <a:ext uri="{28A0092B-C50C-407E-A947-70E740481C1C}">
                <a14:useLocalDpi xmlns:a14="http://schemas.microsoft.com/office/drawing/2010/main" val="0"/>
              </a:ext>
            </a:extLst>
          </a:blip>
          <a:srcRect l="16992" r="18421"/>
          <a:stretch/>
        </p:blipFill>
        <p:spPr>
          <a:xfrm>
            <a:off x="5629299" y="238115"/>
            <a:ext cx="6307777" cy="6514589"/>
          </a:xfrm>
          <a:prstGeom prst="rect">
            <a:avLst/>
          </a:prstGeom>
        </p:spPr>
      </p:pic>
    </p:spTree>
    <p:extLst>
      <p:ext uri="{BB962C8B-B14F-4D97-AF65-F5344CB8AC3E}">
        <p14:creationId xmlns:p14="http://schemas.microsoft.com/office/powerpoint/2010/main" val="2142241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15279-0AB8-4BEF-1B13-7267EA796D80}"/>
              </a:ext>
            </a:extLst>
          </p:cNvPr>
          <p:cNvSpPr>
            <a:spLocks noGrp="1"/>
          </p:cNvSpPr>
          <p:nvPr>
            <p:ph type="ctrTitle"/>
          </p:nvPr>
        </p:nvSpPr>
        <p:spPr/>
        <p:txBody>
          <a:bodyPr>
            <a:normAutofit/>
          </a:bodyPr>
          <a:lstStyle/>
          <a:p>
            <a:r>
              <a:rPr lang="en-US" sz="6600" b="1" dirty="0" err="1"/>
              <a:t>Mô</a:t>
            </a:r>
            <a:r>
              <a:rPr lang="en-US" sz="6600" b="1" dirty="0"/>
              <a:t> </a:t>
            </a:r>
            <a:r>
              <a:rPr lang="en-US" sz="6600" b="1" dirty="0" err="1"/>
              <a:t>phỏng</a:t>
            </a:r>
            <a:r>
              <a:rPr lang="en-US" sz="6600" b="1" dirty="0"/>
              <a:t> </a:t>
            </a:r>
            <a:br>
              <a:rPr lang="en-US" sz="6600" b="1" dirty="0"/>
            </a:br>
            <a:r>
              <a:rPr lang="en-US" sz="6600" b="1" dirty="0" err="1"/>
              <a:t>Gắn</a:t>
            </a:r>
            <a:r>
              <a:rPr lang="en-US" sz="6600" b="1" dirty="0"/>
              <a:t> </a:t>
            </a:r>
            <a:r>
              <a:rPr lang="en-US" sz="6600" b="1" dirty="0" err="1"/>
              <a:t>máy</a:t>
            </a:r>
            <a:r>
              <a:rPr lang="en-US" sz="6600" b="1" dirty="0"/>
              <a:t> </a:t>
            </a:r>
            <a:r>
              <a:rPr lang="en-US" sz="6600" b="1" dirty="0" err="1"/>
              <a:t>đa</a:t>
            </a:r>
            <a:r>
              <a:rPr lang="en-US" sz="6600" b="1" dirty="0"/>
              <a:t> </a:t>
            </a:r>
            <a:r>
              <a:rPr lang="en-US" sz="6600" b="1" dirty="0" err="1"/>
              <a:t>ký</a:t>
            </a:r>
            <a:r>
              <a:rPr lang="en-US" sz="6600" b="1" dirty="0"/>
              <a:t> </a:t>
            </a:r>
            <a:r>
              <a:rPr lang="en-US" sz="6600" b="1" dirty="0" err="1"/>
              <a:t>khi</a:t>
            </a:r>
            <a:r>
              <a:rPr lang="en-US" sz="6600" b="1" dirty="0"/>
              <a:t> </a:t>
            </a:r>
            <a:r>
              <a:rPr lang="en-US" sz="6600" b="1" dirty="0" err="1"/>
              <a:t>ngủ</a:t>
            </a:r>
            <a:endParaRPr lang="en-US" sz="6600" b="1" dirty="0"/>
          </a:p>
        </p:txBody>
      </p:sp>
      <p:sp>
        <p:nvSpPr>
          <p:cNvPr id="3" name="Subtitle 2">
            <a:extLst>
              <a:ext uri="{FF2B5EF4-FFF2-40B4-BE49-F238E27FC236}">
                <a16:creationId xmlns:a16="http://schemas.microsoft.com/office/drawing/2014/main" id="{EC4D6806-C39F-CCEC-DDB1-C75A73D1C648}"/>
              </a:ext>
            </a:extLst>
          </p:cNvPr>
          <p:cNvSpPr>
            <a:spLocks noGrp="1"/>
          </p:cNvSpPr>
          <p:nvPr>
            <p:ph type="subTitle" idx="1"/>
          </p:nvPr>
        </p:nvSpPr>
        <p:spPr>
          <a:xfrm>
            <a:off x="1524000" y="5206481"/>
            <a:ext cx="9144000" cy="900403"/>
          </a:xfrm>
        </p:spPr>
        <p:txBody>
          <a:bodyPr>
            <a:normAutofit fontScale="85000" lnSpcReduction="10000"/>
          </a:bodyPr>
          <a:lstStyle/>
          <a:p>
            <a:r>
              <a:rPr lang="en-US" sz="1800" b="1" dirty="0">
                <a:solidFill>
                  <a:schemeClr val="tx1">
                    <a:lumMod val="75000"/>
                    <a:lumOff val="25000"/>
                  </a:schemeClr>
                </a:solidFill>
              </a:rPr>
              <a:t>DS. RPSGT. </a:t>
            </a:r>
            <a:r>
              <a:rPr lang="en-US" sz="1800" b="1" dirty="0" err="1">
                <a:solidFill>
                  <a:schemeClr val="tx1">
                    <a:lumMod val="75000"/>
                    <a:lumOff val="25000"/>
                  </a:schemeClr>
                </a:solidFill>
              </a:rPr>
              <a:t>Nguyễn</a:t>
            </a:r>
            <a:r>
              <a:rPr lang="en-US" sz="1800" b="1" dirty="0">
                <a:solidFill>
                  <a:schemeClr val="tx1">
                    <a:lumMod val="75000"/>
                    <a:lumOff val="25000"/>
                  </a:schemeClr>
                </a:solidFill>
              </a:rPr>
              <a:t> </a:t>
            </a:r>
            <a:r>
              <a:rPr lang="en-US" sz="1800" b="1" dirty="0" err="1">
                <a:solidFill>
                  <a:schemeClr val="tx1">
                    <a:lumMod val="75000"/>
                    <a:lumOff val="25000"/>
                  </a:schemeClr>
                </a:solidFill>
              </a:rPr>
              <a:t>Trọng</a:t>
            </a:r>
            <a:r>
              <a:rPr lang="en-US" sz="1800" b="1" dirty="0">
                <a:solidFill>
                  <a:schemeClr val="tx1">
                    <a:lumMod val="75000"/>
                    <a:lumOff val="25000"/>
                  </a:schemeClr>
                </a:solidFill>
              </a:rPr>
              <a:t> </a:t>
            </a:r>
            <a:r>
              <a:rPr lang="en-US" sz="1800" b="1" dirty="0" err="1">
                <a:solidFill>
                  <a:schemeClr val="tx1">
                    <a:lumMod val="75000"/>
                    <a:lumOff val="25000"/>
                  </a:schemeClr>
                </a:solidFill>
              </a:rPr>
              <a:t>Bằng</a:t>
            </a:r>
            <a:endParaRPr lang="en-US" sz="1800" b="1" dirty="0">
              <a:solidFill>
                <a:schemeClr val="tx1">
                  <a:lumMod val="75000"/>
                  <a:lumOff val="25000"/>
                </a:schemeClr>
              </a:solidFill>
            </a:endParaRPr>
          </a:p>
          <a:p>
            <a:r>
              <a:rPr lang="en-US" sz="1800" b="1" dirty="0">
                <a:solidFill>
                  <a:schemeClr val="tx1">
                    <a:lumMod val="75000"/>
                    <a:lumOff val="25000"/>
                  </a:schemeClr>
                </a:solidFill>
              </a:rPr>
              <a:t>PGĐ. Trung </a:t>
            </a:r>
            <a:r>
              <a:rPr lang="en-US" sz="1800" b="1" dirty="0" err="1">
                <a:solidFill>
                  <a:schemeClr val="tx1">
                    <a:lumMod val="75000"/>
                    <a:lumOff val="25000"/>
                  </a:schemeClr>
                </a:solidFill>
              </a:rPr>
              <a:t>tâm</a:t>
            </a:r>
            <a:r>
              <a:rPr lang="en-US" sz="1800" b="1" dirty="0">
                <a:solidFill>
                  <a:schemeClr val="tx1">
                    <a:lumMod val="75000"/>
                    <a:lumOff val="25000"/>
                  </a:schemeClr>
                </a:solidFill>
              </a:rPr>
              <a:t> </a:t>
            </a:r>
            <a:r>
              <a:rPr lang="en-US" sz="1800" b="1" dirty="0" err="1">
                <a:solidFill>
                  <a:schemeClr val="tx1">
                    <a:lumMod val="75000"/>
                    <a:lumOff val="25000"/>
                  </a:schemeClr>
                </a:solidFill>
              </a:rPr>
              <a:t>đào</a:t>
            </a:r>
            <a:r>
              <a:rPr lang="en-US" sz="1800" b="1" dirty="0">
                <a:solidFill>
                  <a:schemeClr val="tx1">
                    <a:lumMod val="75000"/>
                    <a:lumOff val="25000"/>
                  </a:schemeClr>
                </a:solidFill>
              </a:rPr>
              <a:t> </a:t>
            </a:r>
            <a:r>
              <a:rPr lang="en-US" sz="1800" b="1" dirty="0" err="1">
                <a:solidFill>
                  <a:schemeClr val="tx1">
                    <a:lumMod val="75000"/>
                    <a:lumOff val="25000"/>
                  </a:schemeClr>
                </a:solidFill>
              </a:rPr>
              <a:t>tạo</a:t>
            </a:r>
            <a:r>
              <a:rPr lang="en-US" sz="1800" b="1" dirty="0">
                <a:solidFill>
                  <a:schemeClr val="tx1">
                    <a:lumMod val="75000"/>
                    <a:lumOff val="25000"/>
                  </a:schemeClr>
                </a:solidFill>
              </a:rPr>
              <a:t> VSSM - </a:t>
            </a:r>
            <a:r>
              <a:rPr lang="en-US" sz="1800" b="1" dirty="0" err="1">
                <a:solidFill>
                  <a:schemeClr val="tx1">
                    <a:lumMod val="75000"/>
                    <a:lumOff val="25000"/>
                  </a:schemeClr>
                </a:solidFill>
              </a:rPr>
              <a:t>Cơ</a:t>
            </a:r>
            <a:r>
              <a:rPr lang="en-US" sz="1800" b="1" dirty="0">
                <a:solidFill>
                  <a:schemeClr val="tx1">
                    <a:lumMod val="75000"/>
                    <a:lumOff val="25000"/>
                  </a:schemeClr>
                </a:solidFill>
              </a:rPr>
              <a:t> </a:t>
            </a:r>
            <a:r>
              <a:rPr lang="en-US" sz="1800" b="1" dirty="0" err="1">
                <a:solidFill>
                  <a:schemeClr val="tx1">
                    <a:lumMod val="75000"/>
                    <a:lumOff val="25000"/>
                  </a:schemeClr>
                </a:solidFill>
              </a:rPr>
              <a:t>sở</a:t>
            </a:r>
            <a:r>
              <a:rPr lang="en-US" sz="1800" b="1" dirty="0">
                <a:solidFill>
                  <a:schemeClr val="tx1">
                    <a:lumMod val="75000"/>
                    <a:lumOff val="25000"/>
                  </a:schemeClr>
                </a:solidFill>
              </a:rPr>
              <a:t> II (TP. HCM)</a:t>
            </a:r>
          </a:p>
          <a:p>
            <a:r>
              <a:rPr lang="en-US" sz="1800" b="1" dirty="0" err="1">
                <a:solidFill>
                  <a:schemeClr val="tx1">
                    <a:lumMod val="75000"/>
                    <a:lumOff val="25000"/>
                  </a:schemeClr>
                </a:solidFill>
              </a:rPr>
              <a:t>Phòng</a:t>
            </a:r>
            <a:r>
              <a:rPr lang="en-US" sz="1800" b="1" dirty="0">
                <a:solidFill>
                  <a:schemeClr val="tx1">
                    <a:lumMod val="75000"/>
                    <a:lumOff val="25000"/>
                  </a:schemeClr>
                </a:solidFill>
              </a:rPr>
              <a:t> </a:t>
            </a:r>
            <a:r>
              <a:rPr lang="en-US" sz="1800" b="1" dirty="0" err="1">
                <a:solidFill>
                  <a:schemeClr val="tx1">
                    <a:lumMod val="75000"/>
                    <a:lumOff val="25000"/>
                  </a:schemeClr>
                </a:solidFill>
              </a:rPr>
              <a:t>khám</a:t>
            </a:r>
            <a:r>
              <a:rPr lang="en-US" sz="1800" b="1" dirty="0">
                <a:solidFill>
                  <a:schemeClr val="tx1">
                    <a:lumMod val="75000"/>
                    <a:lumOff val="25000"/>
                  </a:schemeClr>
                </a:solidFill>
              </a:rPr>
              <a:t> </a:t>
            </a:r>
            <a:r>
              <a:rPr lang="en-US" sz="1800" b="1" dirty="0" err="1">
                <a:solidFill>
                  <a:schemeClr val="tx1">
                    <a:lumMod val="75000"/>
                    <a:lumOff val="25000"/>
                  </a:schemeClr>
                </a:solidFill>
              </a:rPr>
              <a:t>SleepFi</a:t>
            </a:r>
            <a:endParaRPr lang="en-US" sz="1800" b="1" dirty="0">
              <a:solidFill>
                <a:schemeClr val="tx1">
                  <a:lumMod val="75000"/>
                  <a:lumOff val="25000"/>
                </a:schemeClr>
              </a:solidFill>
            </a:endParaRPr>
          </a:p>
        </p:txBody>
      </p:sp>
    </p:spTree>
    <p:extLst>
      <p:ext uri="{BB962C8B-B14F-4D97-AF65-F5344CB8AC3E}">
        <p14:creationId xmlns:p14="http://schemas.microsoft.com/office/powerpoint/2010/main" val="335601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844C0-A8B1-4375-8023-ED97A22A2280}"/>
              </a:ext>
            </a:extLst>
          </p:cNvPr>
          <p:cNvSpPr>
            <a:spLocks noGrp="1"/>
          </p:cNvSpPr>
          <p:nvPr>
            <p:ph type="title"/>
          </p:nvPr>
        </p:nvSpPr>
        <p:spPr>
          <a:xfrm>
            <a:off x="646144" y="740539"/>
            <a:ext cx="4312298" cy="702628"/>
          </a:xfrm>
        </p:spPr>
        <p:txBody>
          <a:bodyPr>
            <a:noAutofit/>
          </a:bodyPr>
          <a:lstStyle/>
          <a:p>
            <a:pPr algn="ctr"/>
            <a:r>
              <a:rPr lang="en-US" sz="3200"/>
              <a:t>Thiết bị mô phỏng</a:t>
            </a:r>
          </a:p>
        </p:txBody>
      </p:sp>
      <p:pic>
        <p:nvPicPr>
          <p:cNvPr id="11" name="Picture 10">
            <a:extLst>
              <a:ext uri="{FF2B5EF4-FFF2-40B4-BE49-F238E27FC236}">
                <a16:creationId xmlns:a16="http://schemas.microsoft.com/office/drawing/2014/main" id="{0DAC82AB-124A-CE4A-A804-9EC29E0895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3267" y="1966891"/>
            <a:ext cx="2926086" cy="2103124"/>
          </a:xfrm>
          <a:prstGeom prst="rect">
            <a:avLst/>
          </a:prstGeom>
        </p:spPr>
      </p:pic>
      <p:pic>
        <p:nvPicPr>
          <p:cNvPr id="14" name="Picture 13">
            <a:extLst>
              <a:ext uri="{FF2B5EF4-FFF2-40B4-BE49-F238E27FC236}">
                <a16:creationId xmlns:a16="http://schemas.microsoft.com/office/drawing/2014/main" id="{78D9D30E-821A-ED82-C87E-6368A373E4C7}"/>
              </a:ext>
            </a:extLst>
          </p:cNvPr>
          <p:cNvPicPr>
            <a:picLocks noChangeAspect="1"/>
          </p:cNvPicPr>
          <p:nvPr/>
        </p:nvPicPr>
        <p:blipFill rotWithShape="1">
          <a:blip r:embed="rId3">
            <a:extLst>
              <a:ext uri="{28A0092B-C50C-407E-A947-70E740481C1C}">
                <a14:useLocalDpi xmlns:a14="http://schemas.microsoft.com/office/drawing/2010/main" val="0"/>
              </a:ext>
            </a:extLst>
          </a:blip>
          <a:srcRect l="18612" r="16530"/>
          <a:stretch/>
        </p:blipFill>
        <p:spPr>
          <a:xfrm>
            <a:off x="5525197" y="0"/>
            <a:ext cx="6666803" cy="6858000"/>
          </a:xfrm>
          <a:prstGeom prst="rect">
            <a:avLst/>
          </a:prstGeom>
        </p:spPr>
      </p:pic>
      <p:sp>
        <p:nvSpPr>
          <p:cNvPr id="16" name="Title 1">
            <a:extLst>
              <a:ext uri="{FF2B5EF4-FFF2-40B4-BE49-F238E27FC236}">
                <a16:creationId xmlns:a16="http://schemas.microsoft.com/office/drawing/2014/main" id="{90670CD2-11F3-F5C2-5C86-83D7A68BECA8}"/>
              </a:ext>
            </a:extLst>
          </p:cNvPr>
          <p:cNvSpPr txBox="1">
            <a:spLocks/>
          </p:cNvSpPr>
          <p:nvPr/>
        </p:nvSpPr>
        <p:spPr>
          <a:xfrm>
            <a:off x="355581" y="4452249"/>
            <a:ext cx="4871257" cy="180859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70C0"/>
                </a:solidFill>
                <a:latin typeface="Arial" panose="020B0604020202020204" pitchFamily="34" charset="0"/>
                <a:ea typeface="+mj-ea"/>
                <a:cs typeface="Arial" panose="020B0604020202020204" pitchFamily="34" charset="0"/>
              </a:defRPr>
            </a:lvl1pPr>
          </a:lstStyle>
          <a:p>
            <a:pPr algn="ctr"/>
            <a:r>
              <a:rPr lang="en-US" sz="3200" dirty="0" err="1">
                <a:latin typeface="Calibri Light" panose="020F0302020204030204" pitchFamily="34" charset="0"/>
                <a:cs typeface="Calibri Light" panose="020F0302020204030204" pitchFamily="34" charset="0"/>
              </a:rPr>
              <a:t>Máy</a:t>
            </a:r>
            <a:r>
              <a:rPr lang="en-US" sz="3200" dirty="0">
                <a:latin typeface="Calibri Light" panose="020F0302020204030204" pitchFamily="34" charset="0"/>
                <a:cs typeface="Calibri Light" panose="020F0302020204030204" pitchFamily="34" charset="0"/>
              </a:rPr>
              <a:t> </a:t>
            </a:r>
            <a:r>
              <a:rPr lang="en-US" sz="3200" dirty="0" err="1">
                <a:latin typeface="Calibri Light" panose="020F0302020204030204" pitchFamily="34" charset="0"/>
                <a:cs typeface="Calibri Light" panose="020F0302020204030204" pitchFamily="34" charset="0"/>
              </a:rPr>
              <a:t>đa</a:t>
            </a:r>
            <a:r>
              <a:rPr lang="en-US" sz="3200" dirty="0">
                <a:latin typeface="Calibri Light" panose="020F0302020204030204" pitchFamily="34" charset="0"/>
                <a:cs typeface="Calibri Light" panose="020F0302020204030204" pitchFamily="34" charset="0"/>
              </a:rPr>
              <a:t> </a:t>
            </a:r>
            <a:r>
              <a:rPr lang="en-US" sz="3200" dirty="0" err="1">
                <a:latin typeface="Calibri Light" panose="020F0302020204030204" pitchFamily="34" charset="0"/>
                <a:cs typeface="Calibri Light" panose="020F0302020204030204" pitchFamily="34" charset="0"/>
              </a:rPr>
              <a:t>ký</a:t>
            </a:r>
            <a:r>
              <a:rPr lang="en-US" sz="3200" dirty="0">
                <a:latin typeface="Calibri Light" panose="020F0302020204030204" pitchFamily="34" charset="0"/>
                <a:cs typeface="Calibri Light" panose="020F0302020204030204" pitchFamily="34" charset="0"/>
              </a:rPr>
              <a:t> </a:t>
            </a:r>
            <a:r>
              <a:rPr lang="en-US" sz="3200" dirty="0" err="1">
                <a:latin typeface="Calibri Light" panose="020F0302020204030204" pitchFamily="34" charset="0"/>
                <a:cs typeface="Calibri Light" panose="020F0302020204030204" pitchFamily="34" charset="0"/>
              </a:rPr>
              <a:t>giấc</a:t>
            </a:r>
            <a:r>
              <a:rPr lang="en-US" sz="3200" dirty="0">
                <a:latin typeface="Calibri Light" panose="020F0302020204030204" pitchFamily="34" charset="0"/>
                <a:cs typeface="Calibri Light" panose="020F0302020204030204" pitchFamily="34" charset="0"/>
              </a:rPr>
              <a:t> </a:t>
            </a:r>
            <a:r>
              <a:rPr lang="en-US" sz="3200" dirty="0" err="1">
                <a:latin typeface="Calibri Light" panose="020F0302020204030204" pitchFamily="34" charset="0"/>
                <a:cs typeface="Calibri Light" panose="020F0302020204030204" pitchFamily="34" charset="0"/>
              </a:rPr>
              <a:t>ngủ</a:t>
            </a:r>
            <a:endParaRPr lang="en-US" sz="3200" dirty="0">
              <a:latin typeface="Calibri Light" panose="020F0302020204030204" pitchFamily="34" charset="0"/>
              <a:cs typeface="Calibri Light" panose="020F0302020204030204" pitchFamily="34" charset="0"/>
            </a:endParaRPr>
          </a:p>
          <a:p>
            <a:pPr algn="ctr"/>
            <a:r>
              <a:rPr lang="en-US" sz="3200" dirty="0" err="1">
                <a:solidFill>
                  <a:srgbClr val="7030A0"/>
                </a:solidFill>
                <a:latin typeface="Calibri Light" panose="020F0302020204030204" pitchFamily="34" charset="0"/>
                <a:cs typeface="Calibri Light" panose="020F0302020204030204" pitchFamily="34" charset="0"/>
              </a:rPr>
              <a:t>Nox</a:t>
            </a:r>
            <a:r>
              <a:rPr lang="en-US" sz="3200" dirty="0">
                <a:solidFill>
                  <a:srgbClr val="7030A0"/>
                </a:solidFill>
                <a:latin typeface="Calibri Light" panose="020F0302020204030204" pitchFamily="34" charset="0"/>
                <a:cs typeface="Calibri Light" panose="020F0302020204030204" pitchFamily="34" charset="0"/>
              </a:rPr>
              <a:t> A1s</a:t>
            </a:r>
          </a:p>
          <a:p>
            <a:pPr algn="ctr"/>
            <a:endParaRPr lang="en-US" sz="3200" dirty="0">
              <a:solidFill>
                <a:srgbClr val="7030A0"/>
              </a:solidFill>
              <a:latin typeface="Calibri Light" panose="020F0302020204030204" pitchFamily="34" charset="0"/>
              <a:cs typeface="Calibri Light" panose="020F0302020204030204" pitchFamily="34" charset="0"/>
            </a:endParaRPr>
          </a:p>
          <a:p>
            <a:pPr algn="ctr"/>
            <a:r>
              <a:rPr lang="en-US" sz="2400" dirty="0" err="1">
                <a:solidFill>
                  <a:schemeClr val="tx1"/>
                </a:solidFill>
                <a:latin typeface="Calibri Light" panose="020F0302020204030204" pitchFamily="34" charset="0"/>
                <a:cs typeface="Calibri Light" panose="020F0302020204030204" pitchFamily="34" charset="0"/>
              </a:rPr>
              <a:t>Nox</a:t>
            </a:r>
            <a:r>
              <a:rPr lang="en-US" sz="2400" dirty="0">
                <a:solidFill>
                  <a:schemeClr val="tx1"/>
                </a:solidFill>
                <a:latin typeface="Calibri Light" panose="020F0302020204030204" pitchFamily="34" charset="0"/>
                <a:cs typeface="Calibri Light" panose="020F0302020204030204" pitchFamily="34" charset="0"/>
              </a:rPr>
              <a:t> Medical</a:t>
            </a:r>
          </a:p>
          <a:p>
            <a:pPr algn="ctr"/>
            <a:r>
              <a:rPr lang="en-US" sz="2400" dirty="0">
                <a:solidFill>
                  <a:schemeClr val="tx1"/>
                </a:solidFill>
                <a:latin typeface="Calibri Light" panose="020F0302020204030204" pitchFamily="34" charset="0"/>
                <a:cs typeface="Calibri Light" panose="020F0302020204030204" pitchFamily="34" charset="0"/>
              </a:rPr>
              <a:t>Iceland</a:t>
            </a:r>
          </a:p>
        </p:txBody>
      </p:sp>
    </p:spTree>
    <p:extLst>
      <p:ext uri="{BB962C8B-B14F-4D97-AF65-F5344CB8AC3E}">
        <p14:creationId xmlns:p14="http://schemas.microsoft.com/office/powerpoint/2010/main" val="2369171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A71E25-C104-CF6D-DCDD-C68DC8A474CF}"/>
              </a:ext>
            </a:extLst>
          </p:cNvPr>
          <p:cNvPicPr>
            <a:picLocks noChangeAspect="1"/>
          </p:cNvPicPr>
          <p:nvPr/>
        </p:nvPicPr>
        <p:blipFill>
          <a:blip r:embed="rId2"/>
          <a:stretch>
            <a:fillRect/>
          </a:stretch>
        </p:blipFill>
        <p:spPr>
          <a:xfrm>
            <a:off x="4272392" y="41373"/>
            <a:ext cx="7847564" cy="6816627"/>
          </a:xfrm>
          <a:prstGeom prst="rect">
            <a:avLst/>
          </a:prstGeom>
        </p:spPr>
      </p:pic>
      <p:pic>
        <p:nvPicPr>
          <p:cNvPr id="5" name="Picture 4">
            <a:extLst>
              <a:ext uri="{FF2B5EF4-FFF2-40B4-BE49-F238E27FC236}">
                <a16:creationId xmlns:a16="http://schemas.microsoft.com/office/drawing/2014/main" id="{950C2349-A1B8-32BB-97F9-DF28414AAFB0}"/>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4369" b="94296" l="9428" r="91246">
                        <a14:foregroundMark x1="62963" y1="10922" x2="44781" y2="3398"/>
                        <a14:foregroundMark x1="44781" y1="3398" x2="35017" y2="13714"/>
                        <a14:foregroundMark x1="35017" y1="13714" x2="53535" y2="4490"/>
                        <a14:foregroundMark x1="53535" y1="4490" x2="50505" y2="13228"/>
                        <a14:foregroundMark x1="70370" y1="26699" x2="26263" y2="28883"/>
                        <a14:foregroundMark x1="26263" y1="28883" x2="71380" y2="28034"/>
                        <a14:foregroundMark x1="71380" y1="28034" x2="59933" y2="24757"/>
                        <a14:foregroundMark x1="49495" y1="16505" x2="51852" y2="16990"/>
                        <a14:foregroundMark x1="51515" y1="18083" x2="55556" y2="22209"/>
                        <a14:foregroundMark x1="63973" y1="44782" x2="64983" y2="52063"/>
                        <a14:foregroundMark x1="37037" y1="44296" x2="42088" y2="50364"/>
                        <a14:foregroundMark x1="50842" y1="45388" x2="49832" y2="51335"/>
                        <a14:foregroundMark x1="10438" y1="36529" x2="13805" y2="41748"/>
                        <a14:foregroundMark x1="14815" y1="44782" x2="12458" y2="54490"/>
                        <a14:foregroundMark x1="12458" y1="54490" x2="12458" y2="54490"/>
                        <a14:foregroundMark x1="84512" y1="35194" x2="82155" y2="51820"/>
                        <a14:foregroundMark x1="82155" y1="51820" x2="83838" y2="53519"/>
                        <a14:foregroundMark x1="91582" y1="49272" x2="90572" y2="51335"/>
                        <a14:foregroundMark x1="85859" y1="49515" x2="85859" y2="52791"/>
                        <a14:foregroundMark x1="41077" y1="60922" x2="31313" y2="94296"/>
                        <a14:foregroundMark x1="65320" y1="59951" x2="61953" y2="93811"/>
                        <a14:foregroundMark x1="61953" y1="93811" x2="67003" y2="93325"/>
                      </a14:backgroundRemoval>
                    </a14:imgEffect>
                  </a14:imgLayer>
                </a14:imgProps>
              </a:ext>
            </a:extLst>
          </a:blip>
          <a:stretch>
            <a:fillRect/>
          </a:stretch>
        </p:blipFill>
        <p:spPr>
          <a:xfrm>
            <a:off x="988391" y="605672"/>
            <a:ext cx="2253569" cy="6252328"/>
          </a:xfrm>
          <a:prstGeom prst="rect">
            <a:avLst/>
          </a:prstGeom>
        </p:spPr>
      </p:pic>
    </p:spTree>
    <p:extLst>
      <p:ext uri="{BB962C8B-B14F-4D97-AF65-F5344CB8AC3E}">
        <p14:creationId xmlns:p14="http://schemas.microsoft.com/office/powerpoint/2010/main" val="268423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 name="Picture 94">
            <a:extLst>
              <a:ext uri="{FF2B5EF4-FFF2-40B4-BE49-F238E27FC236}">
                <a16:creationId xmlns:a16="http://schemas.microsoft.com/office/drawing/2014/main" id="{9D1144DB-413A-E3E3-1792-5C364AE95F01}"/>
              </a:ext>
            </a:extLst>
          </p:cNvPr>
          <p:cNvPicPr>
            <a:picLocks noChangeAspect="1"/>
          </p:cNvPicPr>
          <p:nvPr/>
        </p:nvPicPr>
        <p:blipFill>
          <a:blip r:embed="rId2"/>
          <a:stretch>
            <a:fillRect/>
          </a:stretch>
        </p:blipFill>
        <p:spPr>
          <a:xfrm>
            <a:off x="6123198" y="773167"/>
            <a:ext cx="6496293" cy="5642873"/>
          </a:xfrm>
          <a:prstGeom prst="rect">
            <a:avLst/>
          </a:prstGeom>
        </p:spPr>
      </p:pic>
      <p:sp>
        <p:nvSpPr>
          <p:cNvPr id="2" name="Title 1">
            <a:extLst>
              <a:ext uri="{FF2B5EF4-FFF2-40B4-BE49-F238E27FC236}">
                <a16:creationId xmlns:a16="http://schemas.microsoft.com/office/drawing/2014/main" id="{E2B844C0-A8B1-4375-8023-ED97A22A2280}"/>
              </a:ext>
            </a:extLst>
          </p:cNvPr>
          <p:cNvSpPr>
            <a:spLocks noGrp="1"/>
          </p:cNvSpPr>
          <p:nvPr>
            <p:ph type="title"/>
          </p:nvPr>
        </p:nvSpPr>
        <p:spPr/>
        <p:txBody>
          <a:bodyPr>
            <a:normAutofit/>
          </a:bodyPr>
          <a:lstStyle/>
          <a:p>
            <a:r>
              <a:rPr lang="en-US" sz="3200"/>
              <a:t>Cảm biến và tín hiệu</a:t>
            </a:r>
          </a:p>
        </p:txBody>
      </p:sp>
      <p:pic>
        <p:nvPicPr>
          <p:cNvPr id="109" name="Picture 108">
            <a:extLst>
              <a:ext uri="{FF2B5EF4-FFF2-40B4-BE49-F238E27FC236}">
                <a16:creationId xmlns:a16="http://schemas.microsoft.com/office/drawing/2014/main" id="{DC2AC058-BE75-709C-8426-4E0DEBEC72F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4369" b="94296" l="9428" r="91246">
                        <a14:foregroundMark x1="62963" y1="10922" x2="44781" y2="3398"/>
                        <a14:foregroundMark x1="44781" y1="3398" x2="35017" y2="13714"/>
                        <a14:foregroundMark x1="35017" y1="13714" x2="53535" y2="4490"/>
                        <a14:foregroundMark x1="53535" y1="4490" x2="50505" y2="13228"/>
                        <a14:foregroundMark x1="70370" y1="26699" x2="26263" y2="28883"/>
                        <a14:foregroundMark x1="26263" y1="28883" x2="71380" y2="28034"/>
                        <a14:foregroundMark x1="71380" y1="28034" x2="59933" y2="24757"/>
                        <a14:foregroundMark x1="49495" y1="16505" x2="51852" y2="16990"/>
                        <a14:foregroundMark x1="51515" y1="18083" x2="55556" y2="22209"/>
                        <a14:foregroundMark x1="63973" y1="44782" x2="64983" y2="52063"/>
                        <a14:foregroundMark x1="37037" y1="44296" x2="42088" y2="50364"/>
                        <a14:foregroundMark x1="50842" y1="45388" x2="49832" y2="51335"/>
                        <a14:foregroundMark x1="10438" y1="36529" x2="13805" y2="41748"/>
                        <a14:foregroundMark x1="14815" y1="44782" x2="12458" y2="54490"/>
                        <a14:foregroundMark x1="12458" y1="54490" x2="12458" y2="54490"/>
                        <a14:foregroundMark x1="84512" y1="35194" x2="82155" y2="51820"/>
                        <a14:foregroundMark x1="82155" y1="51820" x2="83838" y2="53519"/>
                        <a14:foregroundMark x1="91582" y1="49272" x2="90572" y2="51335"/>
                        <a14:foregroundMark x1="85859" y1="49515" x2="85859" y2="52791"/>
                        <a14:foregroundMark x1="41077" y1="60922" x2="31313" y2="94296"/>
                        <a14:foregroundMark x1="65320" y1="59951" x2="61953" y2="93811"/>
                        <a14:foregroundMark x1="61953" y1="93811" x2="67003" y2="93325"/>
                      </a14:backgroundRemoval>
                    </a14:imgEffect>
                  </a14:imgLayer>
                </a14:imgProps>
              </a:ext>
            </a:extLst>
          </a:blip>
          <a:stretch>
            <a:fillRect/>
          </a:stretch>
        </p:blipFill>
        <p:spPr>
          <a:xfrm>
            <a:off x="506257" y="1425822"/>
            <a:ext cx="1863155" cy="5169159"/>
          </a:xfrm>
          <a:prstGeom prst="rect">
            <a:avLst/>
          </a:prstGeom>
        </p:spPr>
      </p:pic>
      <p:grpSp>
        <p:nvGrpSpPr>
          <p:cNvPr id="3" name="Group 2">
            <a:extLst>
              <a:ext uri="{FF2B5EF4-FFF2-40B4-BE49-F238E27FC236}">
                <a16:creationId xmlns:a16="http://schemas.microsoft.com/office/drawing/2014/main" id="{A8AD7AAE-885C-2C37-ACA3-862E441D56FC}"/>
              </a:ext>
            </a:extLst>
          </p:cNvPr>
          <p:cNvGrpSpPr/>
          <p:nvPr/>
        </p:nvGrpSpPr>
        <p:grpSpPr>
          <a:xfrm>
            <a:off x="1576874" y="1382573"/>
            <a:ext cx="4600716" cy="1762700"/>
            <a:chOff x="1576874" y="1382573"/>
            <a:chExt cx="4600716" cy="1762700"/>
          </a:xfrm>
        </p:grpSpPr>
        <p:cxnSp>
          <p:nvCxnSpPr>
            <p:cNvPr id="35" name="Straight Arrow Connector 34">
              <a:extLst>
                <a:ext uri="{FF2B5EF4-FFF2-40B4-BE49-F238E27FC236}">
                  <a16:creationId xmlns:a16="http://schemas.microsoft.com/office/drawing/2014/main" id="{798936A9-E300-6162-2263-863153680F57}"/>
                </a:ext>
              </a:extLst>
            </p:cNvPr>
            <p:cNvCxnSpPr>
              <a:cxnSpLocks/>
            </p:cNvCxnSpPr>
            <p:nvPr/>
          </p:nvCxnSpPr>
          <p:spPr>
            <a:xfrm>
              <a:off x="5486400" y="1844238"/>
              <a:ext cx="691190" cy="1301035"/>
            </a:xfrm>
            <a:prstGeom prst="straightConnector1">
              <a:avLst/>
            </a:prstGeom>
            <a:ln>
              <a:solidFill>
                <a:srgbClr val="7030A0"/>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7CCEBBFE-B831-2205-916F-4B14C68619BF}"/>
                </a:ext>
              </a:extLst>
            </p:cNvPr>
            <p:cNvCxnSpPr>
              <a:cxnSpLocks/>
            </p:cNvCxnSpPr>
            <p:nvPr/>
          </p:nvCxnSpPr>
          <p:spPr>
            <a:xfrm>
              <a:off x="5486400" y="1844238"/>
              <a:ext cx="645570" cy="32955"/>
            </a:xfrm>
            <a:prstGeom prst="straightConnector1">
              <a:avLst/>
            </a:prstGeom>
            <a:ln>
              <a:solidFill>
                <a:srgbClr val="7030A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03525072-D4C7-9718-C555-82D639656694}"/>
                </a:ext>
              </a:extLst>
            </p:cNvPr>
            <p:cNvSpPr txBox="1"/>
            <p:nvPr/>
          </p:nvSpPr>
          <p:spPr>
            <a:xfrm>
              <a:off x="2967132" y="1382573"/>
              <a:ext cx="2519268" cy="923330"/>
            </a:xfrm>
            <a:prstGeom prst="rect">
              <a:avLst/>
            </a:prstGeom>
            <a:noFill/>
            <a:ln>
              <a:solidFill>
                <a:srgbClr val="0070C0"/>
              </a:solidFill>
            </a:ln>
          </p:spPr>
          <p:txBody>
            <a:bodyPr wrap="square" rtlCol="0">
              <a:spAutoFit/>
            </a:bodyPr>
            <a:lstStyle/>
            <a:p>
              <a:r>
                <a:rPr lang="en-US" dirty="0" err="1">
                  <a:latin typeface="Calibri Light" panose="020F0302020204030204" pitchFamily="34" charset="0"/>
                </a:rPr>
                <a:t>Điện</a:t>
              </a:r>
              <a:r>
                <a:rPr lang="en-US" dirty="0">
                  <a:latin typeface="Calibri Light" panose="020F0302020204030204" pitchFamily="34" charset="0"/>
                </a:rPr>
                <a:t> </a:t>
              </a:r>
              <a:r>
                <a:rPr lang="en-US" dirty="0" err="1">
                  <a:latin typeface="Calibri Light" panose="020F0302020204030204" pitchFamily="34" charset="0"/>
                </a:rPr>
                <a:t>não</a:t>
              </a:r>
              <a:r>
                <a:rPr lang="en-US" dirty="0">
                  <a:latin typeface="Calibri Light" panose="020F0302020204030204" pitchFamily="34" charset="0"/>
                </a:rPr>
                <a:t> (9)</a:t>
              </a:r>
            </a:p>
            <a:p>
              <a:r>
                <a:rPr lang="en-US" dirty="0" err="1">
                  <a:latin typeface="Calibri Light" panose="020F0302020204030204" pitchFamily="34" charset="0"/>
                </a:rPr>
                <a:t>Điện</a:t>
              </a:r>
              <a:r>
                <a:rPr lang="en-US" dirty="0">
                  <a:latin typeface="Calibri Light" panose="020F0302020204030204" pitchFamily="34" charset="0"/>
                </a:rPr>
                <a:t> </a:t>
              </a:r>
              <a:r>
                <a:rPr lang="en-US" dirty="0" err="1">
                  <a:latin typeface="Calibri Light" panose="020F0302020204030204" pitchFamily="34" charset="0"/>
                </a:rPr>
                <a:t>cơ</a:t>
              </a:r>
              <a:r>
                <a:rPr lang="en-US" dirty="0">
                  <a:latin typeface="Calibri Light" panose="020F0302020204030204" pitchFamily="34" charset="0"/>
                </a:rPr>
                <a:t> </a:t>
              </a:r>
              <a:r>
                <a:rPr lang="en-US" dirty="0" err="1">
                  <a:latin typeface="Calibri Light" panose="020F0302020204030204" pitchFamily="34" charset="0"/>
                </a:rPr>
                <a:t>mắt</a:t>
              </a:r>
              <a:r>
                <a:rPr lang="en-US" dirty="0">
                  <a:latin typeface="Calibri Light" panose="020F0302020204030204" pitchFamily="34" charset="0"/>
                </a:rPr>
                <a:t> (2)</a:t>
              </a:r>
            </a:p>
            <a:p>
              <a:r>
                <a:rPr lang="en-US" dirty="0" err="1">
                  <a:latin typeface="Calibri Light" panose="020F0302020204030204" pitchFamily="34" charset="0"/>
                </a:rPr>
                <a:t>Điện</a:t>
              </a:r>
              <a:r>
                <a:rPr lang="en-US" dirty="0">
                  <a:latin typeface="Calibri Light" panose="020F0302020204030204" pitchFamily="34" charset="0"/>
                </a:rPr>
                <a:t> </a:t>
              </a:r>
              <a:r>
                <a:rPr lang="en-US" dirty="0" err="1">
                  <a:latin typeface="Calibri Light" panose="020F0302020204030204" pitchFamily="34" charset="0"/>
                </a:rPr>
                <a:t>cơ</a:t>
              </a:r>
              <a:r>
                <a:rPr lang="en-US" dirty="0">
                  <a:latin typeface="Calibri Light" panose="020F0302020204030204" pitchFamily="34" charset="0"/>
                </a:rPr>
                <a:t> </a:t>
              </a:r>
              <a:r>
                <a:rPr lang="en-US" dirty="0" err="1">
                  <a:latin typeface="Calibri Light" panose="020F0302020204030204" pitchFamily="34" charset="0"/>
                </a:rPr>
                <a:t>cằm</a:t>
              </a:r>
              <a:r>
                <a:rPr lang="en-US" dirty="0">
                  <a:latin typeface="Calibri Light" panose="020F0302020204030204" pitchFamily="34" charset="0"/>
                </a:rPr>
                <a:t> (3)</a:t>
              </a:r>
            </a:p>
          </p:txBody>
        </p:sp>
        <p:cxnSp>
          <p:nvCxnSpPr>
            <p:cNvPr id="115" name="Straight Arrow Connector 114">
              <a:extLst>
                <a:ext uri="{FF2B5EF4-FFF2-40B4-BE49-F238E27FC236}">
                  <a16:creationId xmlns:a16="http://schemas.microsoft.com/office/drawing/2014/main" id="{A484AA56-95FA-473E-D1C6-05C2D814A934}"/>
                </a:ext>
              </a:extLst>
            </p:cNvPr>
            <p:cNvCxnSpPr>
              <a:cxnSpLocks/>
              <a:stCxn id="110" idx="1"/>
            </p:cNvCxnSpPr>
            <p:nvPr/>
          </p:nvCxnSpPr>
          <p:spPr>
            <a:xfrm flipH="1" flipV="1">
              <a:off x="1576874" y="1767577"/>
              <a:ext cx="1390258" cy="76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FEA0AE8C-17B6-0C19-B4B6-09EC141E5CB6}"/>
              </a:ext>
            </a:extLst>
          </p:cNvPr>
          <p:cNvGrpSpPr/>
          <p:nvPr/>
        </p:nvGrpSpPr>
        <p:grpSpPr>
          <a:xfrm>
            <a:off x="1511559" y="2140975"/>
            <a:ext cx="4674801" cy="2866005"/>
            <a:chOff x="1511559" y="2140975"/>
            <a:chExt cx="4674801" cy="2866005"/>
          </a:xfrm>
        </p:grpSpPr>
        <p:cxnSp>
          <p:nvCxnSpPr>
            <p:cNvPr id="36" name="Straight Arrow Connector 35">
              <a:extLst>
                <a:ext uri="{FF2B5EF4-FFF2-40B4-BE49-F238E27FC236}">
                  <a16:creationId xmlns:a16="http://schemas.microsoft.com/office/drawing/2014/main" id="{40FCA3F7-27B1-35AF-E80E-DE5AB9A02037}"/>
                </a:ext>
              </a:extLst>
            </p:cNvPr>
            <p:cNvCxnSpPr>
              <a:cxnSpLocks/>
            </p:cNvCxnSpPr>
            <p:nvPr/>
          </p:nvCxnSpPr>
          <p:spPr>
            <a:xfrm>
              <a:off x="5486398" y="2530189"/>
              <a:ext cx="699962" cy="2476791"/>
            </a:xfrm>
            <a:prstGeom prst="straightConnector1">
              <a:avLst/>
            </a:prstGeom>
            <a:ln>
              <a:solidFill>
                <a:srgbClr val="7030A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12AF7C21-4FD6-91AE-20E2-DCA38C9223B7}"/>
                </a:ext>
              </a:extLst>
            </p:cNvPr>
            <p:cNvSpPr txBox="1"/>
            <p:nvPr/>
          </p:nvSpPr>
          <p:spPr>
            <a:xfrm>
              <a:off x="2958360" y="2378039"/>
              <a:ext cx="2519268" cy="338554"/>
            </a:xfrm>
            <a:prstGeom prst="rect">
              <a:avLst/>
            </a:prstGeom>
            <a:noFill/>
            <a:ln>
              <a:solidFill>
                <a:srgbClr val="0070C0"/>
              </a:solidFill>
            </a:ln>
          </p:spPr>
          <p:txBody>
            <a:bodyPr wrap="square" rtlCol="0">
              <a:spAutoFit/>
            </a:bodyPr>
            <a:lstStyle/>
            <a:p>
              <a:r>
                <a:rPr lang="en-US" sz="1600" dirty="0">
                  <a:latin typeface="Calibri Light" panose="020F0302020204030204" pitchFamily="34" charset="0"/>
                </a:rPr>
                <a:t>Cannula (1) / Thermistor (1)</a:t>
              </a:r>
            </a:p>
          </p:txBody>
        </p:sp>
        <p:cxnSp>
          <p:nvCxnSpPr>
            <p:cNvPr id="116" name="Straight Arrow Connector 115">
              <a:extLst>
                <a:ext uri="{FF2B5EF4-FFF2-40B4-BE49-F238E27FC236}">
                  <a16:creationId xmlns:a16="http://schemas.microsoft.com/office/drawing/2014/main" id="{78147C72-9833-4B1D-3354-296253C618FD}"/>
                </a:ext>
              </a:extLst>
            </p:cNvPr>
            <p:cNvCxnSpPr>
              <a:cxnSpLocks/>
              <a:stCxn id="112" idx="1"/>
            </p:cNvCxnSpPr>
            <p:nvPr/>
          </p:nvCxnSpPr>
          <p:spPr>
            <a:xfrm flipH="1" flipV="1">
              <a:off x="1511559" y="2140975"/>
              <a:ext cx="1446801" cy="406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5" name="Group 4">
            <a:extLst>
              <a:ext uri="{FF2B5EF4-FFF2-40B4-BE49-F238E27FC236}">
                <a16:creationId xmlns:a16="http://schemas.microsoft.com/office/drawing/2014/main" id="{CD206429-FECB-5922-E530-CBDFBE3C4ABE}"/>
              </a:ext>
            </a:extLst>
          </p:cNvPr>
          <p:cNvGrpSpPr/>
          <p:nvPr/>
        </p:nvGrpSpPr>
        <p:grpSpPr>
          <a:xfrm>
            <a:off x="1511559" y="1370287"/>
            <a:ext cx="4611637" cy="2636139"/>
            <a:chOff x="1511559" y="1370287"/>
            <a:chExt cx="4611637" cy="2636139"/>
          </a:xfrm>
        </p:grpSpPr>
        <p:cxnSp>
          <p:nvCxnSpPr>
            <p:cNvPr id="37" name="Straight Arrow Connector 36">
              <a:extLst>
                <a:ext uri="{FF2B5EF4-FFF2-40B4-BE49-F238E27FC236}">
                  <a16:creationId xmlns:a16="http://schemas.microsoft.com/office/drawing/2014/main" id="{A4EB2B2F-D2A0-5BAF-D192-603B5A8C612D}"/>
                </a:ext>
              </a:extLst>
            </p:cNvPr>
            <p:cNvCxnSpPr>
              <a:cxnSpLocks/>
            </p:cNvCxnSpPr>
            <p:nvPr/>
          </p:nvCxnSpPr>
          <p:spPr>
            <a:xfrm flipV="1">
              <a:off x="5477626" y="1370287"/>
              <a:ext cx="645570" cy="1897475"/>
            </a:xfrm>
            <a:prstGeom prst="straightConnector1">
              <a:avLst/>
            </a:prstGeom>
            <a:ln>
              <a:solidFill>
                <a:srgbClr val="7030A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E5284E24-8B9F-42D0-0EDF-CDB346593E3D}"/>
                </a:ext>
              </a:extLst>
            </p:cNvPr>
            <p:cNvSpPr txBox="1"/>
            <p:nvPr/>
          </p:nvSpPr>
          <p:spPr>
            <a:xfrm>
              <a:off x="2958358" y="2806097"/>
              <a:ext cx="2519268" cy="1200329"/>
            </a:xfrm>
            <a:prstGeom prst="rect">
              <a:avLst/>
            </a:prstGeom>
            <a:noFill/>
            <a:ln>
              <a:solidFill>
                <a:srgbClr val="0070C0"/>
              </a:solidFill>
            </a:ln>
          </p:spPr>
          <p:txBody>
            <a:bodyPr wrap="square" rtlCol="0">
              <a:spAutoFit/>
            </a:bodyPr>
            <a:lstStyle/>
            <a:p>
              <a:r>
                <a:rPr lang="en-US" b="1" dirty="0" err="1">
                  <a:latin typeface="Calibri Light" panose="020F0302020204030204" pitchFamily="34" charset="0"/>
                </a:rPr>
                <a:t>Máy</a:t>
              </a:r>
              <a:r>
                <a:rPr lang="en-US" b="1" dirty="0">
                  <a:latin typeface="Calibri Light" panose="020F0302020204030204" pitchFamily="34" charset="0"/>
                </a:rPr>
                <a:t> </a:t>
              </a:r>
              <a:r>
                <a:rPr lang="en-US" b="1" dirty="0" err="1">
                  <a:latin typeface="Calibri Light" panose="020F0302020204030204" pitchFamily="34" charset="0"/>
                </a:rPr>
                <a:t>đo</a:t>
              </a:r>
              <a:endParaRPr lang="en-US" b="1" dirty="0">
                <a:latin typeface="Calibri Light" panose="020F0302020204030204" pitchFamily="34" charset="0"/>
              </a:endParaRPr>
            </a:p>
            <a:p>
              <a:r>
                <a:rPr lang="en-US" dirty="0">
                  <a:latin typeface="Calibri Light" panose="020F0302020204030204" pitchFamily="34" charset="0"/>
                </a:rPr>
                <a:t>Micro (1)</a:t>
              </a:r>
            </a:p>
            <a:p>
              <a:r>
                <a:rPr lang="en-US" dirty="0" err="1">
                  <a:latin typeface="Calibri Light" panose="020F0302020204030204" pitchFamily="34" charset="0"/>
                </a:rPr>
                <a:t>Cử</a:t>
              </a:r>
              <a:r>
                <a:rPr lang="en-US" dirty="0">
                  <a:latin typeface="Calibri Light" panose="020F0302020204030204" pitchFamily="34" charset="0"/>
                </a:rPr>
                <a:t> </a:t>
              </a:r>
              <a:r>
                <a:rPr lang="en-US" dirty="0" err="1">
                  <a:latin typeface="Calibri Light" panose="020F0302020204030204" pitchFamily="34" charset="0"/>
                </a:rPr>
                <a:t>động</a:t>
              </a:r>
              <a:r>
                <a:rPr lang="en-US" dirty="0">
                  <a:latin typeface="Calibri Light" panose="020F0302020204030204" pitchFamily="34" charset="0"/>
                </a:rPr>
                <a:t> </a:t>
              </a:r>
              <a:r>
                <a:rPr lang="en-US" dirty="0" err="1">
                  <a:latin typeface="Calibri Light" panose="020F0302020204030204" pitchFamily="34" charset="0"/>
                </a:rPr>
                <a:t>ký</a:t>
              </a:r>
              <a:r>
                <a:rPr lang="en-US" dirty="0">
                  <a:latin typeface="Calibri Light" panose="020F0302020204030204" pitchFamily="34" charset="0"/>
                </a:rPr>
                <a:t> (1)</a:t>
              </a:r>
            </a:p>
            <a:p>
              <a:r>
                <a:rPr lang="en-US" dirty="0" err="1">
                  <a:latin typeface="Calibri Light" panose="020F0302020204030204" pitchFamily="34" charset="0"/>
                </a:rPr>
                <a:t>Tư</a:t>
              </a:r>
              <a:r>
                <a:rPr lang="en-US" dirty="0">
                  <a:latin typeface="Calibri Light" panose="020F0302020204030204" pitchFamily="34" charset="0"/>
                </a:rPr>
                <a:t> </a:t>
              </a:r>
              <a:r>
                <a:rPr lang="en-US" dirty="0" err="1">
                  <a:latin typeface="Calibri Light" panose="020F0302020204030204" pitchFamily="34" charset="0"/>
                </a:rPr>
                <a:t>thế</a:t>
              </a:r>
              <a:r>
                <a:rPr lang="en-US" dirty="0">
                  <a:latin typeface="Calibri Light" panose="020F0302020204030204" pitchFamily="34" charset="0"/>
                </a:rPr>
                <a:t> (1)</a:t>
              </a:r>
            </a:p>
          </p:txBody>
        </p:sp>
        <p:cxnSp>
          <p:nvCxnSpPr>
            <p:cNvPr id="117" name="Straight Arrow Connector 116">
              <a:extLst>
                <a:ext uri="{FF2B5EF4-FFF2-40B4-BE49-F238E27FC236}">
                  <a16:creationId xmlns:a16="http://schemas.microsoft.com/office/drawing/2014/main" id="{28B2167F-AA6A-8F66-0F11-DBC67FD80956}"/>
                </a:ext>
              </a:extLst>
            </p:cNvPr>
            <p:cNvCxnSpPr>
              <a:cxnSpLocks/>
              <a:stCxn id="114" idx="1"/>
            </p:cNvCxnSpPr>
            <p:nvPr/>
          </p:nvCxnSpPr>
          <p:spPr>
            <a:xfrm flipH="1" flipV="1">
              <a:off x="1511559" y="2859442"/>
              <a:ext cx="1446799" cy="546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7E1E074D-A688-6FEB-FFA1-37D40721FA1D}"/>
              </a:ext>
            </a:extLst>
          </p:cNvPr>
          <p:cNvGrpSpPr/>
          <p:nvPr/>
        </p:nvGrpSpPr>
        <p:grpSpPr>
          <a:xfrm>
            <a:off x="2071396" y="4417847"/>
            <a:ext cx="4051799" cy="1435511"/>
            <a:chOff x="2071396" y="4417847"/>
            <a:chExt cx="4051799" cy="1435511"/>
          </a:xfrm>
        </p:grpSpPr>
        <p:cxnSp>
          <p:nvCxnSpPr>
            <p:cNvPr id="69" name="Straight Arrow Connector 68">
              <a:extLst>
                <a:ext uri="{FF2B5EF4-FFF2-40B4-BE49-F238E27FC236}">
                  <a16:creationId xmlns:a16="http://schemas.microsoft.com/office/drawing/2014/main" id="{8DF94672-A442-91A7-6C1C-2BED743D23CB}"/>
                </a:ext>
              </a:extLst>
            </p:cNvPr>
            <p:cNvCxnSpPr>
              <a:cxnSpLocks/>
              <a:stCxn id="113" idx="3"/>
            </p:cNvCxnSpPr>
            <p:nvPr/>
          </p:nvCxnSpPr>
          <p:spPr>
            <a:xfrm>
              <a:off x="5477625" y="5162742"/>
              <a:ext cx="645570" cy="690616"/>
            </a:xfrm>
            <a:prstGeom prst="straightConnector1">
              <a:avLst/>
            </a:prstGeom>
            <a:ln>
              <a:solidFill>
                <a:srgbClr val="7030A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80786C80-29F9-FDA2-758F-8CCEBBDA66C8}"/>
                </a:ext>
              </a:extLst>
            </p:cNvPr>
            <p:cNvSpPr txBox="1"/>
            <p:nvPr/>
          </p:nvSpPr>
          <p:spPr>
            <a:xfrm>
              <a:off x="2958358" y="4978076"/>
              <a:ext cx="2519267" cy="369332"/>
            </a:xfrm>
            <a:prstGeom prst="rect">
              <a:avLst/>
            </a:prstGeom>
            <a:noFill/>
            <a:ln>
              <a:solidFill>
                <a:srgbClr val="0070C0"/>
              </a:solidFill>
            </a:ln>
          </p:spPr>
          <p:txBody>
            <a:bodyPr wrap="square" rtlCol="0">
              <a:spAutoFit/>
            </a:bodyPr>
            <a:lstStyle/>
            <a:p>
              <a:r>
                <a:rPr lang="en-US" dirty="0">
                  <a:latin typeface="Calibri Light" panose="020F0302020204030204" pitchFamily="34" charset="0"/>
                </a:rPr>
                <a:t>Oxi </a:t>
              </a:r>
              <a:r>
                <a:rPr lang="en-US" dirty="0" err="1">
                  <a:latin typeface="Calibri Light" panose="020F0302020204030204" pitchFamily="34" charset="0"/>
                </a:rPr>
                <a:t>máu</a:t>
              </a:r>
              <a:r>
                <a:rPr lang="en-US" dirty="0">
                  <a:latin typeface="Calibri Light" panose="020F0302020204030204" pitchFamily="34" charset="0"/>
                </a:rPr>
                <a:t> – </a:t>
              </a:r>
              <a:r>
                <a:rPr lang="en-US" dirty="0" err="1">
                  <a:latin typeface="Calibri Light" panose="020F0302020204030204" pitchFamily="34" charset="0"/>
                </a:rPr>
                <a:t>Nhịp</a:t>
              </a:r>
              <a:r>
                <a:rPr lang="en-US" dirty="0">
                  <a:latin typeface="Calibri Light" panose="020F0302020204030204" pitchFamily="34" charset="0"/>
                </a:rPr>
                <a:t> </a:t>
              </a:r>
              <a:r>
                <a:rPr lang="en-US" dirty="0" err="1">
                  <a:latin typeface="Calibri Light" panose="020F0302020204030204" pitchFamily="34" charset="0"/>
                </a:rPr>
                <a:t>tim</a:t>
              </a:r>
              <a:r>
                <a:rPr lang="en-US" dirty="0">
                  <a:latin typeface="Calibri Light" panose="020F0302020204030204" pitchFamily="34" charset="0"/>
                </a:rPr>
                <a:t> (1)</a:t>
              </a:r>
            </a:p>
          </p:txBody>
        </p:sp>
        <p:cxnSp>
          <p:nvCxnSpPr>
            <p:cNvPr id="118" name="Straight Arrow Connector 117">
              <a:extLst>
                <a:ext uri="{FF2B5EF4-FFF2-40B4-BE49-F238E27FC236}">
                  <a16:creationId xmlns:a16="http://schemas.microsoft.com/office/drawing/2014/main" id="{51385038-80C1-53D7-9FA5-CDC01FCC499C}"/>
                </a:ext>
              </a:extLst>
            </p:cNvPr>
            <p:cNvCxnSpPr>
              <a:cxnSpLocks/>
              <a:stCxn id="113" idx="1"/>
            </p:cNvCxnSpPr>
            <p:nvPr/>
          </p:nvCxnSpPr>
          <p:spPr>
            <a:xfrm flipH="1" flipV="1">
              <a:off x="2071396" y="4417847"/>
              <a:ext cx="886962" cy="74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8B50763F-4006-9934-AFE5-91F2BC4D26EA}"/>
              </a:ext>
            </a:extLst>
          </p:cNvPr>
          <p:cNvGrpSpPr/>
          <p:nvPr/>
        </p:nvGrpSpPr>
        <p:grpSpPr>
          <a:xfrm>
            <a:off x="1791478" y="5576359"/>
            <a:ext cx="4386112" cy="710979"/>
            <a:chOff x="1791478" y="5576359"/>
            <a:chExt cx="4386112" cy="710979"/>
          </a:xfrm>
        </p:grpSpPr>
        <p:cxnSp>
          <p:nvCxnSpPr>
            <p:cNvPr id="39" name="Straight Arrow Connector 38">
              <a:extLst>
                <a:ext uri="{FF2B5EF4-FFF2-40B4-BE49-F238E27FC236}">
                  <a16:creationId xmlns:a16="http://schemas.microsoft.com/office/drawing/2014/main" id="{813EE4DD-404F-7049-5BBC-FE62AC3F97DA}"/>
                </a:ext>
              </a:extLst>
            </p:cNvPr>
            <p:cNvCxnSpPr>
              <a:cxnSpLocks/>
              <a:stCxn id="111" idx="3"/>
            </p:cNvCxnSpPr>
            <p:nvPr/>
          </p:nvCxnSpPr>
          <p:spPr>
            <a:xfrm>
              <a:off x="5486398" y="5761025"/>
              <a:ext cx="691192" cy="526313"/>
            </a:xfrm>
            <a:prstGeom prst="straightConnector1">
              <a:avLst/>
            </a:prstGeom>
            <a:ln>
              <a:solidFill>
                <a:srgbClr val="7030A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6A5DF35B-8FDC-D5F4-C0A9-4D8053A7E7C4}"/>
                </a:ext>
              </a:extLst>
            </p:cNvPr>
            <p:cNvSpPr txBox="1"/>
            <p:nvPr/>
          </p:nvSpPr>
          <p:spPr>
            <a:xfrm>
              <a:off x="2967132" y="5576359"/>
              <a:ext cx="2519266" cy="369332"/>
            </a:xfrm>
            <a:prstGeom prst="rect">
              <a:avLst/>
            </a:prstGeom>
            <a:noFill/>
            <a:ln>
              <a:solidFill>
                <a:srgbClr val="0070C0"/>
              </a:solidFill>
            </a:ln>
          </p:spPr>
          <p:txBody>
            <a:bodyPr wrap="square" rtlCol="0">
              <a:spAutoFit/>
            </a:bodyPr>
            <a:lstStyle/>
            <a:p>
              <a:r>
                <a:rPr lang="en-US" dirty="0" err="1">
                  <a:latin typeface="Calibri Light" panose="020F0302020204030204" pitchFamily="34" charset="0"/>
                </a:rPr>
                <a:t>Điện</a:t>
              </a:r>
              <a:r>
                <a:rPr lang="en-US" dirty="0">
                  <a:latin typeface="Calibri Light" panose="020F0302020204030204" pitchFamily="34" charset="0"/>
                </a:rPr>
                <a:t> </a:t>
              </a:r>
              <a:r>
                <a:rPr lang="en-US" dirty="0" err="1">
                  <a:latin typeface="Calibri Light" panose="020F0302020204030204" pitchFamily="34" charset="0"/>
                </a:rPr>
                <a:t>cơ</a:t>
              </a:r>
              <a:r>
                <a:rPr lang="en-US" dirty="0">
                  <a:latin typeface="Calibri Light" panose="020F0302020204030204" pitchFamily="34" charset="0"/>
                </a:rPr>
                <a:t> </a:t>
              </a:r>
              <a:r>
                <a:rPr lang="en-US" dirty="0" err="1">
                  <a:latin typeface="Calibri Light" panose="020F0302020204030204" pitchFamily="34" charset="0"/>
                </a:rPr>
                <a:t>chân</a:t>
              </a:r>
              <a:r>
                <a:rPr lang="en-US" dirty="0">
                  <a:latin typeface="Calibri Light" panose="020F0302020204030204" pitchFamily="34" charset="0"/>
                </a:rPr>
                <a:t> (4)</a:t>
              </a:r>
            </a:p>
          </p:txBody>
        </p:sp>
        <p:cxnSp>
          <p:nvCxnSpPr>
            <p:cNvPr id="119" name="Straight Arrow Connector 118">
              <a:extLst>
                <a:ext uri="{FF2B5EF4-FFF2-40B4-BE49-F238E27FC236}">
                  <a16:creationId xmlns:a16="http://schemas.microsoft.com/office/drawing/2014/main" id="{B6E7D66F-81EC-5523-C78A-59DF439E06FD}"/>
                </a:ext>
              </a:extLst>
            </p:cNvPr>
            <p:cNvCxnSpPr>
              <a:cxnSpLocks/>
              <a:stCxn id="111" idx="1"/>
            </p:cNvCxnSpPr>
            <p:nvPr/>
          </p:nvCxnSpPr>
          <p:spPr>
            <a:xfrm flipH="1" flipV="1">
              <a:off x="1791478" y="5576359"/>
              <a:ext cx="1175654"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181D8677-CA30-4470-0296-D65AB05892B1}"/>
              </a:ext>
            </a:extLst>
          </p:cNvPr>
          <p:cNvGrpSpPr/>
          <p:nvPr/>
        </p:nvGrpSpPr>
        <p:grpSpPr>
          <a:xfrm>
            <a:off x="1791478" y="3275045"/>
            <a:ext cx="4386112" cy="1372976"/>
            <a:chOff x="1791478" y="3275045"/>
            <a:chExt cx="4386112" cy="1372976"/>
          </a:xfrm>
        </p:grpSpPr>
        <p:cxnSp>
          <p:nvCxnSpPr>
            <p:cNvPr id="63" name="Straight Arrow Connector 62">
              <a:extLst>
                <a:ext uri="{FF2B5EF4-FFF2-40B4-BE49-F238E27FC236}">
                  <a16:creationId xmlns:a16="http://schemas.microsoft.com/office/drawing/2014/main" id="{0AE267AE-1554-AC24-D094-3D976C3DE2AC}"/>
                </a:ext>
              </a:extLst>
            </p:cNvPr>
            <p:cNvCxnSpPr>
              <a:cxnSpLocks/>
              <a:stCxn id="121" idx="3"/>
            </p:cNvCxnSpPr>
            <p:nvPr/>
          </p:nvCxnSpPr>
          <p:spPr>
            <a:xfrm>
              <a:off x="5477626" y="4287410"/>
              <a:ext cx="699964" cy="360611"/>
            </a:xfrm>
            <a:prstGeom prst="straightConnector1">
              <a:avLst/>
            </a:prstGeom>
            <a:ln>
              <a:solidFill>
                <a:srgbClr val="7030A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9BE0B866-41DB-6F0D-B811-5E9C8B80E3E2}"/>
                </a:ext>
              </a:extLst>
            </p:cNvPr>
            <p:cNvSpPr txBox="1"/>
            <p:nvPr/>
          </p:nvSpPr>
          <p:spPr>
            <a:xfrm>
              <a:off x="2958360" y="4102744"/>
              <a:ext cx="2519266" cy="369332"/>
            </a:xfrm>
            <a:prstGeom prst="rect">
              <a:avLst/>
            </a:prstGeom>
            <a:noFill/>
            <a:ln>
              <a:solidFill>
                <a:srgbClr val="0070C0"/>
              </a:solidFill>
            </a:ln>
          </p:spPr>
          <p:txBody>
            <a:bodyPr wrap="square" rtlCol="0">
              <a:spAutoFit/>
            </a:bodyPr>
            <a:lstStyle/>
            <a:p>
              <a:r>
                <a:rPr lang="en-US" dirty="0" err="1">
                  <a:latin typeface="Calibri Light" panose="020F0302020204030204" pitchFamily="34" charset="0"/>
                </a:rPr>
                <a:t>Điện</a:t>
              </a:r>
              <a:r>
                <a:rPr lang="en-US" dirty="0">
                  <a:latin typeface="Calibri Light" panose="020F0302020204030204" pitchFamily="34" charset="0"/>
                </a:rPr>
                <a:t> </a:t>
              </a:r>
              <a:r>
                <a:rPr lang="en-US" dirty="0" err="1">
                  <a:latin typeface="Calibri Light" panose="020F0302020204030204" pitchFamily="34" charset="0"/>
                </a:rPr>
                <a:t>tim</a:t>
              </a:r>
              <a:r>
                <a:rPr lang="en-US" dirty="0">
                  <a:latin typeface="Calibri Light" panose="020F0302020204030204" pitchFamily="34" charset="0"/>
                </a:rPr>
                <a:t> (2)</a:t>
              </a:r>
            </a:p>
          </p:txBody>
        </p:sp>
        <p:cxnSp>
          <p:nvCxnSpPr>
            <p:cNvPr id="122" name="Straight Arrow Connector 121">
              <a:extLst>
                <a:ext uri="{FF2B5EF4-FFF2-40B4-BE49-F238E27FC236}">
                  <a16:creationId xmlns:a16="http://schemas.microsoft.com/office/drawing/2014/main" id="{53ADE64A-E962-D103-35E6-0212A4E4EEEE}"/>
                </a:ext>
              </a:extLst>
            </p:cNvPr>
            <p:cNvCxnSpPr>
              <a:cxnSpLocks/>
              <a:stCxn id="121" idx="1"/>
            </p:cNvCxnSpPr>
            <p:nvPr/>
          </p:nvCxnSpPr>
          <p:spPr>
            <a:xfrm flipH="1" flipV="1">
              <a:off x="1791478" y="3275045"/>
              <a:ext cx="1166882" cy="10123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ADE53B2C-B64B-959F-6F27-E2ADC96660EE}"/>
              </a:ext>
            </a:extLst>
          </p:cNvPr>
          <p:cNvGrpSpPr/>
          <p:nvPr/>
        </p:nvGrpSpPr>
        <p:grpSpPr>
          <a:xfrm>
            <a:off x="1576874" y="3844304"/>
            <a:ext cx="4600716" cy="1608809"/>
            <a:chOff x="1576874" y="3844304"/>
            <a:chExt cx="4600716" cy="1608809"/>
          </a:xfrm>
        </p:grpSpPr>
        <p:cxnSp>
          <p:nvCxnSpPr>
            <p:cNvPr id="38" name="Straight Arrow Connector 37">
              <a:extLst>
                <a:ext uri="{FF2B5EF4-FFF2-40B4-BE49-F238E27FC236}">
                  <a16:creationId xmlns:a16="http://schemas.microsoft.com/office/drawing/2014/main" id="{DCC5FBAF-9493-6ECB-DCFF-50A31A876B92}"/>
                </a:ext>
              </a:extLst>
            </p:cNvPr>
            <p:cNvCxnSpPr>
              <a:cxnSpLocks/>
              <a:stCxn id="123" idx="3"/>
            </p:cNvCxnSpPr>
            <p:nvPr/>
          </p:nvCxnSpPr>
          <p:spPr>
            <a:xfrm>
              <a:off x="5477625" y="4725759"/>
              <a:ext cx="699965" cy="727354"/>
            </a:xfrm>
            <a:prstGeom prst="straightConnector1">
              <a:avLst/>
            </a:prstGeom>
            <a:ln>
              <a:solidFill>
                <a:srgbClr val="7030A0"/>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879DA2C5-D6A2-63FC-C571-DF82950BFBC4}"/>
                </a:ext>
              </a:extLst>
            </p:cNvPr>
            <p:cNvCxnSpPr>
              <a:cxnSpLocks/>
              <a:stCxn id="123" idx="1"/>
            </p:cNvCxnSpPr>
            <p:nvPr/>
          </p:nvCxnSpPr>
          <p:spPr>
            <a:xfrm flipH="1" flipV="1">
              <a:off x="1576874" y="3844304"/>
              <a:ext cx="1381484" cy="8814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F9BF3938-0808-CB76-A014-4656B1C23184}"/>
                </a:ext>
              </a:extLst>
            </p:cNvPr>
            <p:cNvSpPr txBox="1"/>
            <p:nvPr/>
          </p:nvSpPr>
          <p:spPr>
            <a:xfrm>
              <a:off x="2958358" y="4541093"/>
              <a:ext cx="2519267" cy="369332"/>
            </a:xfrm>
            <a:prstGeom prst="rect">
              <a:avLst/>
            </a:prstGeom>
            <a:noFill/>
            <a:ln>
              <a:solidFill>
                <a:srgbClr val="0070C0"/>
              </a:solidFill>
            </a:ln>
          </p:spPr>
          <p:txBody>
            <a:bodyPr wrap="square" rtlCol="0">
              <a:spAutoFit/>
            </a:bodyPr>
            <a:lstStyle/>
            <a:p>
              <a:r>
                <a:rPr lang="en-US" dirty="0" err="1">
                  <a:latin typeface="Calibri Light" panose="020F0302020204030204" pitchFamily="34" charset="0"/>
                </a:rPr>
                <a:t>Dây</a:t>
              </a:r>
              <a:r>
                <a:rPr lang="en-US" dirty="0">
                  <a:latin typeface="Calibri Light" panose="020F0302020204030204" pitchFamily="34" charset="0"/>
                </a:rPr>
                <a:t> </a:t>
              </a:r>
              <a:r>
                <a:rPr lang="en-US" dirty="0" err="1">
                  <a:latin typeface="Calibri Light" panose="020F0302020204030204" pitchFamily="34" charset="0"/>
                </a:rPr>
                <a:t>đai</a:t>
              </a:r>
              <a:r>
                <a:rPr lang="en-US" dirty="0">
                  <a:latin typeface="Calibri Light" panose="020F0302020204030204" pitchFamily="34" charset="0"/>
                </a:rPr>
                <a:t> </a:t>
              </a:r>
              <a:r>
                <a:rPr lang="en-US" dirty="0" err="1">
                  <a:latin typeface="Calibri Light" panose="020F0302020204030204" pitchFamily="34" charset="0"/>
                </a:rPr>
                <a:t>ngực</a:t>
              </a:r>
              <a:r>
                <a:rPr lang="en-US" dirty="0">
                  <a:latin typeface="Calibri Light" panose="020F0302020204030204" pitchFamily="34" charset="0"/>
                </a:rPr>
                <a:t> – </a:t>
              </a:r>
              <a:r>
                <a:rPr lang="en-US" dirty="0" err="1">
                  <a:latin typeface="Calibri Light" panose="020F0302020204030204" pitchFamily="34" charset="0"/>
                </a:rPr>
                <a:t>bụng</a:t>
              </a:r>
              <a:r>
                <a:rPr lang="en-US" dirty="0">
                  <a:latin typeface="Calibri Light" panose="020F0302020204030204" pitchFamily="34" charset="0"/>
                </a:rPr>
                <a:t> (2)</a:t>
              </a:r>
            </a:p>
          </p:txBody>
        </p:sp>
      </p:grpSp>
    </p:spTree>
    <p:extLst>
      <p:ext uri="{BB962C8B-B14F-4D97-AF65-F5344CB8AC3E}">
        <p14:creationId xmlns:p14="http://schemas.microsoft.com/office/powerpoint/2010/main" val="1563293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844C0-A8B1-4375-8023-ED97A22A2280}"/>
              </a:ext>
            </a:extLst>
          </p:cNvPr>
          <p:cNvSpPr>
            <a:spLocks noGrp="1"/>
          </p:cNvSpPr>
          <p:nvPr>
            <p:ph type="title"/>
          </p:nvPr>
        </p:nvSpPr>
        <p:spPr/>
        <p:txBody>
          <a:bodyPr>
            <a:normAutofit/>
          </a:bodyPr>
          <a:lstStyle/>
          <a:p>
            <a:r>
              <a:rPr lang="en-US" sz="3200"/>
              <a:t>Xác định sự kiện</a:t>
            </a:r>
          </a:p>
        </p:txBody>
      </p:sp>
      <p:grpSp>
        <p:nvGrpSpPr>
          <p:cNvPr id="4" name="Group 3">
            <a:extLst>
              <a:ext uri="{FF2B5EF4-FFF2-40B4-BE49-F238E27FC236}">
                <a16:creationId xmlns:a16="http://schemas.microsoft.com/office/drawing/2014/main" id="{320C09F8-DF9D-8B34-C34C-182B9C718812}"/>
              </a:ext>
            </a:extLst>
          </p:cNvPr>
          <p:cNvGrpSpPr/>
          <p:nvPr/>
        </p:nvGrpSpPr>
        <p:grpSpPr>
          <a:xfrm>
            <a:off x="5486400" y="1508786"/>
            <a:ext cx="3099437" cy="646331"/>
            <a:chOff x="5486400" y="1508786"/>
            <a:chExt cx="3099437" cy="646331"/>
          </a:xfrm>
        </p:grpSpPr>
        <p:sp>
          <p:nvSpPr>
            <p:cNvPr id="30" name="TextBox 29">
              <a:extLst>
                <a:ext uri="{FF2B5EF4-FFF2-40B4-BE49-F238E27FC236}">
                  <a16:creationId xmlns:a16="http://schemas.microsoft.com/office/drawing/2014/main" id="{E756C586-99E2-1C37-4ED3-55621BE80170}"/>
                </a:ext>
              </a:extLst>
            </p:cNvPr>
            <p:cNvSpPr txBox="1"/>
            <p:nvPr/>
          </p:nvSpPr>
          <p:spPr>
            <a:xfrm>
              <a:off x="6066569" y="1508786"/>
              <a:ext cx="2519268" cy="646331"/>
            </a:xfrm>
            <a:prstGeom prst="rect">
              <a:avLst/>
            </a:prstGeom>
            <a:noFill/>
            <a:ln>
              <a:solidFill>
                <a:srgbClr val="7030A0"/>
              </a:solidFill>
            </a:ln>
          </p:spPr>
          <p:txBody>
            <a:bodyPr wrap="square" rtlCol="0">
              <a:spAutoFit/>
            </a:bodyPr>
            <a:lstStyle/>
            <a:p>
              <a:r>
                <a:rPr lang="en-US" dirty="0" err="1">
                  <a:latin typeface="Calibri Light" panose="020F0302020204030204" pitchFamily="34" charset="0"/>
                </a:rPr>
                <a:t>Xác</a:t>
              </a:r>
              <a:r>
                <a:rPr lang="en-US" dirty="0">
                  <a:latin typeface="Calibri Light" panose="020F0302020204030204" pitchFamily="34" charset="0"/>
                </a:rPr>
                <a:t> </a:t>
              </a:r>
              <a:r>
                <a:rPr lang="en-US" dirty="0" err="1">
                  <a:latin typeface="Calibri Light" panose="020F0302020204030204" pitchFamily="34" charset="0"/>
                </a:rPr>
                <a:t>định</a:t>
              </a:r>
              <a:r>
                <a:rPr lang="en-US" dirty="0">
                  <a:latin typeface="Calibri Light" panose="020F0302020204030204" pitchFamily="34" charset="0"/>
                </a:rPr>
                <a:t> W/N1,2,3/REM</a:t>
              </a:r>
            </a:p>
            <a:p>
              <a:r>
                <a:rPr lang="en-US" dirty="0">
                  <a:latin typeface="Calibri Light" panose="020F0302020204030204" pitchFamily="34" charset="0"/>
                </a:rPr>
                <a:t>Vi </a:t>
              </a:r>
              <a:r>
                <a:rPr lang="en-US" dirty="0" err="1">
                  <a:latin typeface="Calibri Light" panose="020F0302020204030204" pitchFamily="34" charset="0"/>
                </a:rPr>
                <a:t>thức</a:t>
              </a:r>
              <a:r>
                <a:rPr lang="en-US" dirty="0">
                  <a:latin typeface="Calibri Light" panose="020F0302020204030204" pitchFamily="34" charset="0"/>
                </a:rPr>
                <a:t> </a:t>
              </a:r>
              <a:r>
                <a:rPr lang="en-US" dirty="0" err="1">
                  <a:latin typeface="Calibri Light" panose="020F0302020204030204" pitchFamily="34" charset="0"/>
                </a:rPr>
                <a:t>giấc</a:t>
              </a:r>
              <a:endParaRPr lang="en-US" dirty="0">
                <a:latin typeface="Calibri Light" panose="020F0302020204030204" pitchFamily="34" charset="0"/>
              </a:endParaRPr>
            </a:p>
          </p:txBody>
        </p:sp>
        <p:cxnSp>
          <p:nvCxnSpPr>
            <p:cNvPr id="35" name="Straight Arrow Connector 34">
              <a:extLst>
                <a:ext uri="{FF2B5EF4-FFF2-40B4-BE49-F238E27FC236}">
                  <a16:creationId xmlns:a16="http://schemas.microsoft.com/office/drawing/2014/main" id="{798936A9-E300-6162-2263-863153680F57}"/>
                </a:ext>
              </a:extLst>
            </p:cNvPr>
            <p:cNvCxnSpPr>
              <a:cxnSpLocks/>
              <a:endCxn id="30" idx="1"/>
            </p:cNvCxnSpPr>
            <p:nvPr/>
          </p:nvCxnSpPr>
          <p:spPr>
            <a:xfrm flipV="1">
              <a:off x="5486400" y="1831952"/>
              <a:ext cx="580169" cy="12286"/>
            </a:xfrm>
            <a:prstGeom prst="straightConnector1">
              <a:avLst/>
            </a:prstGeom>
            <a:ln>
              <a:solidFill>
                <a:srgbClr val="7030A0"/>
              </a:solidFill>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5" name="Group 4">
            <a:extLst>
              <a:ext uri="{FF2B5EF4-FFF2-40B4-BE49-F238E27FC236}">
                <a16:creationId xmlns:a16="http://schemas.microsoft.com/office/drawing/2014/main" id="{4801C63A-6834-38B4-2527-7C3BDAD1AE92}"/>
              </a:ext>
            </a:extLst>
          </p:cNvPr>
          <p:cNvGrpSpPr/>
          <p:nvPr/>
        </p:nvGrpSpPr>
        <p:grpSpPr>
          <a:xfrm>
            <a:off x="5477628" y="2377448"/>
            <a:ext cx="3108209" cy="369332"/>
            <a:chOff x="5477628" y="2377448"/>
            <a:chExt cx="3108209" cy="369332"/>
          </a:xfrm>
        </p:grpSpPr>
        <p:sp>
          <p:nvSpPr>
            <p:cNvPr id="32" name="TextBox 31">
              <a:extLst>
                <a:ext uri="{FF2B5EF4-FFF2-40B4-BE49-F238E27FC236}">
                  <a16:creationId xmlns:a16="http://schemas.microsoft.com/office/drawing/2014/main" id="{35AEDC64-8B26-D3D3-7BFC-B7D255433AE3}"/>
                </a:ext>
              </a:extLst>
            </p:cNvPr>
            <p:cNvSpPr txBox="1"/>
            <p:nvPr/>
          </p:nvSpPr>
          <p:spPr>
            <a:xfrm>
              <a:off x="6066569" y="2377448"/>
              <a:ext cx="2519268" cy="369332"/>
            </a:xfrm>
            <a:prstGeom prst="rect">
              <a:avLst/>
            </a:prstGeom>
            <a:noFill/>
            <a:ln>
              <a:solidFill>
                <a:srgbClr val="7030A0"/>
              </a:solidFill>
            </a:ln>
          </p:spPr>
          <p:txBody>
            <a:bodyPr wrap="square" rtlCol="0">
              <a:spAutoFit/>
            </a:bodyPr>
            <a:lstStyle/>
            <a:p>
              <a:r>
                <a:rPr lang="en-US" dirty="0" err="1">
                  <a:latin typeface="Calibri Light" panose="020F0302020204030204" pitchFamily="34" charset="0"/>
                </a:rPr>
                <a:t>Ngưng</a:t>
              </a:r>
              <a:r>
                <a:rPr lang="en-US" dirty="0">
                  <a:latin typeface="Calibri Light" panose="020F0302020204030204" pitchFamily="34" charset="0"/>
                </a:rPr>
                <a:t> </a:t>
              </a:r>
              <a:r>
                <a:rPr lang="en-US" dirty="0" err="1">
                  <a:latin typeface="Calibri Light" panose="020F0302020204030204" pitchFamily="34" charset="0"/>
                </a:rPr>
                <a:t>thở</a:t>
              </a:r>
              <a:r>
                <a:rPr lang="en-US" dirty="0">
                  <a:latin typeface="Calibri Light" panose="020F0302020204030204" pitchFamily="34" charset="0"/>
                </a:rPr>
                <a:t> - </a:t>
              </a:r>
              <a:r>
                <a:rPr lang="en-US" dirty="0" err="1">
                  <a:latin typeface="Calibri Light" panose="020F0302020204030204" pitchFamily="34" charset="0"/>
                </a:rPr>
                <a:t>Giảm</a:t>
              </a:r>
              <a:r>
                <a:rPr lang="en-US" dirty="0">
                  <a:latin typeface="Calibri Light" panose="020F0302020204030204" pitchFamily="34" charset="0"/>
                </a:rPr>
                <a:t> </a:t>
              </a:r>
              <a:r>
                <a:rPr lang="en-US" dirty="0" err="1">
                  <a:latin typeface="Calibri Light" panose="020F0302020204030204" pitchFamily="34" charset="0"/>
                </a:rPr>
                <a:t>thở</a:t>
              </a:r>
              <a:endParaRPr lang="en-US" dirty="0">
                <a:latin typeface="Calibri Light" panose="020F0302020204030204" pitchFamily="34" charset="0"/>
              </a:endParaRPr>
            </a:p>
          </p:txBody>
        </p:sp>
        <p:cxnSp>
          <p:nvCxnSpPr>
            <p:cNvPr id="36" name="Straight Arrow Connector 35">
              <a:extLst>
                <a:ext uri="{FF2B5EF4-FFF2-40B4-BE49-F238E27FC236}">
                  <a16:creationId xmlns:a16="http://schemas.microsoft.com/office/drawing/2014/main" id="{40FCA3F7-27B1-35AF-E80E-DE5AB9A02037}"/>
                </a:ext>
              </a:extLst>
            </p:cNvPr>
            <p:cNvCxnSpPr>
              <a:cxnSpLocks/>
              <a:endCxn id="32" idx="1"/>
            </p:cNvCxnSpPr>
            <p:nvPr/>
          </p:nvCxnSpPr>
          <p:spPr>
            <a:xfrm flipV="1">
              <a:off x="5477628" y="2562114"/>
              <a:ext cx="588941" cy="591"/>
            </a:xfrm>
            <a:prstGeom prst="straightConnector1">
              <a:avLst/>
            </a:prstGeom>
            <a:ln>
              <a:solidFill>
                <a:srgbClr val="7030A0"/>
              </a:solidFill>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532A1484-5417-B67C-6D30-F4703F0F78B6}"/>
              </a:ext>
            </a:extLst>
          </p:cNvPr>
          <p:cNvGrpSpPr/>
          <p:nvPr/>
        </p:nvGrpSpPr>
        <p:grpSpPr>
          <a:xfrm>
            <a:off x="5477626" y="2859442"/>
            <a:ext cx="3108211" cy="923330"/>
            <a:chOff x="5477626" y="2859442"/>
            <a:chExt cx="3108211" cy="923330"/>
          </a:xfrm>
        </p:grpSpPr>
        <p:sp>
          <p:nvSpPr>
            <p:cNvPr id="34" name="TextBox 33">
              <a:extLst>
                <a:ext uri="{FF2B5EF4-FFF2-40B4-BE49-F238E27FC236}">
                  <a16:creationId xmlns:a16="http://schemas.microsoft.com/office/drawing/2014/main" id="{A8C2EF33-D778-6FCE-B623-E39C696FAAA0}"/>
                </a:ext>
              </a:extLst>
            </p:cNvPr>
            <p:cNvSpPr txBox="1"/>
            <p:nvPr/>
          </p:nvSpPr>
          <p:spPr>
            <a:xfrm>
              <a:off x="6066569" y="2859442"/>
              <a:ext cx="2519268" cy="923330"/>
            </a:xfrm>
            <a:prstGeom prst="rect">
              <a:avLst/>
            </a:prstGeom>
            <a:noFill/>
            <a:ln>
              <a:solidFill>
                <a:srgbClr val="7030A0"/>
              </a:solidFill>
            </a:ln>
          </p:spPr>
          <p:txBody>
            <a:bodyPr wrap="square" rtlCol="0">
              <a:spAutoFit/>
            </a:bodyPr>
            <a:lstStyle/>
            <a:p>
              <a:r>
                <a:rPr lang="en-US" dirty="0" err="1">
                  <a:latin typeface="Calibri Light" panose="020F0302020204030204" pitchFamily="34" charset="0"/>
                </a:rPr>
                <a:t>Ngáy</a:t>
              </a:r>
              <a:endParaRPr lang="en-US" dirty="0">
                <a:latin typeface="Calibri Light" panose="020F0302020204030204" pitchFamily="34" charset="0"/>
              </a:endParaRPr>
            </a:p>
            <a:p>
              <a:r>
                <a:rPr lang="en-US" dirty="0" err="1">
                  <a:latin typeface="Calibri Light" panose="020F0302020204030204" pitchFamily="34" charset="0"/>
                </a:rPr>
                <a:t>Cử</a:t>
              </a:r>
              <a:r>
                <a:rPr lang="en-US" dirty="0">
                  <a:latin typeface="Calibri Light" panose="020F0302020204030204" pitchFamily="34" charset="0"/>
                </a:rPr>
                <a:t> </a:t>
              </a:r>
              <a:r>
                <a:rPr lang="en-US" dirty="0" err="1">
                  <a:latin typeface="Calibri Light" panose="020F0302020204030204" pitchFamily="34" charset="0"/>
                </a:rPr>
                <a:t>động</a:t>
              </a:r>
              <a:r>
                <a:rPr lang="en-US" dirty="0">
                  <a:latin typeface="Calibri Light" panose="020F0302020204030204" pitchFamily="34" charset="0"/>
                </a:rPr>
                <a:t> </a:t>
              </a:r>
              <a:r>
                <a:rPr lang="en-US" dirty="0" err="1">
                  <a:latin typeface="Calibri Light" panose="020F0302020204030204" pitchFamily="34" charset="0"/>
                </a:rPr>
                <a:t>cơ</a:t>
              </a:r>
              <a:r>
                <a:rPr lang="en-US" dirty="0">
                  <a:latin typeface="Calibri Light" panose="020F0302020204030204" pitchFamily="34" charset="0"/>
                </a:rPr>
                <a:t> </a:t>
              </a:r>
              <a:r>
                <a:rPr lang="en-US" dirty="0" err="1">
                  <a:latin typeface="Calibri Light" panose="020F0302020204030204" pitchFamily="34" charset="0"/>
                </a:rPr>
                <a:t>thể</a:t>
              </a:r>
              <a:endParaRPr lang="en-US" dirty="0">
                <a:latin typeface="Calibri Light" panose="020F0302020204030204" pitchFamily="34" charset="0"/>
              </a:endParaRPr>
            </a:p>
            <a:p>
              <a:r>
                <a:rPr lang="en-US" dirty="0" err="1">
                  <a:latin typeface="Calibri Light" panose="020F0302020204030204" pitchFamily="34" charset="0"/>
                </a:rPr>
                <a:t>Tư</a:t>
              </a:r>
              <a:r>
                <a:rPr lang="en-US" dirty="0">
                  <a:latin typeface="Calibri Light" panose="020F0302020204030204" pitchFamily="34" charset="0"/>
                </a:rPr>
                <a:t> </a:t>
              </a:r>
              <a:r>
                <a:rPr lang="en-US" dirty="0" err="1">
                  <a:latin typeface="Calibri Light" panose="020F0302020204030204" pitchFamily="34" charset="0"/>
                </a:rPr>
                <a:t>thế</a:t>
              </a:r>
              <a:endParaRPr lang="en-US" dirty="0">
                <a:latin typeface="Calibri Light" panose="020F0302020204030204" pitchFamily="34" charset="0"/>
              </a:endParaRPr>
            </a:p>
          </p:txBody>
        </p:sp>
        <p:cxnSp>
          <p:nvCxnSpPr>
            <p:cNvPr id="37" name="Straight Arrow Connector 36">
              <a:extLst>
                <a:ext uri="{FF2B5EF4-FFF2-40B4-BE49-F238E27FC236}">
                  <a16:creationId xmlns:a16="http://schemas.microsoft.com/office/drawing/2014/main" id="{A4EB2B2F-D2A0-5BAF-D192-603B5A8C612D}"/>
                </a:ext>
              </a:extLst>
            </p:cNvPr>
            <p:cNvCxnSpPr>
              <a:cxnSpLocks/>
              <a:stCxn id="27" idx="3"/>
              <a:endCxn id="34" idx="1"/>
            </p:cNvCxnSpPr>
            <p:nvPr/>
          </p:nvCxnSpPr>
          <p:spPr>
            <a:xfrm flipV="1">
              <a:off x="5477626" y="3321107"/>
              <a:ext cx="588943" cy="85155"/>
            </a:xfrm>
            <a:prstGeom prst="straightConnector1">
              <a:avLst/>
            </a:prstGeom>
            <a:ln>
              <a:solidFill>
                <a:srgbClr val="7030A0"/>
              </a:solidFill>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59181C82-8737-32A0-12BC-1F067FFC0569}"/>
              </a:ext>
            </a:extLst>
          </p:cNvPr>
          <p:cNvGrpSpPr/>
          <p:nvPr/>
        </p:nvGrpSpPr>
        <p:grpSpPr>
          <a:xfrm>
            <a:off x="5477625" y="4337966"/>
            <a:ext cx="3108212" cy="387793"/>
            <a:chOff x="5477625" y="4337966"/>
            <a:chExt cx="3108212" cy="387793"/>
          </a:xfrm>
        </p:grpSpPr>
        <p:sp>
          <p:nvSpPr>
            <p:cNvPr id="33" name="TextBox 32">
              <a:extLst>
                <a:ext uri="{FF2B5EF4-FFF2-40B4-BE49-F238E27FC236}">
                  <a16:creationId xmlns:a16="http://schemas.microsoft.com/office/drawing/2014/main" id="{B75744E2-C75B-7730-F17B-F5A7E8ACD0AD}"/>
                </a:ext>
              </a:extLst>
            </p:cNvPr>
            <p:cNvSpPr txBox="1"/>
            <p:nvPr/>
          </p:nvSpPr>
          <p:spPr>
            <a:xfrm>
              <a:off x="6066570" y="4337966"/>
              <a:ext cx="2519267" cy="369332"/>
            </a:xfrm>
            <a:prstGeom prst="rect">
              <a:avLst/>
            </a:prstGeom>
            <a:noFill/>
            <a:ln>
              <a:solidFill>
                <a:srgbClr val="7030A0"/>
              </a:solidFill>
            </a:ln>
          </p:spPr>
          <p:txBody>
            <a:bodyPr wrap="square" rtlCol="0">
              <a:spAutoFit/>
            </a:bodyPr>
            <a:lstStyle/>
            <a:p>
              <a:r>
                <a:rPr lang="en-US" dirty="0" err="1">
                  <a:latin typeface="Calibri Light" panose="020F0302020204030204" pitchFamily="34" charset="0"/>
                </a:rPr>
                <a:t>Loại</a:t>
              </a:r>
              <a:r>
                <a:rPr lang="en-US" dirty="0">
                  <a:latin typeface="Calibri Light" panose="020F0302020204030204" pitchFamily="34" charset="0"/>
                </a:rPr>
                <a:t> </a:t>
              </a:r>
              <a:r>
                <a:rPr lang="en-US" dirty="0" err="1">
                  <a:latin typeface="Calibri Light" panose="020F0302020204030204" pitchFamily="34" charset="0"/>
                </a:rPr>
                <a:t>ngưng</a:t>
              </a:r>
              <a:r>
                <a:rPr lang="en-US" dirty="0">
                  <a:latin typeface="Calibri Light" panose="020F0302020204030204" pitchFamily="34" charset="0"/>
                </a:rPr>
                <a:t> </a:t>
              </a:r>
              <a:r>
                <a:rPr lang="en-US" dirty="0" err="1">
                  <a:latin typeface="Calibri Light" panose="020F0302020204030204" pitchFamily="34" charset="0"/>
                </a:rPr>
                <a:t>thở</a:t>
              </a:r>
              <a:endParaRPr lang="en-US" dirty="0">
                <a:latin typeface="Calibri Light" panose="020F0302020204030204" pitchFamily="34" charset="0"/>
              </a:endParaRPr>
            </a:p>
          </p:txBody>
        </p:sp>
        <p:cxnSp>
          <p:nvCxnSpPr>
            <p:cNvPr id="38" name="Straight Arrow Connector 37">
              <a:extLst>
                <a:ext uri="{FF2B5EF4-FFF2-40B4-BE49-F238E27FC236}">
                  <a16:creationId xmlns:a16="http://schemas.microsoft.com/office/drawing/2014/main" id="{DCC5FBAF-9493-6ECB-DCFF-50A31A876B92}"/>
                </a:ext>
              </a:extLst>
            </p:cNvPr>
            <p:cNvCxnSpPr>
              <a:cxnSpLocks/>
              <a:stCxn id="48" idx="3"/>
              <a:endCxn id="33" idx="1"/>
            </p:cNvCxnSpPr>
            <p:nvPr/>
          </p:nvCxnSpPr>
          <p:spPr>
            <a:xfrm flipV="1">
              <a:off x="5477625" y="4522632"/>
              <a:ext cx="588945" cy="203127"/>
            </a:xfrm>
            <a:prstGeom prst="straightConnector1">
              <a:avLst/>
            </a:prstGeom>
            <a:ln>
              <a:solidFill>
                <a:srgbClr val="7030A0"/>
              </a:solidFill>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3A73DC5F-AAE0-C3CB-3903-39009BFBE3D3}"/>
              </a:ext>
            </a:extLst>
          </p:cNvPr>
          <p:cNvGrpSpPr/>
          <p:nvPr/>
        </p:nvGrpSpPr>
        <p:grpSpPr>
          <a:xfrm>
            <a:off x="5477625" y="5259714"/>
            <a:ext cx="3108210" cy="517732"/>
            <a:chOff x="5477625" y="5259714"/>
            <a:chExt cx="3108210" cy="517732"/>
          </a:xfrm>
        </p:grpSpPr>
        <p:sp>
          <p:nvSpPr>
            <p:cNvPr id="31" name="TextBox 30">
              <a:extLst>
                <a:ext uri="{FF2B5EF4-FFF2-40B4-BE49-F238E27FC236}">
                  <a16:creationId xmlns:a16="http://schemas.microsoft.com/office/drawing/2014/main" id="{AC0BEEF2-91FC-FA1F-1CF5-72354C46AECE}"/>
                </a:ext>
              </a:extLst>
            </p:cNvPr>
            <p:cNvSpPr txBox="1"/>
            <p:nvPr/>
          </p:nvSpPr>
          <p:spPr>
            <a:xfrm>
              <a:off x="6066569" y="5259714"/>
              <a:ext cx="2519266" cy="369332"/>
            </a:xfrm>
            <a:prstGeom prst="rect">
              <a:avLst/>
            </a:prstGeom>
            <a:noFill/>
            <a:ln>
              <a:solidFill>
                <a:srgbClr val="7030A0"/>
              </a:solidFill>
            </a:ln>
          </p:spPr>
          <p:txBody>
            <a:bodyPr wrap="square" rtlCol="0">
              <a:spAutoFit/>
            </a:bodyPr>
            <a:lstStyle/>
            <a:p>
              <a:r>
                <a:rPr lang="en-US" dirty="0" err="1">
                  <a:latin typeface="Calibri Light" panose="020F0302020204030204" pitchFamily="34" charset="0"/>
                </a:rPr>
                <a:t>Rối</a:t>
              </a:r>
              <a:r>
                <a:rPr lang="en-US" dirty="0">
                  <a:latin typeface="Calibri Light" panose="020F0302020204030204" pitchFamily="34" charset="0"/>
                </a:rPr>
                <a:t> </a:t>
              </a:r>
              <a:r>
                <a:rPr lang="en-US" dirty="0" err="1">
                  <a:latin typeface="Calibri Light" panose="020F0302020204030204" pitchFamily="34" charset="0"/>
                </a:rPr>
                <a:t>loạn</a:t>
              </a:r>
              <a:r>
                <a:rPr lang="en-US" dirty="0">
                  <a:latin typeface="Calibri Light" panose="020F0302020204030204" pitchFamily="34" charset="0"/>
                </a:rPr>
                <a:t> </a:t>
              </a:r>
              <a:r>
                <a:rPr lang="en-US" dirty="0" err="1">
                  <a:latin typeface="Calibri Light" panose="020F0302020204030204" pitchFamily="34" charset="0"/>
                </a:rPr>
                <a:t>cử</a:t>
              </a:r>
              <a:r>
                <a:rPr lang="en-US" dirty="0">
                  <a:latin typeface="Calibri Light" panose="020F0302020204030204" pitchFamily="34" charset="0"/>
                </a:rPr>
                <a:t> </a:t>
              </a:r>
              <a:r>
                <a:rPr lang="en-US" dirty="0" err="1">
                  <a:latin typeface="Calibri Light" panose="020F0302020204030204" pitchFamily="34" charset="0"/>
                </a:rPr>
                <a:t>động</a:t>
              </a:r>
              <a:r>
                <a:rPr lang="en-US" dirty="0">
                  <a:latin typeface="Calibri Light" panose="020F0302020204030204" pitchFamily="34" charset="0"/>
                </a:rPr>
                <a:t> </a:t>
              </a:r>
              <a:r>
                <a:rPr lang="en-US" dirty="0" err="1">
                  <a:latin typeface="Calibri Light" panose="020F0302020204030204" pitchFamily="34" charset="0"/>
                </a:rPr>
                <a:t>chân</a:t>
              </a:r>
              <a:endParaRPr lang="en-US" dirty="0">
                <a:latin typeface="Calibri Light" panose="020F0302020204030204" pitchFamily="34" charset="0"/>
              </a:endParaRPr>
            </a:p>
          </p:txBody>
        </p:sp>
        <p:cxnSp>
          <p:nvCxnSpPr>
            <p:cNvPr id="39" name="Straight Arrow Connector 38">
              <a:extLst>
                <a:ext uri="{FF2B5EF4-FFF2-40B4-BE49-F238E27FC236}">
                  <a16:creationId xmlns:a16="http://schemas.microsoft.com/office/drawing/2014/main" id="{813EE4DD-404F-7049-5BBC-FE62AC3F97DA}"/>
                </a:ext>
              </a:extLst>
            </p:cNvPr>
            <p:cNvCxnSpPr>
              <a:cxnSpLocks/>
              <a:endCxn id="31" idx="1"/>
            </p:cNvCxnSpPr>
            <p:nvPr/>
          </p:nvCxnSpPr>
          <p:spPr>
            <a:xfrm flipV="1">
              <a:off x="5477625" y="5444380"/>
              <a:ext cx="588944" cy="333066"/>
            </a:xfrm>
            <a:prstGeom prst="straightConnector1">
              <a:avLst/>
            </a:prstGeom>
            <a:ln>
              <a:solidFill>
                <a:srgbClr val="7030A0"/>
              </a:solidFill>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B943A335-83B2-B135-F5D2-B9072416BF9C}"/>
              </a:ext>
            </a:extLst>
          </p:cNvPr>
          <p:cNvGrpSpPr/>
          <p:nvPr/>
        </p:nvGrpSpPr>
        <p:grpSpPr>
          <a:xfrm>
            <a:off x="5477626" y="3875703"/>
            <a:ext cx="3108211" cy="411707"/>
            <a:chOff x="5477626" y="3875703"/>
            <a:chExt cx="3108211" cy="411707"/>
          </a:xfrm>
        </p:grpSpPr>
        <p:sp>
          <p:nvSpPr>
            <p:cNvPr id="62" name="TextBox 61">
              <a:extLst>
                <a:ext uri="{FF2B5EF4-FFF2-40B4-BE49-F238E27FC236}">
                  <a16:creationId xmlns:a16="http://schemas.microsoft.com/office/drawing/2014/main" id="{04C494BD-DC0D-99EA-4E8F-B70DA3E20DEA}"/>
                </a:ext>
              </a:extLst>
            </p:cNvPr>
            <p:cNvSpPr txBox="1"/>
            <p:nvPr/>
          </p:nvSpPr>
          <p:spPr>
            <a:xfrm>
              <a:off x="6066571" y="3875703"/>
              <a:ext cx="2519266" cy="369332"/>
            </a:xfrm>
            <a:prstGeom prst="rect">
              <a:avLst/>
            </a:prstGeom>
            <a:noFill/>
            <a:ln>
              <a:solidFill>
                <a:srgbClr val="7030A0"/>
              </a:solidFill>
            </a:ln>
          </p:spPr>
          <p:txBody>
            <a:bodyPr wrap="square" rtlCol="0">
              <a:spAutoFit/>
            </a:bodyPr>
            <a:lstStyle/>
            <a:p>
              <a:r>
                <a:rPr lang="en-US" dirty="0" err="1">
                  <a:latin typeface="Calibri Light" panose="020F0302020204030204" pitchFamily="34" charset="0"/>
                </a:rPr>
                <a:t>Bất</a:t>
              </a:r>
              <a:r>
                <a:rPr lang="en-US" dirty="0">
                  <a:latin typeface="Calibri Light" panose="020F0302020204030204" pitchFamily="34" charset="0"/>
                </a:rPr>
                <a:t> </a:t>
              </a:r>
              <a:r>
                <a:rPr lang="en-US" dirty="0" err="1">
                  <a:latin typeface="Calibri Light" panose="020F0302020204030204" pitchFamily="34" charset="0"/>
                </a:rPr>
                <a:t>thường</a:t>
              </a:r>
              <a:r>
                <a:rPr lang="en-US" dirty="0">
                  <a:latin typeface="Calibri Light" panose="020F0302020204030204" pitchFamily="34" charset="0"/>
                </a:rPr>
                <a:t> </a:t>
              </a:r>
              <a:r>
                <a:rPr lang="en-US" dirty="0" err="1">
                  <a:latin typeface="Calibri Light" panose="020F0302020204030204" pitchFamily="34" charset="0"/>
                </a:rPr>
                <a:t>về</a:t>
              </a:r>
              <a:r>
                <a:rPr lang="en-US" dirty="0">
                  <a:latin typeface="Calibri Light" panose="020F0302020204030204" pitchFamily="34" charset="0"/>
                </a:rPr>
                <a:t> </a:t>
              </a:r>
              <a:r>
                <a:rPr lang="en-US" dirty="0" err="1">
                  <a:latin typeface="Calibri Light" panose="020F0302020204030204" pitchFamily="34" charset="0"/>
                </a:rPr>
                <a:t>tim</a:t>
              </a:r>
              <a:endParaRPr lang="en-US" dirty="0">
                <a:latin typeface="Calibri Light" panose="020F0302020204030204" pitchFamily="34" charset="0"/>
              </a:endParaRPr>
            </a:p>
          </p:txBody>
        </p:sp>
        <p:cxnSp>
          <p:nvCxnSpPr>
            <p:cNvPr id="63" name="Straight Arrow Connector 62">
              <a:extLst>
                <a:ext uri="{FF2B5EF4-FFF2-40B4-BE49-F238E27FC236}">
                  <a16:creationId xmlns:a16="http://schemas.microsoft.com/office/drawing/2014/main" id="{0AE267AE-1554-AC24-D094-3D976C3DE2AC}"/>
                </a:ext>
              </a:extLst>
            </p:cNvPr>
            <p:cNvCxnSpPr>
              <a:cxnSpLocks/>
              <a:stCxn id="46" idx="3"/>
              <a:endCxn id="62" idx="1"/>
            </p:cNvCxnSpPr>
            <p:nvPr/>
          </p:nvCxnSpPr>
          <p:spPr>
            <a:xfrm flipV="1">
              <a:off x="5477626" y="4060369"/>
              <a:ext cx="588945" cy="227041"/>
            </a:xfrm>
            <a:prstGeom prst="straightConnector1">
              <a:avLst/>
            </a:prstGeom>
            <a:ln>
              <a:solidFill>
                <a:srgbClr val="7030A0"/>
              </a:solidFill>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FBBAC806-F078-07EE-86D0-6F22368622D1}"/>
              </a:ext>
            </a:extLst>
          </p:cNvPr>
          <p:cNvGrpSpPr/>
          <p:nvPr/>
        </p:nvGrpSpPr>
        <p:grpSpPr>
          <a:xfrm>
            <a:off x="5477625" y="4798417"/>
            <a:ext cx="3110446" cy="369332"/>
            <a:chOff x="5477625" y="4798417"/>
            <a:chExt cx="3110446" cy="369332"/>
          </a:xfrm>
        </p:grpSpPr>
        <p:sp>
          <p:nvSpPr>
            <p:cNvPr id="67" name="TextBox 66">
              <a:extLst>
                <a:ext uri="{FF2B5EF4-FFF2-40B4-BE49-F238E27FC236}">
                  <a16:creationId xmlns:a16="http://schemas.microsoft.com/office/drawing/2014/main" id="{BFD4FF75-01EC-F515-05B6-3BCA7CDD7A5D}"/>
                </a:ext>
              </a:extLst>
            </p:cNvPr>
            <p:cNvSpPr txBox="1"/>
            <p:nvPr/>
          </p:nvSpPr>
          <p:spPr>
            <a:xfrm>
              <a:off x="6068804" y="4798417"/>
              <a:ext cx="2519267" cy="369332"/>
            </a:xfrm>
            <a:prstGeom prst="rect">
              <a:avLst/>
            </a:prstGeom>
            <a:noFill/>
            <a:ln>
              <a:solidFill>
                <a:srgbClr val="7030A0"/>
              </a:solidFill>
            </a:ln>
          </p:spPr>
          <p:txBody>
            <a:bodyPr wrap="square" rtlCol="0">
              <a:spAutoFit/>
            </a:bodyPr>
            <a:lstStyle/>
            <a:p>
              <a:r>
                <a:rPr lang="en-US" dirty="0" err="1">
                  <a:latin typeface="Calibri Light" panose="020F0302020204030204" pitchFamily="34" charset="0"/>
                </a:rPr>
                <a:t>Bão</a:t>
              </a:r>
              <a:r>
                <a:rPr lang="en-US" dirty="0">
                  <a:latin typeface="Calibri Light" panose="020F0302020204030204" pitchFamily="34" charset="0"/>
                </a:rPr>
                <a:t> </a:t>
              </a:r>
              <a:r>
                <a:rPr lang="en-US" dirty="0" err="1">
                  <a:latin typeface="Calibri Light" panose="020F0302020204030204" pitchFamily="34" charset="0"/>
                </a:rPr>
                <a:t>hòa</a:t>
              </a:r>
              <a:r>
                <a:rPr lang="en-US" dirty="0">
                  <a:latin typeface="Calibri Light" panose="020F0302020204030204" pitchFamily="34" charset="0"/>
                </a:rPr>
                <a:t> </a:t>
              </a:r>
              <a:r>
                <a:rPr lang="en-US" dirty="0" err="1">
                  <a:latin typeface="Calibri Light" panose="020F0302020204030204" pitchFamily="34" charset="0"/>
                </a:rPr>
                <a:t>oxi</a:t>
              </a:r>
              <a:r>
                <a:rPr lang="en-US" dirty="0">
                  <a:latin typeface="Calibri Light" panose="020F0302020204030204" pitchFamily="34" charset="0"/>
                </a:rPr>
                <a:t> </a:t>
              </a:r>
              <a:r>
                <a:rPr lang="en-US" dirty="0" err="1">
                  <a:latin typeface="Calibri Light" panose="020F0302020204030204" pitchFamily="34" charset="0"/>
                </a:rPr>
                <a:t>máu</a:t>
              </a:r>
              <a:endParaRPr lang="en-US" dirty="0">
                <a:latin typeface="Calibri Light" panose="020F0302020204030204" pitchFamily="34" charset="0"/>
              </a:endParaRPr>
            </a:p>
          </p:txBody>
        </p:sp>
        <p:cxnSp>
          <p:nvCxnSpPr>
            <p:cNvPr id="69" name="Straight Arrow Connector 68">
              <a:extLst>
                <a:ext uri="{FF2B5EF4-FFF2-40B4-BE49-F238E27FC236}">
                  <a16:creationId xmlns:a16="http://schemas.microsoft.com/office/drawing/2014/main" id="{8DF94672-A442-91A7-6C1C-2BED743D23CB}"/>
                </a:ext>
              </a:extLst>
            </p:cNvPr>
            <p:cNvCxnSpPr>
              <a:cxnSpLocks/>
              <a:stCxn id="26" idx="3"/>
            </p:cNvCxnSpPr>
            <p:nvPr/>
          </p:nvCxnSpPr>
          <p:spPr>
            <a:xfrm flipV="1">
              <a:off x="5477625" y="4983505"/>
              <a:ext cx="558839" cy="179237"/>
            </a:xfrm>
            <a:prstGeom prst="straightConnector1">
              <a:avLst/>
            </a:prstGeom>
            <a:ln>
              <a:solidFill>
                <a:srgbClr val="7030A0"/>
              </a:solidFill>
              <a:prstDash val="lgDash"/>
              <a:tailEnd type="triangle"/>
            </a:ln>
          </p:spPr>
          <p:style>
            <a:lnRef idx="1">
              <a:schemeClr val="accent1"/>
            </a:lnRef>
            <a:fillRef idx="0">
              <a:schemeClr val="accent1"/>
            </a:fillRef>
            <a:effectRef idx="0">
              <a:schemeClr val="accent1"/>
            </a:effectRef>
            <a:fontRef idx="minor">
              <a:schemeClr val="tx1"/>
            </a:fontRef>
          </p:style>
        </p:cxnSp>
      </p:grpSp>
      <p:pic>
        <p:nvPicPr>
          <p:cNvPr id="22" name="Picture 21">
            <a:extLst>
              <a:ext uri="{FF2B5EF4-FFF2-40B4-BE49-F238E27FC236}">
                <a16:creationId xmlns:a16="http://schemas.microsoft.com/office/drawing/2014/main" id="{7CAC7E7D-7662-0FF0-56DC-B56A8AE7B6C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4369" b="94296" l="9428" r="91246">
                        <a14:foregroundMark x1="62963" y1="10922" x2="44781" y2="3398"/>
                        <a14:foregroundMark x1="44781" y1="3398" x2="35017" y2="13714"/>
                        <a14:foregroundMark x1="35017" y1="13714" x2="53535" y2="4490"/>
                        <a14:foregroundMark x1="53535" y1="4490" x2="50505" y2="13228"/>
                        <a14:foregroundMark x1="70370" y1="26699" x2="26263" y2="28883"/>
                        <a14:foregroundMark x1="26263" y1="28883" x2="71380" y2="28034"/>
                        <a14:foregroundMark x1="71380" y1="28034" x2="59933" y2="24757"/>
                        <a14:foregroundMark x1="49495" y1="16505" x2="51852" y2="16990"/>
                        <a14:foregroundMark x1="51515" y1="18083" x2="55556" y2="22209"/>
                        <a14:foregroundMark x1="63973" y1="44782" x2="64983" y2="52063"/>
                        <a14:foregroundMark x1="37037" y1="44296" x2="42088" y2="50364"/>
                        <a14:foregroundMark x1="50842" y1="45388" x2="49832" y2="51335"/>
                        <a14:foregroundMark x1="10438" y1="36529" x2="13805" y2="41748"/>
                        <a14:foregroundMark x1="14815" y1="44782" x2="12458" y2="54490"/>
                        <a14:foregroundMark x1="12458" y1="54490" x2="12458" y2="54490"/>
                        <a14:foregroundMark x1="84512" y1="35194" x2="82155" y2="51820"/>
                        <a14:foregroundMark x1="82155" y1="51820" x2="83838" y2="53519"/>
                        <a14:foregroundMark x1="91582" y1="49272" x2="90572" y2="51335"/>
                        <a14:foregroundMark x1="85859" y1="49515" x2="85859" y2="52791"/>
                        <a14:foregroundMark x1="41077" y1="60922" x2="31313" y2="94296"/>
                        <a14:foregroundMark x1="65320" y1="59951" x2="61953" y2="93811"/>
                        <a14:foregroundMark x1="61953" y1="93811" x2="67003" y2="93325"/>
                      </a14:backgroundRemoval>
                    </a14:imgEffect>
                  </a14:imgLayer>
                </a14:imgProps>
              </a:ext>
            </a:extLst>
          </a:blip>
          <a:stretch>
            <a:fillRect/>
          </a:stretch>
        </p:blipFill>
        <p:spPr>
          <a:xfrm>
            <a:off x="506257" y="1425822"/>
            <a:ext cx="1863155" cy="5169159"/>
          </a:xfrm>
          <a:prstGeom prst="rect">
            <a:avLst/>
          </a:prstGeom>
        </p:spPr>
      </p:pic>
      <p:sp>
        <p:nvSpPr>
          <p:cNvPr id="23" name="TextBox 22">
            <a:extLst>
              <a:ext uri="{FF2B5EF4-FFF2-40B4-BE49-F238E27FC236}">
                <a16:creationId xmlns:a16="http://schemas.microsoft.com/office/drawing/2014/main" id="{F7CD7A46-76D5-6CA1-3599-12D2AB9F9F02}"/>
              </a:ext>
            </a:extLst>
          </p:cNvPr>
          <p:cNvSpPr txBox="1"/>
          <p:nvPr/>
        </p:nvSpPr>
        <p:spPr>
          <a:xfrm>
            <a:off x="2967132" y="1382573"/>
            <a:ext cx="2519268" cy="923330"/>
          </a:xfrm>
          <a:prstGeom prst="rect">
            <a:avLst/>
          </a:prstGeom>
          <a:noFill/>
          <a:ln>
            <a:solidFill>
              <a:srgbClr val="0070C0"/>
            </a:solidFill>
          </a:ln>
        </p:spPr>
        <p:txBody>
          <a:bodyPr wrap="square" rtlCol="0">
            <a:spAutoFit/>
          </a:bodyPr>
          <a:lstStyle/>
          <a:p>
            <a:r>
              <a:rPr lang="en-US" dirty="0" err="1">
                <a:latin typeface="Calibri Light" panose="020F0302020204030204" pitchFamily="34" charset="0"/>
              </a:rPr>
              <a:t>Điện</a:t>
            </a:r>
            <a:r>
              <a:rPr lang="en-US" dirty="0">
                <a:latin typeface="Calibri Light" panose="020F0302020204030204" pitchFamily="34" charset="0"/>
              </a:rPr>
              <a:t> </a:t>
            </a:r>
            <a:r>
              <a:rPr lang="en-US" dirty="0" err="1">
                <a:latin typeface="Calibri Light" panose="020F0302020204030204" pitchFamily="34" charset="0"/>
              </a:rPr>
              <a:t>não</a:t>
            </a:r>
            <a:r>
              <a:rPr lang="en-US" dirty="0">
                <a:latin typeface="Calibri Light" panose="020F0302020204030204" pitchFamily="34" charset="0"/>
              </a:rPr>
              <a:t> (9)</a:t>
            </a:r>
          </a:p>
          <a:p>
            <a:r>
              <a:rPr lang="en-US" dirty="0" err="1">
                <a:latin typeface="Calibri Light" panose="020F0302020204030204" pitchFamily="34" charset="0"/>
              </a:rPr>
              <a:t>Điện</a:t>
            </a:r>
            <a:r>
              <a:rPr lang="en-US" dirty="0">
                <a:latin typeface="Calibri Light" panose="020F0302020204030204" pitchFamily="34" charset="0"/>
              </a:rPr>
              <a:t> </a:t>
            </a:r>
            <a:r>
              <a:rPr lang="en-US" dirty="0" err="1">
                <a:latin typeface="Calibri Light" panose="020F0302020204030204" pitchFamily="34" charset="0"/>
              </a:rPr>
              <a:t>cơ</a:t>
            </a:r>
            <a:r>
              <a:rPr lang="en-US" dirty="0">
                <a:latin typeface="Calibri Light" panose="020F0302020204030204" pitchFamily="34" charset="0"/>
              </a:rPr>
              <a:t> </a:t>
            </a:r>
            <a:r>
              <a:rPr lang="en-US" dirty="0" err="1">
                <a:latin typeface="Calibri Light" panose="020F0302020204030204" pitchFamily="34" charset="0"/>
              </a:rPr>
              <a:t>mắt</a:t>
            </a:r>
            <a:r>
              <a:rPr lang="en-US" dirty="0">
                <a:latin typeface="Calibri Light" panose="020F0302020204030204" pitchFamily="34" charset="0"/>
              </a:rPr>
              <a:t> (2)</a:t>
            </a:r>
          </a:p>
          <a:p>
            <a:r>
              <a:rPr lang="en-US" dirty="0" err="1">
                <a:latin typeface="Calibri Light" panose="020F0302020204030204" pitchFamily="34" charset="0"/>
              </a:rPr>
              <a:t>Điện</a:t>
            </a:r>
            <a:r>
              <a:rPr lang="en-US" dirty="0">
                <a:latin typeface="Calibri Light" panose="020F0302020204030204" pitchFamily="34" charset="0"/>
              </a:rPr>
              <a:t> </a:t>
            </a:r>
            <a:r>
              <a:rPr lang="en-US" dirty="0" err="1">
                <a:latin typeface="Calibri Light" panose="020F0302020204030204" pitchFamily="34" charset="0"/>
              </a:rPr>
              <a:t>cơ</a:t>
            </a:r>
            <a:r>
              <a:rPr lang="en-US" dirty="0">
                <a:latin typeface="Calibri Light" panose="020F0302020204030204" pitchFamily="34" charset="0"/>
              </a:rPr>
              <a:t> </a:t>
            </a:r>
            <a:r>
              <a:rPr lang="en-US" dirty="0" err="1">
                <a:latin typeface="Calibri Light" panose="020F0302020204030204" pitchFamily="34" charset="0"/>
              </a:rPr>
              <a:t>cằm</a:t>
            </a:r>
            <a:r>
              <a:rPr lang="en-US" dirty="0">
                <a:latin typeface="Calibri Light" panose="020F0302020204030204" pitchFamily="34" charset="0"/>
              </a:rPr>
              <a:t> (3)</a:t>
            </a:r>
          </a:p>
        </p:txBody>
      </p:sp>
      <p:sp>
        <p:nvSpPr>
          <p:cNvPr id="24" name="TextBox 23">
            <a:extLst>
              <a:ext uri="{FF2B5EF4-FFF2-40B4-BE49-F238E27FC236}">
                <a16:creationId xmlns:a16="http://schemas.microsoft.com/office/drawing/2014/main" id="{B2D9204E-4A97-40B9-11F4-ECDE87CD488B}"/>
              </a:ext>
            </a:extLst>
          </p:cNvPr>
          <p:cNvSpPr txBox="1"/>
          <p:nvPr/>
        </p:nvSpPr>
        <p:spPr>
          <a:xfrm>
            <a:off x="2967132" y="5576359"/>
            <a:ext cx="2519266" cy="369332"/>
          </a:xfrm>
          <a:prstGeom prst="rect">
            <a:avLst/>
          </a:prstGeom>
          <a:noFill/>
          <a:ln>
            <a:solidFill>
              <a:srgbClr val="0070C0"/>
            </a:solidFill>
          </a:ln>
        </p:spPr>
        <p:txBody>
          <a:bodyPr wrap="square" rtlCol="0">
            <a:spAutoFit/>
          </a:bodyPr>
          <a:lstStyle/>
          <a:p>
            <a:r>
              <a:rPr lang="en-US" dirty="0" err="1">
                <a:latin typeface="Calibri Light" panose="020F0302020204030204" pitchFamily="34" charset="0"/>
              </a:rPr>
              <a:t>Điện</a:t>
            </a:r>
            <a:r>
              <a:rPr lang="en-US" dirty="0">
                <a:latin typeface="Calibri Light" panose="020F0302020204030204" pitchFamily="34" charset="0"/>
              </a:rPr>
              <a:t> </a:t>
            </a:r>
            <a:r>
              <a:rPr lang="en-US" dirty="0" err="1">
                <a:latin typeface="Calibri Light" panose="020F0302020204030204" pitchFamily="34" charset="0"/>
              </a:rPr>
              <a:t>cơ</a:t>
            </a:r>
            <a:r>
              <a:rPr lang="en-US" dirty="0">
                <a:latin typeface="Calibri Light" panose="020F0302020204030204" pitchFamily="34" charset="0"/>
              </a:rPr>
              <a:t> </a:t>
            </a:r>
            <a:r>
              <a:rPr lang="en-US" dirty="0" err="1">
                <a:latin typeface="Calibri Light" panose="020F0302020204030204" pitchFamily="34" charset="0"/>
              </a:rPr>
              <a:t>chân</a:t>
            </a:r>
            <a:r>
              <a:rPr lang="en-US" dirty="0">
                <a:latin typeface="Calibri Light" panose="020F0302020204030204" pitchFamily="34" charset="0"/>
              </a:rPr>
              <a:t> (4)</a:t>
            </a:r>
          </a:p>
        </p:txBody>
      </p:sp>
      <p:sp>
        <p:nvSpPr>
          <p:cNvPr id="25" name="TextBox 24">
            <a:extLst>
              <a:ext uri="{FF2B5EF4-FFF2-40B4-BE49-F238E27FC236}">
                <a16:creationId xmlns:a16="http://schemas.microsoft.com/office/drawing/2014/main" id="{1673ED37-DD2E-AFBF-0423-3C5F5D5B0768}"/>
              </a:ext>
            </a:extLst>
          </p:cNvPr>
          <p:cNvSpPr txBox="1"/>
          <p:nvPr/>
        </p:nvSpPr>
        <p:spPr>
          <a:xfrm>
            <a:off x="2958360" y="2378039"/>
            <a:ext cx="2519268" cy="338554"/>
          </a:xfrm>
          <a:prstGeom prst="rect">
            <a:avLst/>
          </a:prstGeom>
          <a:noFill/>
          <a:ln>
            <a:solidFill>
              <a:srgbClr val="0070C0"/>
            </a:solidFill>
          </a:ln>
        </p:spPr>
        <p:txBody>
          <a:bodyPr wrap="square" rtlCol="0">
            <a:spAutoFit/>
          </a:bodyPr>
          <a:lstStyle/>
          <a:p>
            <a:r>
              <a:rPr lang="en-US" sz="1600" dirty="0">
                <a:latin typeface="Calibri Light" panose="020F0302020204030204" pitchFamily="34" charset="0"/>
              </a:rPr>
              <a:t>Cannula (1) / Thermistor (1)</a:t>
            </a:r>
          </a:p>
        </p:txBody>
      </p:sp>
      <p:sp>
        <p:nvSpPr>
          <p:cNvPr id="26" name="TextBox 25">
            <a:extLst>
              <a:ext uri="{FF2B5EF4-FFF2-40B4-BE49-F238E27FC236}">
                <a16:creationId xmlns:a16="http://schemas.microsoft.com/office/drawing/2014/main" id="{5BAC1B85-BAA7-2B9A-5597-67ADF40A0547}"/>
              </a:ext>
            </a:extLst>
          </p:cNvPr>
          <p:cNvSpPr txBox="1"/>
          <p:nvPr/>
        </p:nvSpPr>
        <p:spPr>
          <a:xfrm>
            <a:off x="2958358" y="4978076"/>
            <a:ext cx="2519267" cy="369332"/>
          </a:xfrm>
          <a:prstGeom prst="rect">
            <a:avLst/>
          </a:prstGeom>
          <a:noFill/>
          <a:ln>
            <a:solidFill>
              <a:srgbClr val="0070C0"/>
            </a:solidFill>
          </a:ln>
        </p:spPr>
        <p:txBody>
          <a:bodyPr wrap="square" rtlCol="0">
            <a:spAutoFit/>
          </a:bodyPr>
          <a:lstStyle/>
          <a:p>
            <a:r>
              <a:rPr lang="en-US" dirty="0">
                <a:latin typeface="Calibri Light" panose="020F0302020204030204" pitchFamily="34" charset="0"/>
              </a:rPr>
              <a:t>Oxi </a:t>
            </a:r>
            <a:r>
              <a:rPr lang="en-US" dirty="0" err="1">
                <a:latin typeface="Calibri Light" panose="020F0302020204030204" pitchFamily="34" charset="0"/>
              </a:rPr>
              <a:t>máu</a:t>
            </a:r>
            <a:r>
              <a:rPr lang="en-US" dirty="0">
                <a:latin typeface="Calibri Light" panose="020F0302020204030204" pitchFamily="34" charset="0"/>
              </a:rPr>
              <a:t> – </a:t>
            </a:r>
            <a:r>
              <a:rPr lang="en-US" dirty="0" err="1">
                <a:latin typeface="Calibri Light" panose="020F0302020204030204" pitchFamily="34" charset="0"/>
              </a:rPr>
              <a:t>Nhịp</a:t>
            </a:r>
            <a:r>
              <a:rPr lang="en-US" dirty="0">
                <a:latin typeface="Calibri Light" panose="020F0302020204030204" pitchFamily="34" charset="0"/>
              </a:rPr>
              <a:t> </a:t>
            </a:r>
            <a:r>
              <a:rPr lang="en-US" dirty="0" err="1">
                <a:latin typeface="Calibri Light" panose="020F0302020204030204" pitchFamily="34" charset="0"/>
              </a:rPr>
              <a:t>tim</a:t>
            </a:r>
            <a:r>
              <a:rPr lang="en-US" dirty="0">
                <a:latin typeface="Calibri Light" panose="020F0302020204030204" pitchFamily="34" charset="0"/>
              </a:rPr>
              <a:t> (1)</a:t>
            </a:r>
          </a:p>
        </p:txBody>
      </p:sp>
      <p:sp>
        <p:nvSpPr>
          <p:cNvPr id="27" name="TextBox 26">
            <a:extLst>
              <a:ext uri="{FF2B5EF4-FFF2-40B4-BE49-F238E27FC236}">
                <a16:creationId xmlns:a16="http://schemas.microsoft.com/office/drawing/2014/main" id="{29FEAFC4-CAA0-1C62-E2FD-E79B760C1250}"/>
              </a:ext>
            </a:extLst>
          </p:cNvPr>
          <p:cNvSpPr txBox="1"/>
          <p:nvPr/>
        </p:nvSpPr>
        <p:spPr>
          <a:xfrm>
            <a:off x="2958358" y="2806097"/>
            <a:ext cx="2519268" cy="1200329"/>
          </a:xfrm>
          <a:prstGeom prst="rect">
            <a:avLst/>
          </a:prstGeom>
          <a:noFill/>
          <a:ln>
            <a:solidFill>
              <a:srgbClr val="0070C0"/>
            </a:solidFill>
          </a:ln>
        </p:spPr>
        <p:txBody>
          <a:bodyPr wrap="square" rtlCol="0">
            <a:spAutoFit/>
          </a:bodyPr>
          <a:lstStyle/>
          <a:p>
            <a:r>
              <a:rPr lang="en-US" b="1" dirty="0" err="1">
                <a:latin typeface="Calibri Light" panose="020F0302020204030204" pitchFamily="34" charset="0"/>
              </a:rPr>
              <a:t>Máy</a:t>
            </a:r>
            <a:r>
              <a:rPr lang="en-US" b="1" dirty="0">
                <a:latin typeface="Calibri Light" panose="020F0302020204030204" pitchFamily="34" charset="0"/>
              </a:rPr>
              <a:t> </a:t>
            </a:r>
            <a:r>
              <a:rPr lang="en-US" b="1" dirty="0" err="1">
                <a:latin typeface="Calibri Light" panose="020F0302020204030204" pitchFamily="34" charset="0"/>
              </a:rPr>
              <a:t>đo</a:t>
            </a:r>
            <a:endParaRPr lang="en-US" b="1" dirty="0">
              <a:latin typeface="Calibri Light" panose="020F0302020204030204" pitchFamily="34" charset="0"/>
            </a:endParaRPr>
          </a:p>
          <a:p>
            <a:r>
              <a:rPr lang="en-US" dirty="0">
                <a:latin typeface="Calibri Light" panose="020F0302020204030204" pitchFamily="34" charset="0"/>
              </a:rPr>
              <a:t>Micro (1)</a:t>
            </a:r>
          </a:p>
          <a:p>
            <a:r>
              <a:rPr lang="en-US" dirty="0" err="1">
                <a:latin typeface="Calibri Light" panose="020F0302020204030204" pitchFamily="34" charset="0"/>
              </a:rPr>
              <a:t>Cử</a:t>
            </a:r>
            <a:r>
              <a:rPr lang="en-US" dirty="0">
                <a:latin typeface="Calibri Light" panose="020F0302020204030204" pitchFamily="34" charset="0"/>
              </a:rPr>
              <a:t> </a:t>
            </a:r>
            <a:r>
              <a:rPr lang="en-US" dirty="0" err="1">
                <a:latin typeface="Calibri Light" panose="020F0302020204030204" pitchFamily="34" charset="0"/>
              </a:rPr>
              <a:t>động</a:t>
            </a:r>
            <a:r>
              <a:rPr lang="en-US" dirty="0">
                <a:latin typeface="Calibri Light" panose="020F0302020204030204" pitchFamily="34" charset="0"/>
              </a:rPr>
              <a:t> </a:t>
            </a:r>
            <a:r>
              <a:rPr lang="en-US" dirty="0" err="1">
                <a:latin typeface="Calibri Light" panose="020F0302020204030204" pitchFamily="34" charset="0"/>
              </a:rPr>
              <a:t>ký</a:t>
            </a:r>
            <a:r>
              <a:rPr lang="en-US" dirty="0">
                <a:latin typeface="Calibri Light" panose="020F0302020204030204" pitchFamily="34" charset="0"/>
              </a:rPr>
              <a:t> (1)</a:t>
            </a:r>
          </a:p>
          <a:p>
            <a:r>
              <a:rPr lang="en-US" dirty="0" err="1">
                <a:latin typeface="Calibri Light" panose="020F0302020204030204" pitchFamily="34" charset="0"/>
              </a:rPr>
              <a:t>Tư</a:t>
            </a:r>
            <a:r>
              <a:rPr lang="en-US" dirty="0">
                <a:latin typeface="Calibri Light" panose="020F0302020204030204" pitchFamily="34" charset="0"/>
              </a:rPr>
              <a:t> </a:t>
            </a:r>
            <a:r>
              <a:rPr lang="en-US" dirty="0" err="1">
                <a:latin typeface="Calibri Light" panose="020F0302020204030204" pitchFamily="34" charset="0"/>
              </a:rPr>
              <a:t>thế</a:t>
            </a:r>
            <a:r>
              <a:rPr lang="en-US" dirty="0">
                <a:latin typeface="Calibri Light" panose="020F0302020204030204" pitchFamily="34" charset="0"/>
              </a:rPr>
              <a:t> (1)</a:t>
            </a:r>
          </a:p>
        </p:txBody>
      </p:sp>
      <p:cxnSp>
        <p:nvCxnSpPr>
          <p:cNvPr id="28" name="Straight Arrow Connector 27">
            <a:extLst>
              <a:ext uri="{FF2B5EF4-FFF2-40B4-BE49-F238E27FC236}">
                <a16:creationId xmlns:a16="http://schemas.microsoft.com/office/drawing/2014/main" id="{658AF126-10A2-D686-6819-3A2A8918809D}"/>
              </a:ext>
            </a:extLst>
          </p:cNvPr>
          <p:cNvCxnSpPr>
            <a:cxnSpLocks/>
            <a:stCxn id="23" idx="1"/>
          </p:cNvCxnSpPr>
          <p:nvPr/>
        </p:nvCxnSpPr>
        <p:spPr>
          <a:xfrm flipH="1" flipV="1">
            <a:off x="1576874" y="1767577"/>
            <a:ext cx="1390258" cy="76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40BB40A-F3C6-6946-59E6-EB4216740EA4}"/>
              </a:ext>
            </a:extLst>
          </p:cNvPr>
          <p:cNvCxnSpPr>
            <a:cxnSpLocks/>
            <a:stCxn id="25" idx="1"/>
          </p:cNvCxnSpPr>
          <p:nvPr/>
        </p:nvCxnSpPr>
        <p:spPr>
          <a:xfrm flipH="1" flipV="1">
            <a:off x="1511559" y="2140975"/>
            <a:ext cx="1446801" cy="406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C06384F8-7C31-D896-0A9E-76C7F4A56236}"/>
              </a:ext>
            </a:extLst>
          </p:cNvPr>
          <p:cNvCxnSpPr>
            <a:cxnSpLocks/>
            <a:stCxn id="27" idx="1"/>
          </p:cNvCxnSpPr>
          <p:nvPr/>
        </p:nvCxnSpPr>
        <p:spPr>
          <a:xfrm flipH="1" flipV="1">
            <a:off x="1511559" y="2859442"/>
            <a:ext cx="1446799" cy="546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9BE2341-FB23-8E64-EDD2-32FFD24CE94F}"/>
              </a:ext>
            </a:extLst>
          </p:cNvPr>
          <p:cNvCxnSpPr>
            <a:cxnSpLocks/>
            <a:stCxn id="26" idx="1"/>
          </p:cNvCxnSpPr>
          <p:nvPr/>
        </p:nvCxnSpPr>
        <p:spPr>
          <a:xfrm flipH="1" flipV="1">
            <a:off x="2071396" y="4417847"/>
            <a:ext cx="886962" cy="74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8BF0A32-2429-6255-E292-97184B68FE7B}"/>
              </a:ext>
            </a:extLst>
          </p:cNvPr>
          <p:cNvCxnSpPr>
            <a:cxnSpLocks/>
            <a:stCxn id="24" idx="1"/>
          </p:cNvCxnSpPr>
          <p:nvPr/>
        </p:nvCxnSpPr>
        <p:spPr>
          <a:xfrm flipH="1" flipV="1">
            <a:off x="1791478" y="5576359"/>
            <a:ext cx="1175654"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668B9386-9738-8555-CA90-DE7562338304}"/>
              </a:ext>
            </a:extLst>
          </p:cNvPr>
          <p:cNvCxnSpPr>
            <a:cxnSpLocks/>
            <a:stCxn id="48" idx="1"/>
          </p:cNvCxnSpPr>
          <p:nvPr/>
        </p:nvCxnSpPr>
        <p:spPr>
          <a:xfrm flipH="1" flipV="1">
            <a:off x="1576874" y="3844304"/>
            <a:ext cx="1381484" cy="8814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59F38A7B-D116-7CCE-DA01-52E1057D27F4}"/>
              </a:ext>
            </a:extLst>
          </p:cNvPr>
          <p:cNvSpPr txBox="1"/>
          <p:nvPr/>
        </p:nvSpPr>
        <p:spPr>
          <a:xfrm>
            <a:off x="2958360" y="4102744"/>
            <a:ext cx="2519266" cy="369332"/>
          </a:xfrm>
          <a:prstGeom prst="rect">
            <a:avLst/>
          </a:prstGeom>
          <a:noFill/>
          <a:ln>
            <a:solidFill>
              <a:srgbClr val="0070C0"/>
            </a:solidFill>
          </a:ln>
        </p:spPr>
        <p:txBody>
          <a:bodyPr wrap="square" rtlCol="0">
            <a:spAutoFit/>
          </a:bodyPr>
          <a:lstStyle/>
          <a:p>
            <a:r>
              <a:rPr lang="en-US" dirty="0" err="1">
                <a:latin typeface="Calibri Light" panose="020F0302020204030204" pitchFamily="34" charset="0"/>
              </a:rPr>
              <a:t>Điện</a:t>
            </a:r>
            <a:r>
              <a:rPr lang="en-US" dirty="0">
                <a:latin typeface="Calibri Light" panose="020F0302020204030204" pitchFamily="34" charset="0"/>
              </a:rPr>
              <a:t> </a:t>
            </a:r>
            <a:r>
              <a:rPr lang="en-US" dirty="0" err="1">
                <a:latin typeface="Calibri Light" panose="020F0302020204030204" pitchFamily="34" charset="0"/>
              </a:rPr>
              <a:t>tim</a:t>
            </a:r>
            <a:r>
              <a:rPr lang="en-US" dirty="0">
                <a:latin typeface="Calibri Light" panose="020F0302020204030204" pitchFamily="34" charset="0"/>
              </a:rPr>
              <a:t> (2)</a:t>
            </a:r>
          </a:p>
        </p:txBody>
      </p:sp>
      <p:cxnSp>
        <p:nvCxnSpPr>
          <p:cNvPr id="47" name="Straight Arrow Connector 46">
            <a:extLst>
              <a:ext uri="{FF2B5EF4-FFF2-40B4-BE49-F238E27FC236}">
                <a16:creationId xmlns:a16="http://schemas.microsoft.com/office/drawing/2014/main" id="{C7E3BB70-BED6-3D00-779F-FA232CDB32D9}"/>
              </a:ext>
            </a:extLst>
          </p:cNvPr>
          <p:cNvCxnSpPr>
            <a:cxnSpLocks/>
            <a:stCxn id="46" idx="1"/>
          </p:cNvCxnSpPr>
          <p:nvPr/>
        </p:nvCxnSpPr>
        <p:spPr>
          <a:xfrm flipH="1" flipV="1">
            <a:off x="1791478" y="3275045"/>
            <a:ext cx="1166882" cy="10123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9C01A208-1190-9E99-B722-34BDA31E331D}"/>
              </a:ext>
            </a:extLst>
          </p:cNvPr>
          <p:cNvSpPr txBox="1"/>
          <p:nvPr/>
        </p:nvSpPr>
        <p:spPr>
          <a:xfrm>
            <a:off x="2958358" y="4541093"/>
            <a:ext cx="2519267" cy="369332"/>
          </a:xfrm>
          <a:prstGeom prst="rect">
            <a:avLst/>
          </a:prstGeom>
          <a:noFill/>
          <a:ln>
            <a:solidFill>
              <a:srgbClr val="0070C0"/>
            </a:solidFill>
          </a:ln>
        </p:spPr>
        <p:txBody>
          <a:bodyPr wrap="square" rtlCol="0">
            <a:spAutoFit/>
          </a:bodyPr>
          <a:lstStyle/>
          <a:p>
            <a:r>
              <a:rPr lang="en-US" dirty="0" err="1">
                <a:latin typeface="Calibri Light" panose="020F0302020204030204" pitchFamily="34" charset="0"/>
              </a:rPr>
              <a:t>Dây</a:t>
            </a:r>
            <a:r>
              <a:rPr lang="en-US" dirty="0">
                <a:latin typeface="Calibri Light" panose="020F0302020204030204" pitchFamily="34" charset="0"/>
              </a:rPr>
              <a:t> </a:t>
            </a:r>
            <a:r>
              <a:rPr lang="en-US" dirty="0" err="1">
                <a:latin typeface="Calibri Light" panose="020F0302020204030204" pitchFamily="34" charset="0"/>
              </a:rPr>
              <a:t>đai</a:t>
            </a:r>
            <a:r>
              <a:rPr lang="en-US" dirty="0">
                <a:latin typeface="Calibri Light" panose="020F0302020204030204" pitchFamily="34" charset="0"/>
              </a:rPr>
              <a:t> </a:t>
            </a:r>
            <a:r>
              <a:rPr lang="en-US" dirty="0" err="1">
                <a:latin typeface="Calibri Light" panose="020F0302020204030204" pitchFamily="34" charset="0"/>
              </a:rPr>
              <a:t>ngực</a:t>
            </a:r>
            <a:r>
              <a:rPr lang="en-US" dirty="0">
                <a:latin typeface="Calibri Light" panose="020F0302020204030204" pitchFamily="34" charset="0"/>
              </a:rPr>
              <a:t> – </a:t>
            </a:r>
            <a:r>
              <a:rPr lang="en-US" dirty="0" err="1">
                <a:latin typeface="Calibri Light" panose="020F0302020204030204" pitchFamily="34" charset="0"/>
              </a:rPr>
              <a:t>bụng</a:t>
            </a:r>
            <a:r>
              <a:rPr lang="en-US" dirty="0">
                <a:latin typeface="Calibri Light" panose="020F0302020204030204" pitchFamily="34" charset="0"/>
              </a:rPr>
              <a:t> (2)</a:t>
            </a:r>
          </a:p>
        </p:txBody>
      </p:sp>
    </p:spTree>
    <p:extLst>
      <p:ext uri="{BB962C8B-B14F-4D97-AF65-F5344CB8AC3E}">
        <p14:creationId xmlns:p14="http://schemas.microsoft.com/office/powerpoint/2010/main" val="3146748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844C0-A8B1-4375-8023-ED97A22A2280}"/>
              </a:ext>
            </a:extLst>
          </p:cNvPr>
          <p:cNvSpPr>
            <a:spLocks noGrp="1"/>
          </p:cNvSpPr>
          <p:nvPr>
            <p:ph type="title"/>
          </p:nvPr>
        </p:nvSpPr>
        <p:spPr/>
        <p:txBody>
          <a:bodyPr>
            <a:normAutofit/>
          </a:bodyPr>
          <a:lstStyle/>
          <a:p>
            <a:r>
              <a:rPr lang="en-US" sz="3200"/>
              <a:t>Thứ tự gắn</a:t>
            </a:r>
          </a:p>
        </p:txBody>
      </p:sp>
      <p:pic>
        <p:nvPicPr>
          <p:cNvPr id="18" name="Picture 17">
            <a:extLst>
              <a:ext uri="{FF2B5EF4-FFF2-40B4-BE49-F238E27FC236}">
                <a16:creationId xmlns:a16="http://schemas.microsoft.com/office/drawing/2014/main" id="{27274BB0-EB7E-8B5B-6FD5-192AA73F2B0F}"/>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4369" b="94296" l="9428" r="91246">
                        <a14:foregroundMark x1="62963" y1="10922" x2="44781" y2="3398"/>
                        <a14:foregroundMark x1="44781" y1="3398" x2="35017" y2="13714"/>
                        <a14:foregroundMark x1="35017" y1="13714" x2="53535" y2="4490"/>
                        <a14:foregroundMark x1="53535" y1="4490" x2="50505" y2="13228"/>
                        <a14:foregroundMark x1="70370" y1="26699" x2="26263" y2="28883"/>
                        <a14:foregroundMark x1="26263" y1="28883" x2="71380" y2="28034"/>
                        <a14:foregroundMark x1="71380" y1="28034" x2="59933" y2="24757"/>
                        <a14:foregroundMark x1="49495" y1="16505" x2="51852" y2="16990"/>
                        <a14:foregroundMark x1="51515" y1="18083" x2="55556" y2="22209"/>
                        <a14:foregroundMark x1="63973" y1="44782" x2="64983" y2="52063"/>
                        <a14:foregroundMark x1="37037" y1="44296" x2="42088" y2="50364"/>
                        <a14:foregroundMark x1="50842" y1="45388" x2="49832" y2="51335"/>
                        <a14:foregroundMark x1="10438" y1="36529" x2="13805" y2="41748"/>
                        <a14:foregroundMark x1="14815" y1="44782" x2="12458" y2="54490"/>
                        <a14:foregroundMark x1="12458" y1="54490" x2="12458" y2="54490"/>
                        <a14:foregroundMark x1="84512" y1="35194" x2="82155" y2="51820"/>
                        <a14:foregroundMark x1="82155" y1="51820" x2="83838" y2="53519"/>
                        <a14:foregroundMark x1="91582" y1="49272" x2="90572" y2="51335"/>
                        <a14:foregroundMark x1="85859" y1="49515" x2="85859" y2="52791"/>
                        <a14:foregroundMark x1="41077" y1="60922" x2="31313" y2="94296"/>
                        <a14:foregroundMark x1="65320" y1="59951" x2="61953" y2="93811"/>
                        <a14:foregroundMark x1="61953" y1="93811" x2="67003" y2="93325"/>
                      </a14:backgroundRemoval>
                    </a14:imgEffect>
                  </a14:imgLayer>
                </a14:imgProps>
              </a:ext>
            </a:extLst>
          </a:blip>
          <a:stretch>
            <a:fillRect/>
          </a:stretch>
        </p:blipFill>
        <p:spPr>
          <a:xfrm>
            <a:off x="506257" y="1425822"/>
            <a:ext cx="1863155" cy="5169159"/>
          </a:xfrm>
          <a:prstGeom prst="rect">
            <a:avLst/>
          </a:prstGeom>
        </p:spPr>
      </p:pic>
      <p:sp>
        <p:nvSpPr>
          <p:cNvPr id="3" name="TextBox 2">
            <a:extLst>
              <a:ext uri="{FF2B5EF4-FFF2-40B4-BE49-F238E27FC236}">
                <a16:creationId xmlns:a16="http://schemas.microsoft.com/office/drawing/2014/main" id="{010B25F6-DF9F-1452-40F4-FDC421AB0B4E}"/>
              </a:ext>
            </a:extLst>
          </p:cNvPr>
          <p:cNvSpPr txBox="1"/>
          <p:nvPr/>
        </p:nvSpPr>
        <p:spPr>
          <a:xfrm>
            <a:off x="2967132" y="1382573"/>
            <a:ext cx="2519268" cy="923330"/>
          </a:xfrm>
          <a:prstGeom prst="rect">
            <a:avLst/>
          </a:prstGeom>
          <a:noFill/>
          <a:ln>
            <a:solidFill>
              <a:srgbClr val="0070C0"/>
            </a:solidFill>
          </a:ln>
        </p:spPr>
        <p:txBody>
          <a:bodyPr wrap="square" rtlCol="0">
            <a:spAutoFit/>
          </a:bodyPr>
          <a:lstStyle/>
          <a:p>
            <a:r>
              <a:rPr lang="en-US" dirty="0" err="1">
                <a:latin typeface="Calibri Light" panose="020F0302020204030204" pitchFamily="34" charset="0"/>
              </a:rPr>
              <a:t>Điện</a:t>
            </a:r>
            <a:r>
              <a:rPr lang="en-US" dirty="0">
                <a:latin typeface="Calibri Light" panose="020F0302020204030204" pitchFamily="34" charset="0"/>
              </a:rPr>
              <a:t> </a:t>
            </a:r>
            <a:r>
              <a:rPr lang="en-US" dirty="0" err="1">
                <a:latin typeface="Calibri Light" panose="020F0302020204030204" pitchFamily="34" charset="0"/>
              </a:rPr>
              <a:t>não</a:t>
            </a:r>
            <a:r>
              <a:rPr lang="en-US" dirty="0">
                <a:latin typeface="Calibri Light" panose="020F0302020204030204" pitchFamily="34" charset="0"/>
              </a:rPr>
              <a:t> (9)</a:t>
            </a:r>
          </a:p>
          <a:p>
            <a:r>
              <a:rPr lang="en-US" dirty="0" err="1">
                <a:latin typeface="Calibri Light" panose="020F0302020204030204" pitchFamily="34" charset="0"/>
              </a:rPr>
              <a:t>Điện</a:t>
            </a:r>
            <a:r>
              <a:rPr lang="en-US" dirty="0">
                <a:latin typeface="Calibri Light" panose="020F0302020204030204" pitchFamily="34" charset="0"/>
              </a:rPr>
              <a:t> </a:t>
            </a:r>
            <a:r>
              <a:rPr lang="en-US" dirty="0" err="1">
                <a:latin typeface="Calibri Light" panose="020F0302020204030204" pitchFamily="34" charset="0"/>
              </a:rPr>
              <a:t>cơ</a:t>
            </a:r>
            <a:r>
              <a:rPr lang="en-US" dirty="0">
                <a:latin typeface="Calibri Light" panose="020F0302020204030204" pitchFamily="34" charset="0"/>
              </a:rPr>
              <a:t> </a:t>
            </a:r>
            <a:r>
              <a:rPr lang="en-US" dirty="0" err="1">
                <a:latin typeface="Calibri Light" panose="020F0302020204030204" pitchFamily="34" charset="0"/>
              </a:rPr>
              <a:t>mắt</a:t>
            </a:r>
            <a:r>
              <a:rPr lang="en-US" dirty="0">
                <a:latin typeface="Calibri Light" panose="020F0302020204030204" pitchFamily="34" charset="0"/>
              </a:rPr>
              <a:t> (2)</a:t>
            </a:r>
          </a:p>
          <a:p>
            <a:r>
              <a:rPr lang="en-US" dirty="0" err="1">
                <a:latin typeface="Calibri Light" panose="020F0302020204030204" pitchFamily="34" charset="0"/>
              </a:rPr>
              <a:t>Điện</a:t>
            </a:r>
            <a:r>
              <a:rPr lang="en-US" dirty="0">
                <a:latin typeface="Calibri Light" panose="020F0302020204030204" pitchFamily="34" charset="0"/>
              </a:rPr>
              <a:t> </a:t>
            </a:r>
            <a:r>
              <a:rPr lang="en-US" dirty="0" err="1">
                <a:latin typeface="Calibri Light" panose="020F0302020204030204" pitchFamily="34" charset="0"/>
              </a:rPr>
              <a:t>cơ</a:t>
            </a:r>
            <a:r>
              <a:rPr lang="en-US" dirty="0">
                <a:latin typeface="Calibri Light" panose="020F0302020204030204" pitchFamily="34" charset="0"/>
              </a:rPr>
              <a:t> </a:t>
            </a:r>
            <a:r>
              <a:rPr lang="en-US" dirty="0" err="1">
                <a:latin typeface="Calibri Light" panose="020F0302020204030204" pitchFamily="34" charset="0"/>
              </a:rPr>
              <a:t>cằm</a:t>
            </a:r>
            <a:r>
              <a:rPr lang="en-US" dirty="0">
                <a:latin typeface="Calibri Light" panose="020F0302020204030204" pitchFamily="34" charset="0"/>
              </a:rPr>
              <a:t> (3)</a:t>
            </a:r>
          </a:p>
        </p:txBody>
      </p:sp>
      <p:sp>
        <p:nvSpPr>
          <p:cNvPr id="5" name="TextBox 4">
            <a:extLst>
              <a:ext uri="{FF2B5EF4-FFF2-40B4-BE49-F238E27FC236}">
                <a16:creationId xmlns:a16="http://schemas.microsoft.com/office/drawing/2014/main" id="{ECFE0BFB-EBC0-23B5-6325-C5324A44D3DF}"/>
              </a:ext>
            </a:extLst>
          </p:cNvPr>
          <p:cNvSpPr txBox="1"/>
          <p:nvPr/>
        </p:nvSpPr>
        <p:spPr>
          <a:xfrm>
            <a:off x="2967132" y="5576359"/>
            <a:ext cx="2519266" cy="369332"/>
          </a:xfrm>
          <a:prstGeom prst="rect">
            <a:avLst/>
          </a:prstGeom>
          <a:noFill/>
          <a:ln>
            <a:solidFill>
              <a:srgbClr val="0070C0"/>
            </a:solidFill>
          </a:ln>
        </p:spPr>
        <p:txBody>
          <a:bodyPr wrap="square" rtlCol="0">
            <a:spAutoFit/>
          </a:bodyPr>
          <a:lstStyle/>
          <a:p>
            <a:r>
              <a:rPr lang="en-US" dirty="0" err="1">
                <a:latin typeface="Calibri Light" panose="020F0302020204030204" pitchFamily="34" charset="0"/>
              </a:rPr>
              <a:t>Điện</a:t>
            </a:r>
            <a:r>
              <a:rPr lang="en-US" dirty="0">
                <a:latin typeface="Calibri Light" panose="020F0302020204030204" pitchFamily="34" charset="0"/>
              </a:rPr>
              <a:t> </a:t>
            </a:r>
            <a:r>
              <a:rPr lang="en-US" dirty="0" err="1">
                <a:latin typeface="Calibri Light" panose="020F0302020204030204" pitchFamily="34" charset="0"/>
              </a:rPr>
              <a:t>cơ</a:t>
            </a:r>
            <a:r>
              <a:rPr lang="en-US" dirty="0">
                <a:latin typeface="Calibri Light" panose="020F0302020204030204" pitchFamily="34" charset="0"/>
              </a:rPr>
              <a:t> </a:t>
            </a:r>
            <a:r>
              <a:rPr lang="en-US" dirty="0" err="1">
                <a:latin typeface="Calibri Light" panose="020F0302020204030204" pitchFamily="34" charset="0"/>
              </a:rPr>
              <a:t>chân</a:t>
            </a:r>
            <a:r>
              <a:rPr lang="en-US" dirty="0">
                <a:latin typeface="Calibri Light" panose="020F0302020204030204" pitchFamily="34" charset="0"/>
              </a:rPr>
              <a:t> (4)</a:t>
            </a:r>
          </a:p>
        </p:txBody>
      </p:sp>
      <p:sp>
        <p:nvSpPr>
          <p:cNvPr id="6" name="TextBox 5">
            <a:extLst>
              <a:ext uri="{FF2B5EF4-FFF2-40B4-BE49-F238E27FC236}">
                <a16:creationId xmlns:a16="http://schemas.microsoft.com/office/drawing/2014/main" id="{C95E44EE-1054-1C8C-9845-F4236F83768F}"/>
              </a:ext>
            </a:extLst>
          </p:cNvPr>
          <p:cNvSpPr txBox="1"/>
          <p:nvPr/>
        </p:nvSpPr>
        <p:spPr>
          <a:xfrm>
            <a:off x="2958360" y="2378039"/>
            <a:ext cx="2519268" cy="338554"/>
          </a:xfrm>
          <a:prstGeom prst="rect">
            <a:avLst/>
          </a:prstGeom>
          <a:noFill/>
          <a:ln>
            <a:solidFill>
              <a:srgbClr val="0070C0"/>
            </a:solidFill>
          </a:ln>
        </p:spPr>
        <p:txBody>
          <a:bodyPr wrap="square" rtlCol="0">
            <a:spAutoFit/>
          </a:bodyPr>
          <a:lstStyle/>
          <a:p>
            <a:r>
              <a:rPr lang="en-US" sz="1600" dirty="0">
                <a:latin typeface="Calibri Light" panose="020F0302020204030204" pitchFamily="34" charset="0"/>
              </a:rPr>
              <a:t>Cannula (1) / Thermistor (1)</a:t>
            </a:r>
          </a:p>
        </p:txBody>
      </p:sp>
      <p:sp>
        <p:nvSpPr>
          <p:cNvPr id="7" name="TextBox 6">
            <a:extLst>
              <a:ext uri="{FF2B5EF4-FFF2-40B4-BE49-F238E27FC236}">
                <a16:creationId xmlns:a16="http://schemas.microsoft.com/office/drawing/2014/main" id="{2C31C63D-3F4C-4ABF-C7B4-D98743F366F5}"/>
              </a:ext>
            </a:extLst>
          </p:cNvPr>
          <p:cNvSpPr txBox="1"/>
          <p:nvPr/>
        </p:nvSpPr>
        <p:spPr>
          <a:xfrm>
            <a:off x="2958358" y="4978076"/>
            <a:ext cx="2519267" cy="369332"/>
          </a:xfrm>
          <a:prstGeom prst="rect">
            <a:avLst/>
          </a:prstGeom>
          <a:noFill/>
          <a:ln>
            <a:solidFill>
              <a:srgbClr val="0070C0"/>
            </a:solidFill>
          </a:ln>
        </p:spPr>
        <p:txBody>
          <a:bodyPr wrap="square" rtlCol="0">
            <a:spAutoFit/>
          </a:bodyPr>
          <a:lstStyle/>
          <a:p>
            <a:r>
              <a:rPr lang="en-US" dirty="0">
                <a:latin typeface="Calibri Light" panose="020F0302020204030204" pitchFamily="34" charset="0"/>
              </a:rPr>
              <a:t>Oxi </a:t>
            </a:r>
            <a:r>
              <a:rPr lang="en-US" dirty="0" err="1">
                <a:latin typeface="Calibri Light" panose="020F0302020204030204" pitchFamily="34" charset="0"/>
              </a:rPr>
              <a:t>máu</a:t>
            </a:r>
            <a:r>
              <a:rPr lang="en-US" dirty="0">
                <a:latin typeface="Calibri Light" panose="020F0302020204030204" pitchFamily="34" charset="0"/>
              </a:rPr>
              <a:t> – </a:t>
            </a:r>
            <a:r>
              <a:rPr lang="en-US" dirty="0" err="1">
                <a:latin typeface="Calibri Light" panose="020F0302020204030204" pitchFamily="34" charset="0"/>
              </a:rPr>
              <a:t>Nhịp</a:t>
            </a:r>
            <a:r>
              <a:rPr lang="en-US" dirty="0">
                <a:latin typeface="Calibri Light" panose="020F0302020204030204" pitchFamily="34" charset="0"/>
              </a:rPr>
              <a:t> </a:t>
            </a:r>
            <a:r>
              <a:rPr lang="en-US" dirty="0" err="1">
                <a:latin typeface="Calibri Light" panose="020F0302020204030204" pitchFamily="34" charset="0"/>
              </a:rPr>
              <a:t>tim</a:t>
            </a:r>
            <a:r>
              <a:rPr lang="en-US" dirty="0">
                <a:latin typeface="Calibri Light" panose="020F0302020204030204" pitchFamily="34" charset="0"/>
              </a:rPr>
              <a:t> (1)</a:t>
            </a:r>
          </a:p>
        </p:txBody>
      </p:sp>
      <p:sp>
        <p:nvSpPr>
          <p:cNvPr id="8" name="TextBox 7">
            <a:extLst>
              <a:ext uri="{FF2B5EF4-FFF2-40B4-BE49-F238E27FC236}">
                <a16:creationId xmlns:a16="http://schemas.microsoft.com/office/drawing/2014/main" id="{ACA16AA4-83BE-76B7-4BE7-7E72B7E37C78}"/>
              </a:ext>
            </a:extLst>
          </p:cNvPr>
          <p:cNvSpPr txBox="1"/>
          <p:nvPr/>
        </p:nvSpPr>
        <p:spPr>
          <a:xfrm>
            <a:off x="2958358" y="2806097"/>
            <a:ext cx="2519268" cy="1200329"/>
          </a:xfrm>
          <a:prstGeom prst="rect">
            <a:avLst/>
          </a:prstGeom>
          <a:noFill/>
          <a:ln>
            <a:solidFill>
              <a:srgbClr val="0070C0"/>
            </a:solidFill>
          </a:ln>
        </p:spPr>
        <p:txBody>
          <a:bodyPr wrap="square" rtlCol="0">
            <a:spAutoFit/>
          </a:bodyPr>
          <a:lstStyle/>
          <a:p>
            <a:r>
              <a:rPr lang="en-US" b="1" dirty="0" err="1">
                <a:latin typeface="Calibri Light" panose="020F0302020204030204" pitchFamily="34" charset="0"/>
              </a:rPr>
              <a:t>Máy</a:t>
            </a:r>
            <a:r>
              <a:rPr lang="en-US" b="1" dirty="0">
                <a:latin typeface="Calibri Light" panose="020F0302020204030204" pitchFamily="34" charset="0"/>
              </a:rPr>
              <a:t> </a:t>
            </a:r>
            <a:r>
              <a:rPr lang="en-US" b="1" dirty="0" err="1">
                <a:latin typeface="Calibri Light" panose="020F0302020204030204" pitchFamily="34" charset="0"/>
              </a:rPr>
              <a:t>đo</a:t>
            </a:r>
            <a:endParaRPr lang="en-US" b="1" dirty="0">
              <a:latin typeface="Calibri Light" panose="020F0302020204030204" pitchFamily="34" charset="0"/>
            </a:endParaRPr>
          </a:p>
          <a:p>
            <a:r>
              <a:rPr lang="en-US" dirty="0">
                <a:latin typeface="Calibri Light" panose="020F0302020204030204" pitchFamily="34" charset="0"/>
              </a:rPr>
              <a:t>Micro (1)</a:t>
            </a:r>
          </a:p>
          <a:p>
            <a:r>
              <a:rPr lang="en-US" dirty="0" err="1">
                <a:latin typeface="Calibri Light" panose="020F0302020204030204" pitchFamily="34" charset="0"/>
              </a:rPr>
              <a:t>Cử</a:t>
            </a:r>
            <a:r>
              <a:rPr lang="en-US" dirty="0">
                <a:latin typeface="Calibri Light" panose="020F0302020204030204" pitchFamily="34" charset="0"/>
              </a:rPr>
              <a:t> </a:t>
            </a:r>
            <a:r>
              <a:rPr lang="en-US" dirty="0" err="1">
                <a:latin typeface="Calibri Light" panose="020F0302020204030204" pitchFamily="34" charset="0"/>
              </a:rPr>
              <a:t>động</a:t>
            </a:r>
            <a:r>
              <a:rPr lang="en-US" dirty="0">
                <a:latin typeface="Calibri Light" panose="020F0302020204030204" pitchFamily="34" charset="0"/>
              </a:rPr>
              <a:t> </a:t>
            </a:r>
            <a:r>
              <a:rPr lang="en-US" dirty="0" err="1">
                <a:latin typeface="Calibri Light" panose="020F0302020204030204" pitchFamily="34" charset="0"/>
              </a:rPr>
              <a:t>ký</a:t>
            </a:r>
            <a:r>
              <a:rPr lang="en-US" dirty="0">
                <a:latin typeface="Calibri Light" panose="020F0302020204030204" pitchFamily="34" charset="0"/>
              </a:rPr>
              <a:t> (1)</a:t>
            </a:r>
          </a:p>
          <a:p>
            <a:r>
              <a:rPr lang="en-US" dirty="0" err="1">
                <a:latin typeface="Calibri Light" panose="020F0302020204030204" pitchFamily="34" charset="0"/>
              </a:rPr>
              <a:t>Tư</a:t>
            </a:r>
            <a:r>
              <a:rPr lang="en-US" dirty="0">
                <a:latin typeface="Calibri Light" panose="020F0302020204030204" pitchFamily="34" charset="0"/>
              </a:rPr>
              <a:t> </a:t>
            </a:r>
            <a:r>
              <a:rPr lang="en-US" dirty="0" err="1">
                <a:latin typeface="Calibri Light" panose="020F0302020204030204" pitchFamily="34" charset="0"/>
              </a:rPr>
              <a:t>thế</a:t>
            </a:r>
            <a:r>
              <a:rPr lang="en-US" dirty="0">
                <a:latin typeface="Calibri Light" panose="020F0302020204030204" pitchFamily="34" charset="0"/>
              </a:rPr>
              <a:t> (1)</a:t>
            </a:r>
          </a:p>
        </p:txBody>
      </p:sp>
      <p:cxnSp>
        <p:nvCxnSpPr>
          <p:cNvPr id="9" name="Straight Arrow Connector 8">
            <a:extLst>
              <a:ext uri="{FF2B5EF4-FFF2-40B4-BE49-F238E27FC236}">
                <a16:creationId xmlns:a16="http://schemas.microsoft.com/office/drawing/2014/main" id="{3426AF9B-E948-D771-EF7E-54C939A4F66A}"/>
              </a:ext>
            </a:extLst>
          </p:cNvPr>
          <p:cNvCxnSpPr>
            <a:cxnSpLocks/>
            <a:stCxn id="3" idx="1"/>
          </p:cNvCxnSpPr>
          <p:nvPr/>
        </p:nvCxnSpPr>
        <p:spPr>
          <a:xfrm flipH="1" flipV="1">
            <a:off x="1576874" y="1767577"/>
            <a:ext cx="1390258" cy="76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D403AEE-DC0D-7683-0167-5E955FB8F15C}"/>
              </a:ext>
            </a:extLst>
          </p:cNvPr>
          <p:cNvCxnSpPr>
            <a:cxnSpLocks/>
            <a:stCxn id="6" idx="1"/>
          </p:cNvCxnSpPr>
          <p:nvPr/>
        </p:nvCxnSpPr>
        <p:spPr>
          <a:xfrm flipH="1" flipV="1">
            <a:off x="1511559" y="2140975"/>
            <a:ext cx="1446801" cy="406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B9DB627-9C14-1E40-7C48-D8A87FCB9FEC}"/>
              </a:ext>
            </a:extLst>
          </p:cNvPr>
          <p:cNvCxnSpPr>
            <a:cxnSpLocks/>
            <a:stCxn id="8" idx="1"/>
          </p:cNvCxnSpPr>
          <p:nvPr/>
        </p:nvCxnSpPr>
        <p:spPr>
          <a:xfrm flipH="1" flipV="1">
            <a:off x="1511559" y="2859442"/>
            <a:ext cx="1446799" cy="546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F3533CD-E584-CDE7-08B4-4EAA3ACC169E}"/>
              </a:ext>
            </a:extLst>
          </p:cNvPr>
          <p:cNvCxnSpPr>
            <a:cxnSpLocks/>
            <a:stCxn id="7" idx="1"/>
          </p:cNvCxnSpPr>
          <p:nvPr/>
        </p:nvCxnSpPr>
        <p:spPr>
          <a:xfrm flipH="1" flipV="1">
            <a:off x="2071396" y="4417847"/>
            <a:ext cx="886962" cy="74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47A8903-D23A-E5BB-99FB-CCB25258F349}"/>
              </a:ext>
            </a:extLst>
          </p:cNvPr>
          <p:cNvCxnSpPr>
            <a:cxnSpLocks/>
            <a:stCxn id="5" idx="1"/>
          </p:cNvCxnSpPr>
          <p:nvPr/>
        </p:nvCxnSpPr>
        <p:spPr>
          <a:xfrm flipH="1" flipV="1">
            <a:off x="1791478" y="5576359"/>
            <a:ext cx="1175654"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3A348E07-BD65-852C-CDBF-642996C4B666}"/>
              </a:ext>
            </a:extLst>
          </p:cNvPr>
          <p:cNvCxnSpPr>
            <a:cxnSpLocks/>
            <a:stCxn id="52" idx="1"/>
          </p:cNvCxnSpPr>
          <p:nvPr/>
        </p:nvCxnSpPr>
        <p:spPr>
          <a:xfrm flipH="1" flipV="1">
            <a:off x="1576874" y="3844304"/>
            <a:ext cx="1381484" cy="8814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9327B967-31D3-A859-309A-4E569BAFB689}"/>
              </a:ext>
            </a:extLst>
          </p:cNvPr>
          <p:cNvSpPr txBox="1"/>
          <p:nvPr/>
        </p:nvSpPr>
        <p:spPr>
          <a:xfrm>
            <a:off x="2958360" y="4102744"/>
            <a:ext cx="2519266" cy="369332"/>
          </a:xfrm>
          <a:prstGeom prst="rect">
            <a:avLst/>
          </a:prstGeom>
          <a:noFill/>
          <a:ln>
            <a:solidFill>
              <a:srgbClr val="0070C0"/>
            </a:solidFill>
          </a:ln>
        </p:spPr>
        <p:txBody>
          <a:bodyPr wrap="square" rtlCol="0">
            <a:spAutoFit/>
          </a:bodyPr>
          <a:lstStyle/>
          <a:p>
            <a:r>
              <a:rPr lang="en-US" dirty="0" err="1">
                <a:latin typeface="Calibri Light" panose="020F0302020204030204" pitchFamily="34" charset="0"/>
              </a:rPr>
              <a:t>Điện</a:t>
            </a:r>
            <a:r>
              <a:rPr lang="en-US" dirty="0">
                <a:latin typeface="Calibri Light" panose="020F0302020204030204" pitchFamily="34" charset="0"/>
              </a:rPr>
              <a:t> </a:t>
            </a:r>
            <a:r>
              <a:rPr lang="en-US" dirty="0" err="1">
                <a:latin typeface="Calibri Light" panose="020F0302020204030204" pitchFamily="34" charset="0"/>
              </a:rPr>
              <a:t>tim</a:t>
            </a:r>
            <a:r>
              <a:rPr lang="en-US" dirty="0">
                <a:latin typeface="Calibri Light" panose="020F0302020204030204" pitchFamily="34" charset="0"/>
              </a:rPr>
              <a:t> (2)</a:t>
            </a:r>
          </a:p>
        </p:txBody>
      </p:sp>
      <p:cxnSp>
        <p:nvCxnSpPr>
          <p:cNvPr id="44" name="Straight Arrow Connector 43">
            <a:extLst>
              <a:ext uri="{FF2B5EF4-FFF2-40B4-BE49-F238E27FC236}">
                <a16:creationId xmlns:a16="http://schemas.microsoft.com/office/drawing/2014/main" id="{4A8107BF-3032-7022-F91C-E5E5C123ECB3}"/>
              </a:ext>
            </a:extLst>
          </p:cNvPr>
          <p:cNvCxnSpPr>
            <a:cxnSpLocks/>
            <a:stCxn id="43" idx="1"/>
          </p:cNvCxnSpPr>
          <p:nvPr/>
        </p:nvCxnSpPr>
        <p:spPr>
          <a:xfrm flipH="1" flipV="1">
            <a:off x="1791478" y="3275045"/>
            <a:ext cx="1166882" cy="10123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C4C5D6F8-9CD4-CE6B-D32F-8341D54C4AEB}"/>
              </a:ext>
            </a:extLst>
          </p:cNvPr>
          <p:cNvSpPr txBox="1"/>
          <p:nvPr/>
        </p:nvSpPr>
        <p:spPr>
          <a:xfrm>
            <a:off x="2958358" y="4541093"/>
            <a:ext cx="2519267" cy="369332"/>
          </a:xfrm>
          <a:prstGeom prst="rect">
            <a:avLst/>
          </a:prstGeom>
          <a:noFill/>
          <a:ln>
            <a:solidFill>
              <a:srgbClr val="0070C0"/>
            </a:solidFill>
          </a:ln>
        </p:spPr>
        <p:txBody>
          <a:bodyPr wrap="square" rtlCol="0">
            <a:spAutoFit/>
          </a:bodyPr>
          <a:lstStyle/>
          <a:p>
            <a:r>
              <a:rPr lang="en-US" dirty="0" err="1">
                <a:latin typeface="Calibri Light" panose="020F0302020204030204" pitchFamily="34" charset="0"/>
              </a:rPr>
              <a:t>Dây</a:t>
            </a:r>
            <a:r>
              <a:rPr lang="en-US" dirty="0">
                <a:latin typeface="Calibri Light" panose="020F0302020204030204" pitchFamily="34" charset="0"/>
              </a:rPr>
              <a:t> </a:t>
            </a:r>
            <a:r>
              <a:rPr lang="en-US" dirty="0" err="1">
                <a:latin typeface="Calibri Light" panose="020F0302020204030204" pitchFamily="34" charset="0"/>
              </a:rPr>
              <a:t>đai</a:t>
            </a:r>
            <a:r>
              <a:rPr lang="en-US" dirty="0">
                <a:latin typeface="Calibri Light" panose="020F0302020204030204" pitchFamily="34" charset="0"/>
              </a:rPr>
              <a:t> </a:t>
            </a:r>
            <a:r>
              <a:rPr lang="en-US" dirty="0" err="1">
                <a:latin typeface="Calibri Light" panose="020F0302020204030204" pitchFamily="34" charset="0"/>
              </a:rPr>
              <a:t>ngực</a:t>
            </a:r>
            <a:r>
              <a:rPr lang="en-US" dirty="0">
                <a:latin typeface="Calibri Light" panose="020F0302020204030204" pitchFamily="34" charset="0"/>
              </a:rPr>
              <a:t> – </a:t>
            </a:r>
            <a:r>
              <a:rPr lang="en-US" dirty="0" err="1">
                <a:latin typeface="Calibri Light" panose="020F0302020204030204" pitchFamily="34" charset="0"/>
              </a:rPr>
              <a:t>bụng</a:t>
            </a:r>
            <a:r>
              <a:rPr lang="en-US" dirty="0">
                <a:latin typeface="Calibri Light" panose="020F0302020204030204" pitchFamily="34" charset="0"/>
              </a:rPr>
              <a:t> (2)</a:t>
            </a:r>
          </a:p>
        </p:txBody>
      </p:sp>
      <p:sp>
        <p:nvSpPr>
          <p:cNvPr id="10" name="Oval 9">
            <a:extLst>
              <a:ext uri="{FF2B5EF4-FFF2-40B4-BE49-F238E27FC236}">
                <a16:creationId xmlns:a16="http://schemas.microsoft.com/office/drawing/2014/main" id="{AA727AAC-5DD9-AA79-D8DA-1086B39B483C}"/>
              </a:ext>
            </a:extLst>
          </p:cNvPr>
          <p:cNvSpPr/>
          <p:nvPr/>
        </p:nvSpPr>
        <p:spPr>
          <a:xfrm>
            <a:off x="5579947" y="4527667"/>
            <a:ext cx="373224" cy="373224"/>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b="1" dirty="0">
                <a:latin typeface="Calibri Light" panose="020F0302020204030204" pitchFamily="34" charset="0"/>
              </a:rPr>
              <a:t>4</a:t>
            </a:r>
          </a:p>
        </p:txBody>
      </p:sp>
      <p:sp>
        <p:nvSpPr>
          <p:cNvPr id="11" name="Oval 10">
            <a:extLst>
              <a:ext uri="{FF2B5EF4-FFF2-40B4-BE49-F238E27FC236}">
                <a16:creationId xmlns:a16="http://schemas.microsoft.com/office/drawing/2014/main" id="{83BD9517-1C4D-8A1F-D4AB-7F24EFF42CA5}"/>
              </a:ext>
            </a:extLst>
          </p:cNvPr>
          <p:cNvSpPr/>
          <p:nvPr/>
        </p:nvSpPr>
        <p:spPr>
          <a:xfrm>
            <a:off x="5583612" y="5621209"/>
            <a:ext cx="373224" cy="373224"/>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b="1" dirty="0">
                <a:latin typeface="Calibri Light" panose="020F0302020204030204" pitchFamily="34" charset="0"/>
              </a:rPr>
              <a:t>3</a:t>
            </a:r>
          </a:p>
        </p:txBody>
      </p:sp>
      <p:sp>
        <p:nvSpPr>
          <p:cNvPr id="13" name="Oval 12">
            <a:extLst>
              <a:ext uri="{FF2B5EF4-FFF2-40B4-BE49-F238E27FC236}">
                <a16:creationId xmlns:a16="http://schemas.microsoft.com/office/drawing/2014/main" id="{F3C82B5D-AA35-59F6-290E-5A8A3C8569B6}"/>
              </a:ext>
            </a:extLst>
          </p:cNvPr>
          <p:cNvSpPr/>
          <p:nvPr/>
        </p:nvSpPr>
        <p:spPr>
          <a:xfrm>
            <a:off x="5583612" y="3189128"/>
            <a:ext cx="373224" cy="373224"/>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b="1" dirty="0">
                <a:latin typeface="Calibri Light" panose="020F0302020204030204" pitchFamily="34" charset="0"/>
              </a:rPr>
              <a:t>1</a:t>
            </a:r>
          </a:p>
        </p:txBody>
      </p:sp>
      <p:sp>
        <p:nvSpPr>
          <p:cNvPr id="14" name="Oval 13">
            <a:extLst>
              <a:ext uri="{FF2B5EF4-FFF2-40B4-BE49-F238E27FC236}">
                <a16:creationId xmlns:a16="http://schemas.microsoft.com/office/drawing/2014/main" id="{45DCCC65-677E-E3F2-8841-B731EF4070F1}"/>
              </a:ext>
            </a:extLst>
          </p:cNvPr>
          <p:cNvSpPr/>
          <p:nvPr/>
        </p:nvSpPr>
        <p:spPr>
          <a:xfrm>
            <a:off x="5583612" y="4079995"/>
            <a:ext cx="373224" cy="373224"/>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b="1" dirty="0">
                <a:latin typeface="Calibri Light" panose="020F0302020204030204" pitchFamily="34" charset="0"/>
              </a:rPr>
              <a:t>2</a:t>
            </a:r>
          </a:p>
        </p:txBody>
      </p:sp>
      <p:sp>
        <p:nvSpPr>
          <p:cNvPr id="16" name="Oval 15">
            <a:extLst>
              <a:ext uri="{FF2B5EF4-FFF2-40B4-BE49-F238E27FC236}">
                <a16:creationId xmlns:a16="http://schemas.microsoft.com/office/drawing/2014/main" id="{28095BE5-7987-6EEE-C3A8-2348DC81F47B}"/>
              </a:ext>
            </a:extLst>
          </p:cNvPr>
          <p:cNvSpPr/>
          <p:nvPr/>
        </p:nvSpPr>
        <p:spPr>
          <a:xfrm>
            <a:off x="5583612" y="4968933"/>
            <a:ext cx="373224" cy="373224"/>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b="1" dirty="0">
                <a:latin typeface="Calibri Light" panose="020F0302020204030204" pitchFamily="34" charset="0"/>
              </a:rPr>
              <a:t>5</a:t>
            </a:r>
          </a:p>
        </p:txBody>
      </p:sp>
      <p:sp>
        <p:nvSpPr>
          <p:cNvPr id="19" name="Oval 18">
            <a:extLst>
              <a:ext uri="{FF2B5EF4-FFF2-40B4-BE49-F238E27FC236}">
                <a16:creationId xmlns:a16="http://schemas.microsoft.com/office/drawing/2014/main" id="{41E5DD4C-885B-AE4A-0E9D-289EC4EE3217}"/>
              </a:ext>
            </a:extLst>
          </p:cNvPr>
          <p:cNvSpPr/>
          <p:nvPr/>
        </p:nvSpPr>
        <p:spPr>
          <a:xfrm>
            <a:off x="5583612" y="1660962"/>
            <a:ext cx="373224" cy="373224"/>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b="1" dirty="0">
                <a:latin typeface="Calibri Light" panose="020F0302020204030204" pitchFamily="34" charset="0"/>
              </a:rPr>
              <a:t>6</a:t>
            </a:r>
          </a:p>
        </p:txBody>
      </p:sp>
      <p:sp>
        <p:nvSpPr>
          <p:cNvPr id="21" name="Oval 20">
            <a:extLst>
              <a:ext uri="{FF2B5EF4-FFF2-40B4-BE49-F238E27FC236}">
                <a16:creationId xmlns:a16="http://schemas.microsoft.com/office/drawing/2014/main" id="{DC670BDC-65A1-6A6B-5027-06CDD4A29F63}"/>
              </a:ext>
            </a:extLst>
          </p:cNvPr>
          <p:cNvSpPr/>
          <p:nvPr/>
        </p:nvSpPr>
        <p:spPr>
          <a:xfrm>
            <a:off x="5583612" y="2392821"/>
            <a:ext cx="373224" cy="373224"/>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b="1" dirty="0">
                <a:latin typeface="Calibri Light" panose="020F0302020204030204" pitchFamily="34" charset="0"/>
              </a:rPr>
              <a:t>7</a:t>
            </a:r>
          </a:p>
        </p:txBody>
      </p:sp>
    </p:spTree>
    <p:extLst>
      <p:ext uri="{BB962C8B-B14F-4D97-AF65-F5344CB8AC3E}">
        <p14:creationId xmlns:p14="http://schemas.microsoft.com/office/powerpoint/2010/main" val="2836571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6" grpId="0" animBg="1"/>
      <p:bldP spid="19" grpId="0" animBg="1"/>
      <p:bldP spid="2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88187" y="1384811"/>
            <a:ext cx="9815626" cy="2616199"/>
          </a:xfrm>
        </p:spPr>
        <p:txBody>
          <a:bodyPr>
            <a:normAutofit/>
          </a:bodyPr>
          <a:lstStyle/>
          <a:p>
            <a:r>
              <a:rPr lang="en-US" b="1" dirty="0"/>
              <a:t>Application of machine learning to predict HCV treatment</a:t>
            </a:r>
          </a:p>
        </p:txBody>
      </p:sp>
      <p:sp>
        <p:nvSpPr>
          <p:cNvPr id="3" name="Subtitle 2"/>
          <p:cNvSpPr>
            <a:spLocks noGrp="1"/>
          </p:cNvSpPr>
          <p:nvPr>
            <p:ph type="subTitle" idx="1"/>
          </p:nvPr>
        </p:nvSpPr>
        <p:spPr>
          <a:xfrm>
            <a:off x="1363287" y="4444394"/>
            <a:ext cx="9144000" cy="1655762"/>
          </a:xfrm>
        </p:spPr>
        <p:txBody>
          <a:bodyPr/>
          <a:lstStyle/>
          <a:p>
            <a:r>
              <a:rPr lang="en-US" dirty="0"/>
              <a:t>Le Duong Hoang Huy</a:t>
            </a:r>
          </a:p>
          <a:p>
            <a:r>
              <a:rPr lang="en-US" dirty="0"/>
              <a:t>Center of Excellence in Clinical Virology</a:t>
            </a:r>
          </a:p>
          <a:p>
            <a:r>
              <a:rPr lang="en-US" dirty="0"/>
              <a:t>Faculty of Medicine, </a:t>
            </a:r>
            <a:r>
              <a:rPr lang="en-US" dirty="0" err="1"/>
              <a:t>Chulalongkorn</a:t>
            </a:r>
            <a:r>
              <a:rPr lang="en-US" dirty="0"/>
              <a:t> University</a:t>
            </a:r>
          </a:p>
        </p:txBody>
      </p:sp>
      <p:sp>
        <p:nvSpPr>
          <p:cNvPr id="4" name="Title 1">
            <a:extLst>
              <a:ext uri="{FF2B5EF4-FFF2-40B4-BE49-F238E27FC236}">
                <a16:creationId xmlns:a16="http://schemas.microsoft.com/office/drawing/2014/main" id="{1729C186-EFB3-C5D4-F74E-327D52F8DE11}"/>
              </a:ext>
            </a:extLst>
          </p:cNvPr>
          <p:cNvSpPr txBox="1">
            <a:spLocks/>
          </p:cNvSpPr>
          <p:nvPr/>
        </p:nvSpPr>
        <p:spPr>
          <a:xfrm>
            <a:off x="838200" y="381751"/>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dirty="0"/>
              <a:t>Project 2 </a:t>
            </a:r>
            <a:endParaRPr lang="en-US" dirty="0"/>
          </a:p>
        </p:txBody>
      </p:sp>
    </p:spTree>
    <p:extLst>
      <p:ext uri="{BB962C8B-B14F-4D97-AF65-F5344CB8AC3E}">
        <p14:creationId xmlns:p14="http://schemas.microsoft.com/office/powerpoint/2010/main" val="2925494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411203" y="209918"/>
            <a:ext cx="9538744" cy="6558342"/>
          </a:xfrm>
        </p:spPr>
      </p:pic>
    </p:spTree>
    <p:extLst>
      <p:ext uri="{BB962C8B-B14F-4D97-AF65-F5344CB8AC3E}">
        <p14:creationId xmlns:p14="http://schemas.microsoft.com/office/powerpoint/2010/main" val="2442951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16297" y="308921"/>
            <a:ext cx="8590972" cy="6013680"/>
          </a:xfrm>
          <a:prstGeom prst="rect">
            <a:avLst/>
          </a:prstGeom>
        </p:spPr>
      </p:pic>
    </p:spTree>
    <p:extLst>
      <p:ext uri="{BB962C8B-B14F-4D97-AF65-F5344CB8AC3E}">
        <p14:creationId xmlns:p14="http://schemas.microsoft.com/office/powerpoint/2010/main" val="1549260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87434" y="206812"/>
            <a:ext cx="10908946" cy="830997"/>
          </a:xfrm>
          <a:prstGeom prst="rect">
            <a:avLst/>
          </a:prstGeom>
        </p:spPr>
        <p:txBody>
          <a:bodyPr wrap="square">
            <a:spAutoFit/>
          </a:bodyPr>
          <a:lstStyle/>
          <a:p>
            <a:pPr algn="ctr"/>
            <a:r>
              <a:rPr lang="en-US" sz="2400" dirty="0">
                <a:latin typeface="Calibri Light" panose="020F0302020204030204" pitchFamily="34" charset="0"/>
                <a:cs typeface="Calibri Light" panose="020F0302020204030204" pitchFamily="34" charset="0"/>
              </a:rPr>
              <a:t>The treatment failure rate for hepatitis C (HCV) with direct-acting antiviral drugs (DAAs) is generally very low, usually </a:t>
            </a:r>
            <a:r>
              <a:rPr lang="en-US" sz="2400" b="1" dirty="0">
                <a:solidFill>
                  <a:srgbClr val="FF0000"/>
                </a:solidFill>
                <a:latin typeface="Calibri Light" panose="020F0302020204030204" pitchFamily="34" charset="0"/>
                <a:cs typeface="Calibri Light" panose="020F0302020204030204" pitchFamily="34" charset="0"/>
              </a:rPr>
              <a:t>below 5%</a:t>
            </a:r>
            <a:r>
              <a:rPr lang="en-US" sz="2400" dirty="0">
                <a:latin typeface="Calibri Light" panose="020F0302020204030204" pitchFamily="34" charset="0"/>
                <a:cs typeface="Calibri Light" panose="020F0302020204030204" pitchFamily="34" charset="0"/>
              </a:rPr>
              <a:t>.</a:t>
            </a:r>
          </a:p>
        </p:txBody>
      </p:sp>
      <p:graphicFrame>
        <p:nvGraphicFramePr>
          <p:cNvPr id="5" name="Diagram 4"/>
          <p:cNvGraphicFramePr/>
          <p:nvPr>
            <p:extLst>
              <p:ext uri="{D42A27DB-BD31-4B8C-83A1-F6EECF244321}">
                <p14:modId xmlns:p14="http://schemas.microsoft.com/office/powerpoint/2010/main" val="2102008394"/>
              </p:ext>
            </p:extLst>
          </p:nvPr>
        </p:nvGraphicFramePr>
        <p:xfrm>
          <a:off x="324778" y="1295841"/>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7549899" y="1568627"/>
            <a:ext cx="3742441" cy="3170099"/>
          </a:xfrm>
          <a:prstGeom prst="rect">
            <a:avLst/>
          </a:prstGeom>
          <a:noFill/>
        </p:spPr>
        <p:txBody>
          <a:bodyPr wrap="square" rtlCol="0">
            <a:spAutoFit/>
          </a:bodyPr>
          <a:lstStyle/>
          <a:p>
            <a:pPr algn="just"/>
            <a:r>
              <a:rPr lang="en-US" sz="2000" dirty="0">
                <a:latin typeface="Calibri Light" panose="020F0302020204030204" pitchFamily="34" charset="0"/>
                <a:cs typeface="Calibri Light" panose="020F0302020204030204" pitchFamily="34" charset="0"/>
              </a:rPr>
              <a:t>In 2022, </a:t>
            </a:r>
            <a:r>
              <a:rPr lang="en-US" sz="2000" b="1" dirty="0">
                <a:solidFill>
                  <a:srgbClr val="00B050"/>
                </a:solidFill>
                <a:latin typeface="Calibri Light" panose="020F0302020204030204" pitchFamily="34" charset="0"/>
                <a:cs typeface="Calibri Light" panose="020F0302020204030204" pitchFamily="34" charset="0"/>
              </a:rPr>
              <a:t>50 million people with HCV globally</a:t>
            </a:r>
            <a:r>
              <a:rPr lang="en-US" sz="2000" dirty="0">
                <a:latin typeface="Calibri Light" panose="020F0302020204030204" pitchFamily="34" charset="0"/>
                <a:cs typeface="Calibri Light" panose="020F0302020204030204" pitchFamily="34" charset="0"/>
              </a:rPr>
              <a:t>.</a:t>
            </a:r>
          </a:p>
          <a:p>
            <a:pPr algn="just"/>
            <a:r>
              <a:rPr lang="en-US" sz="2000" b="1" dirty="0">
                <a:solidFill>
                  <a:srgbClr val="FF0000"/>
                </a:solidFill>
                <a:latin typeface="Calibri Light" panose="020F0302020204030204" pitchFamily="34" charset="0"/>
                <a:cs typeface="Calibri Light" panose="020F0302020204030204" pitchFamily="34" charset="0"/>
              </a:rPr>
              <a:t>36% were diagnosed</a:t>
            </a:r>
            <a:r>
              <a:rPr lang="en-US" sz="2000" dirty="0">
                <a:latin typeface="Calibri Light" panose="020F0302020204030204" pitchFamily="34" charset="0"/>
                <a:cs typeface="Calibri Light" panose="020F0302020204030204" pitchFamily="34" charset="0"/>
              </a:rPr>
              <a:t>, </a:t>
            </a:r>
          </a:p>
          <a:p>
            <a:pPr algn="just"/>
            <a:r>
              <a:rPr lang="en-US" sz="2000" b="1" dirty="0">
                <a:solidFill>
                  <a:srgbClr val="FF0000"/>
                </a:solidFill>
                <a:latin typeface="Calibri Light" panose="020F0302020204030204" pitchFamily="34" charset="0"/>
                <a:cs typeface="Calibri Light" panose="020F0302020204030204" pitchFamily="34" charset="0"/>
              </a:rPr>
              <a:t>20%</a:t>
            </a:r>
            <a:r>
              <a:rPr lang="en-US" sz="2000" dirty="0">
                <a:latin typeface="Calibri Light" panose="020F0302020204030204" pitchFamily="34" charset="0"/>
                <a:cs typeface="Calibri Light" panose="020F0302020204030204" pitchFamily="34" charset="0"/>
              </a:rPr>
              <a:t> </a:t>
            </a:r>
            <a:r>
              <a:rPr lang="en-US" sz="2000" b="1" dirty="0">
                <a:solidFill>
                  <a:srgbClr val="FF0000"/>
                </a:solidFill>
                <a:latin typeface="Calibri Light" panose="020F0302020204030204" pitchFamily="34" charset="0"/>
                <a:cs typeface="Calibri Light" panose="020F0302020204030204" pitchFamily="34" charset="0"/>
              </a:rPr>
              <a:t>received DAA treatment. </a:t>
            </a:r>
            <a:r>
              <a:rPr lang="en-US" sz="2000" dirty="0">
                <a:latin typeface="Calibri Light" panose="020F0302020204030204" pitchFamily="34" charset="0"/>
                <a:cs typeface="Calibri Light" panose="020F0302020204030204" pitchFamily="34" charset="0"/>
              </a:rPr>
              <a:t>(12.5 million).</a:t>
            </a:r>
          </a:p>
          <a:p>
            <a:pPr algn="just"/>
            <a:endParaRPr lang="en-US" sz="2000" dirty="0">
              <a:latin typeface="Calibri Light" panose="020F0302020204030204" pitchFamily="34" charset="0"/>
              <a:cs typeface="Calibri Light" panose="020F0302020204030204" pitchFamily="34" charset="0"/>
            </a:endParaRPr>
          </a:p>
          <a:p>
            <a:pPr algn="just"/>
            <a:r>
              <a:rPr lang="en-US" sz="2000" dirty="0">
                <a:latin typeface="Calibri Light" panose="020F0302020204030204" pitchFamily="34" charset="0"/>
                <a:cs typeface="Calibri Light" panose="020F0302020204030204" pitchFamily="34" charset="0"/>
              </a:rPr>
              <a:t>Rising HCV Resistance to DAAs: A </a:t>
            </a:r>
            <a:r>
              <a:rPr lang="en-US" sz="2000" dirty="0" err="1">
                <a:latin typeface="Calibri Light" panose="020F0302020204030204" pitchFamily="34" charset="0"/>
                <a:cs typeface="Calibri Light" panose="020F0302020204030204" pitchFamily="34" charset="0"/>
              </a:rPr>
              <a:t>GenBank</a:t>
            </a:r>
            <a:r>
              <a:rPr lang="en-US" sz="2000" dirty="0">
                <a:latin typeface="Calibri Light" panose="020F0302020204030204" pitchFamily="34" charset="0"/>
                <a:cs typeface="Calibri Light" panose="020F0302020204030204" pitchFamily="34" charset="0"/>
              </a:rPr>
              <a:t> Sequence Analysis. </a:t>
            </a:r>
          </a:p>
          <a:p>
            <a:pPr algn="just"/>
            <a:endParaRPr lang="en-US" sz="2000" dirty="0">
              <a:latin typeface="Calibri Light" panose="020F0302020204030204" pitchFamily="34" charset="0"/>
              <a:cs typeface="Calibri Light" panose="020F0302020204030204" pitchFamily="34" charset="0"/>
            </a:endParaRPr>
          </a:p>
          <a:p>
            <a:pPr algn="just"/>
            <a:endParaRPr lang="en-US" sz="2000" dirty="0">
              <a:latin typeface="Calibri Light" panose="020F0302020204030204" pitchFamily="34" charset="0"/>
              <a:cs typeface="Calibri Light" panose="020F0302020204030204" pitchFamily="34" charset="0"/>
            </a:endParaRPr>
          </a:p>
        </p:txBody>
      </p:sp>
      <p:sp>
        <p:nvSpPr>
          <p:cNvPr id="7" name="Rectangle 6"/>
          <p:cNvSpPr/>
          <p:nvPr/>
        </p:nvSpPr>
        <p:spPr>
          <a:xfrm>
            <a:off x="7025140" y="5262599"/>
            <a:ext cx="4720621"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b="1" dirty="0">
                <a:latin typeface="Calibri Light" panose="020F0302020204030204" pitchFamily="34" charset="0"/>
                <a:cs typeface="Calibri Light" panose="020F0302020204030204" pitchFamily="34" charset="0"/>
              </a:rPr>
              <a:t>A tool is needed to predict treatment response, particularly in individuals who have experienced previous treatment failure.</a:t>
            </a:r>
          </a:p>
        </p:txBody>
      </p:sp>
    </p:spTree>
    <p:extLst>
      <p:ext uri="{BB962C8B-B14F-4D97-AF65-F5344CB8AC3E}">
        <p14:creationId xmlns:p14="http://schemas.microsoft.com/office/powerpoint/2010/main" val="922586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92253" y="2688124"/>
            <a:ext cx="2771481" cy="1366887"/>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Calibri Light" panose="020F0302020204030204" pitchFamily="34" charset="0"/>
                <a:cs typeface="Calibri Light" panose="020F0302020204030204" pitchFamily="34" charset="0"/>
              </a:rPr>
              <a:t>Sequences from NCBI</a:t>
            </a:r>
          </a:p>
        </p:txBody>
      </p:sp>
      <p:sp>
        <p:nvSpPr>
          <p:cNvPr id="5" name="Rectangle 4"/>
          <p:cNvSpPr/>
          <p:nvPr/>
        </p:nvSpPr>
        <p:spPr>
          <a:xfrm>
            <a:off x="6322385" y="2688123"/>
            <a:ext cx="3731444" cy="1366887"/>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00"/>
                </a:solidFill>
                <a:latin typeface="Calibri Light" panose="020F0302020204030204" pitchFamily="34" charset="0"/>
                <a:cs typeface="Calibri Light" panose="020F0302020204030204" pitchFamily="34" charset="0"/>
              </a:rPr>
              <a:t>Sequences from 150 patients in </a:t>
            </a:r>
            <a:r>
              <a:rPr lang="en-US" sz="2400" b="1" dirty="0" err="1">
                <a:solidFill>
                  <a:srgbClr val="FFFF00"/>
                </a:solidFill>
                <a:latin typeface="Calibri Light" panose="020F0302020204030204" pitchFamily="34" charset="0"/>
                <a:cs typeface="Calibri Light" panose="020F0302020204030204" pitchFamily="34" charset="0"/>
              </a:rPr>
              <a:t>Phetchabun</a:t>
            </a:r>
            <a:r>
              <a:rPr lang="en-US" sz="2400" b="1" dirty="0">
                <a:solidFill>
                  <a:srgbClr val="FFFF00"/>
                </a:solidFill>
                <a:latin typeface="Calibri Light" panose="020F0302020204030204" pitchFamily="34" charset="0"/>
                <a:cs typeface="Calibri Light" panose="020F0302020204030204" pitchFamily="34" charset="0"/>
              </a:rPr>
              <a:t>, Thailand </a:t>
            </a:r>
          </a:p>
        </p:txBody>
      </p:sp>
      <p:sp>
        <p:nvSpPr>
          <p:cNvPr id="6" name="Rectangle 5"/>
          <p:cNvSpPr/>
          <p:nvPr/>
        </p:nvSpPr>
        <p:spPr>
          <a:xfrm>
            <a:off x="1692253" y="1528628"/>
            <a:ext cx="2771481" cy="58603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Calibri Light" panose="020F0302020204030204" pitchFamily="34" charset="0"/>
              </a:rPr>
              <a:t>Discovery phase</a:t>
            </a:r>
          </a:p>
        </p:txBody>
      </p:sp>
      <p:sp>
        <p:nvSpPr>
          <p:cNvPr id="7" name="Rectangle 6"/>
          <p:cNvSpPr/>
          <p:nvPr/>
        </p:nvSpPr>
        <p:spPr>
          <a:xfrm>
            <a:off x="6802366" y="1528627"/>
            <a:ext cx="2771481" cy="58603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Calibri Light" panose="020F0302020204030204" pitchFamily="34" charset="0"/>
              </a:rPr>
              <a:t>Real-world phase</a:t>
            </a:r>
          </a:p>
        </p:txBody>
      </p:sp>
      <p:sp>
        <p:nvSpPr>
          <p:cNvPr id="8" name="Right Arrow 7"/>
          <p:cNvSpPr/>
          <p:nvPr/>
        </p:nvSpPr>
        <p:spPr>
          <a:xfrm>
            <a:off x="4878513" y="3291440"/>
            <a:ext cx="978408" cy="484632"/>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Light" panose="020F0302020204030204" pitchFamily="34" charset="0"/>
            </a:endParaRPr>
          </a:p>
        </p:txBody>
      </p:sp>
    </p:spTree>
    <p:extLst>
      <p:ext uri="{BB962C8B-B14F-4D97-AF65-F5344CB8AC3E}">
        <p14:creationId xmlns:p14="http://schemas.microsoft.com/office/powerpoint/2010/main" val="16047538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09302" y="228536"/>
            <a:ext cx="9373396" cy="6561377"/>
          </a:xfrm>
          <a:prstGeom prst="rect">
            <a:avLst/>
          </a:prstGeom>
        </p:spPr>
      </p:pic>
    </p:spTree>
    <p:extLst>
      <p:ext uri="{BB962C8B-B14F-4D97-AF65-F5344CB8AC3E}">
        <p14:creationId xmlns:p14="http://schemas.microsoft.com/office/powerpoint/2010/main" val="20903565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 Clipping"/>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395924"/>
            <a:ext cx="12192000" cy="6348952"/>
          </a:xfrm>
        </p:spPr>
      </p:pic>
    </p:spTree>
    <p:extLst>
      <p:ext uri="{BB962C8B-B14F-4D97-AF65-F5344CB8AC3E}">
        <p14:creationId xmlns:p14="http://schemas.microsoft.com/office/powerpoint/2010/main" val="2726986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758B9-0765-B936-66BA-897991153ADC}"/>
              </a:ext>
            </a:extLst>
          </p:cNvPr>
          <p:cNvSpPr>
            <a:spLocks noGrp="1"/>
          </p:cNvSpPr>
          <p:nvPr>
            <p:ph type="title"/>
          </p:nvPr>
        </p:nvSpPr>
        <p:spPr>
          <a:xfrm>
            <a:off x="882534" y="199507"/>
            <a:ext cx="10515600" cy="937202"/>
          </a:xfrm>
        </p:spPr>
        <p:txBody>
          <a:bodyPr/>
          <a:lstStyle/>
          <a:p>
            <a:pPr algn="ctr"/>
            <a:r>
              <a:rPr lang="en-GB" dirty="0"/>
              <a:t>Project 3</a:t>
            </a:r>
            <a:endParaRPr lang="en-US" dirty="0"/>
          </a:p>
        </p:txBody>
      </p:sp>
      <p:pic>
        <p:nvPicPr>
          <p:cNvPr id="7" name="Picture 6">
            <a:extLst>
              <a:ext uri="{FF2B5EF4-FFF2-40B4-BE49-F238E27FC236}">
                <a16:creationId xmlns:a16="http://schemas.microsoft.com/office/drawing/2014/main" id="{E6C55506-D7EC-C401-9C00-02F158C397AF}"/>
              </a:ext>
            </a:extLst>
          </p:cNvPr>
          <p:cNvPicPr>
            <a:picLocks noChangeAspect="1"/>
          </p:cNvPicPr>
          <p:nvPr/>
        </p:nvPicPr>
        <p:blipFill>
          <a:blip r:embed="rId2"/>
          <a:stretch>
            <a:fillRect/>
          </a:stretch>
        </p:blipFill>
        <p:spPr>
          <a:xfrm>
            <a:off x="1733749" y="1301856"/>
            <a:ext cx="8080812" cy="5240259"/>
          </a:xfrm>
          <a:prstGeom prst="rect">
            <a:avLst/>
          </a:prstGeom>
        </p:spPr>
      </p:pic>
    </p:spTree>
    <p:extLst>
      <p:ext uri="{BB962C8B-B14F-4D97-AF65-F5344CB8AC3E}">
        <p14:creationId xmlns:p14="http://schemas.microsoft.com/office/powerpoint/2010/main" val="2536056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758B9-0765-B936-66BA-897991153ADC}"/>
              </a:ext>
            </a:extLst>
          </p:cNvPr>
          <p:cNvSpPr>
            <a:spLocks noGrp="1"/>
          </p:cNvSpPr>
          <p:nvPr>
            <p:ph type="title"/>
          </p:nvPr>
        </p:nvSpPr>
        <p:spPr>
          <a:xfrm>
            <a:off x="838200" y="365126"/>
            <a:ext cx="10515600" cy="992620"/>
          </a:xfrm>
        </p:spPr>
        <p:txBody>
          <a:bodyPr/>
          <a:lstStyle/>
          <a:p>
            <a:pPr algn="ctr"/>
            <a:r>
              <a:rPr lang="en-GB" dirty="0"/>
              <a:t>Project 3: collect more data </a:t>
            </a:r>
            <a:endParaRPr lang="en-US" dirty="0"/>
          </a:p>
        </p:txBody>
      </p:sp>
      <p:pic>
        <p:nvPicPr>
          <p:cNvPr id="5" name="Picture 4">
            <a:extLst>
              <a:ext uri="{FF2B5EF4-FFF2-40B4-BE49-F238E27FC236}">
                <a16:creationId xmlns:a16="http://schemas.microsoft.com/office/drawing/2014/main" id="{532D848A-5F55-9D04-1ECD-AAEF57C86A46}"/>
              </a:ext>
            </a:extLst>
          </p:cNvPr>
          <p:cNvPicPr>
            <a:picLocks noChangeAspect="1"/>
          </p:cNvPicPr>
          <p:nvPr/>
        </p:nvPicPr>
        <p:blipFill>
          <a:blip r:embed="rId2"/>
          <a:stretch>
            <a:fillRect/>
          </a:stretch>
        </p:blipFill>
        <p:spPr>
          <a:xfrm>
            <a:off x="1468582" y="1548445"/>
            <a:ext cx="8767156" cy="4880849"/>
          </a:xfrm>
          <a:prstGeom prst="rect">
            <a:avLst/>
          </a:prstGeom>
        </p:spPr>
      </p:pic>
    </p:spTree>
    <p:extLst>
      <p:ext uri="{BB962C8B-B14F-4D97-AF65-F5344CB8AC3E}">
        <p14:creationId xmlns:p14="http://schemas.microsoft.com/office/powerpoint/2010/main" val="511768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758B9-0765-B936-66BA-897991153ADC}"/>
              </a:ext>
            </a:extLst>
          </p:cNvPr>
          <p:cNvSpPr>
            <a:spLocks noGrp="1"/>
          </p:cNvSpPr>
          <p:nvPr>
            <p:ph type="title"/>
          </p:nvPr>
        </p:nvSpPr>
        <p:spPr/>
        <p:txBody>
          <a:bodyPr>
            <a:normAutofit/>
          </a:bodyPr>
          <a:lstStyle/>
          <a:p>
            <a:pPr algn="ctr"/>
            <a:r>
              <a:rPr lang="en-GB" sz="4800" b="1" dirty="0"/>
              <a:t>Project 3: Objectives</a:t>
            </a:r>
            <a:endParaRPr lang="en-US" sz="4800" b="1" dirty="0"/>
          </a:p>
        </p:txBody>
      </p:sp>
      <p:pic>
        <p:nvPicPr>
          <p:cNvPr id="4" name="Picture 3">
            <a:extLst>
              <a:ext uri="{FF2B5EF4-FFF2-40B4-BE49-F238E27FC236}">
                <a16:creationId xmlns:a16="http://schemas.microsoft.com/office/drawing/2014/main" id="{674C9C4F-2186-9D79-E8C3-99952CA815C7}"/>
              </a:ext>
            </a:extLst>
          </p:cNvPr>
          <p:cNvPicPr>
            <a:picLocks noChangeAspect="1"/>
          </p:cNvPicPr>
          <p:nvPr/>
        </p:nvPicPr>
        <p:blipFill>
          <a:blip r:embed="rId2"/>
          <a:stretch>
            <a:fillRect/>
          </a:stretch>
        </p:blipFill>
        <p:spPr>
          <a:xfrm>
            <a:off x="475210" y="1763876"/>
            <a:ext cx="10878590" cy="4169277"/>
          </a:xfrm>
          <a:prstGeom prst="rect">
            <a:avLst/>
          </a:prstGeom>
        </p:spPr>
      </p:pic>
    </p:spTree>
    <p:extLst>
      <p:ext uri="{BB962C8B-B14F-4D97-AF65-F5344CB8AC3E}">
        <p14:creationId xmlns:p14="http://schemas.microsoft.com/office/powerpoint/2010/main" val="36304880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758B9-0765-B936-66BA-897991153ADC}"/>
              </a:ext>
            </a:extLst>
          </p:cNvPr>
          <p:cNvSpPr>
            <a:spLocks noGrp="1"/>
          </p:cNvSpPr>
          <p:nvPr>
            <p:ph type="title"/>
          </p:nvPr>
        </p:nvSpPr>
        <p:spPr>
          <a:xfrm>
            <a:off x="838200" y="176976"/>
            <a:ext cx="10515600" cy="848533"/>
          </a:xfrm>
        </p:spPr>
        <p:txBody>
          <a:bodyPr>
            <a:normAutofit/>
          </a:bodyPr>
          <a:lstStyle/>
          <a:p>
            <a:pPr algn="ctr"/>
            <a:r>
              <a:rPr lang="en-GB" sz="4800" b="1" dirty="0"/>
              <a:t>Project 3: Objectives</a:t>
            </a:r>
            <a:endParaRPr lang="en-US" sz="4800" b="1" dirty="0"/>
          </a:p>
        </p:txBody>
      </p:sp>
      <p:pic>
        <p:nvPicPr>
          <p:cNvPr id="5" name="Picture 4">
            <a:extLst>
              <a:ext uri="{FF2B5EF4-FFF2-40B4-BE49-F238E27FC236}">
                <a16:creationId xmlns:a16="http://schemas.microsoft.com/office/drawing/2014/main" id="{C26D893C-1441-0930-43A0-8DFA28C77121}"/>
              </a:ext>
            </a:extLst>
          </p:cNvPr>
          <p:cNvPicPr>
            <a:picLocks noChangeAspect="1"/>
          </p:cNvPicPr>
          <p:nvPr/>
        </p:nvPicPr>
        <p:blipFill>
          <a:blip r:embed="rId2"/>
          <a:stretch>
            <a:fillRect/>
          </a:stretch>
        </p:blipFill>
        <p:spPr>
          <a:xfrm>
            <a:off x="2896523" y="1391429"/>
            <a:ext cx="5898341" cy="4990336"/>
          </a:xfrm>
          <a:prstGeom prst="rect">
            <a:avLst/>
          </a:prstGeom>
        </p:spPr>
      </p:pic>
    </p:spTree>
    <p:extLst>
      <p:ext uri="{BB962C8B-B14F-4D97-AF65-F5344CB8AC3E}">
        <p14:creationId xmlns:p14="http://schemas.microsoft.com/office/powerpoint/2010/main" val="6902710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758B9-0765-B936-66BA-897991153ADC}"/>
              </a:ext>
            </a:extLst>
          </p:cNvPr>
          <p:cNvSpPr>
            <a:spLocks noGrp="1"/>
          </p:cNvSpPr>
          <p:nvPr>
            <p:ph type="title"/>
          </p:nvPr>
        </p:nvSpPr>
        <p:spPr>
          <a:xfrm>
            <a:off x="838200" y="176976"/>
            <a:ext cx="10515600" cy="848533"/>
          </a:xfrm>
        </p:spPr>
        <p:txBody>
          <a:bodyPr>
            <a:normAutofit/>
          </a:bodyPr>
          <a:lstStyle/>
          <a:p>
            <a:pPr algn="ctr"/>
            <a:r>
              <a:rPr lang="en-GB" sz="4800" b="1" dirty="0"/>
              <a:t>Project 3: Objectives</a:t>
            </a:r>
            <a:endParaRPr lang="en-US" sz="4800" b="1" dirty="0"/>
          </a:p>
        </p:txBody>
      </p:sp>
      <p:pic>
        <p:nvPicPr>
          <p:cNvPr id="4" name="Picture 3">
            <a:extLst>
              <a:ext uri="{FF2B5EF4-FFF2-40B4-BE49-F238E27FC236}">
                <a16:creationId xmlns:a16="http://schemas.microsoft.com/office/drawing/2014/main" id="{010303EB-D78D-DF8E-5C00-B4146A410D8E}"/>
              </a:ext>
            </a:extLst>
          </p:cNvPr>
          <p:cNvPicPr>
            <a:picLocks noChangeAspect="1"/>
          </p:cNvPicPr>
          <p:nvPr/>
        </p:nvPicPr>
        <p:blipFill>
          <a:blip r:embed="rId2"/>
          <a:stretch>
            <a:fillRect/>
          </a:stretch>
        </p:blipFill>
        <p:spPr>
          <a:xfrm>
            <a:off x="1463039" y="1285974"/>
            <a:ext cx="9127373" cy="3704273"/>
          </a:xfrm>
          <a:prstGeom prst="rect">
            <a:avLst/>
          </a:prstGeom>
        </p:spPr>
      </p:pic>
      <p:pic>
        <p:nvPicPr>
          <p:cNvPr id="7" name="Picture 6">
            <a:extLst>
              <a:ext uri="{FF2B5EF4-FFF2-40B4-BE49-F238E27FC236}">
                <a16:creationId xmlns:a16="http://schemas.microsoft.com/office/drawing/2014/main" id="{D4EECC82-03AA-BE61-AA69-3C722180F1C4}"/>
              </a:ext>
            </a:extLst>
          </p:cNvPr>
          <p:cNvPicPr>
            <a:picLocks noChangeAspect="1"/>
          </p:cNvPicPr>
          <p:nvPr/>
        </p:nvPicPr>
        <p:blipFill>
          <a:blip r:embed="rId3"/>
          <a:stretch>
            <a:fillRect/>
          </a:stretch>
        </p:blipFill>
        <p:spPr>
          <a:xfrm>
            <a:off x="2083723" y="4898961"/>
            <a:ext cx="8412660" cy="966047"/>
          </a:xfrm>
          <a:prstGeom prst="rect">
            <a:avLst/>
          </a:prstGeom>
        </p:spPr>
      </p:pic>
    </p:spTree>
    <p:extLst>
      <p:ext uri="{BB962C8B-B14F-4D97-AF65-F5344CB8AC3E}">
        <p14:creationId xmlns:p14="http://schemas.microsoft.com/office/powerpoint/2010/main" val="2116782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758B9-0765-B936-66BA-897991153ADC}"/>
              </a:ext>
            </a:extLst>
          </p:cNvPr>
          <p:cNvSpPr>
            <a:spLocks noGrp="1"/>
          </p:cNvSpPr>
          <p:nvPr>
            <p:ph type="title"/>
          </p:nvPr>
        </p:nvSpPr>
        <p:spPr>
          <a:xfrm>
            <a:off x="838200" y="176976"/>
            <a:ext cx="10515600" cy="848533"/>
          </a:xfrm>
        </p:spPr>
        <p:txBody>
          <a:bodyPr>
            <a:normAutofit/>
          </a:bodyPr>
          <a:lstStyle/>
          <a:p>
            <a:pPr algn="ctr"/>
            <a:r>
              <a:rPr lang="en-GB" sz="4800" b="1" dirty="0"/>
              <a:t>Project 3: Objectives</a:t>
            </a:r>
            <a:endParaRPr lang="en-US" sz="4800" b="1" dirty="0"/>
          </a:p>
        </p:txBody>
      </p:sp>
      <p:pic>
        <p:nvPicPr>
          <p:cNvPr id="5" name="Picture 4">
            <a:extLst>
              <a:ext uri="{FF2B5EF4-FFF2-40B4-BE49-F238E27FC236}">
                <a16:creationId xmlns:a16="http://schemas.microsoft.com/office/drawing/2014/main" id="{EDE0B558-9941-FFB2-678B-3B8D3F83474D}"/>
              </a:ext>
            </a:extLst>
          </p:cNvPr>
          <p:cNvPicPr>
            <a:picLocks noChangeAspect="1"/>
          </p:cNvPicPr>
          <p:nvPr/>
        </p:nvPicPr>
        <p:blipFill>
          <a:blip r:embed="rId2"/>
          <a:stretch>
            <a:fillRect/>
          </a:stretch>
        </p:blipFill>
        <p:spPr>
          <a:xfrm>
            <a:off x="2664797" y="1251787"/>
            <a:ext cx="6362825" cy="5429237"/>
          </a:xfrm>
          <a:prstGeom prst="rect">
            <a:avLst/>
          </a:prstGeom>
        </p:spPr>
      </p:pic>
    </p:spTree>
    <p:extLst>
      <p:ext uri="{BB962C8B-B14F-4D97-AF65-F5344CB8AC3E}">
        <p14:creationId xmlns:p14="http://schemas.microsoft.com/office/powerpoint/2010/main" val="2735578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758B9-0765-B936-66BA-897991153ADC}"/>
              </a:ext>
            </a:extLst>
          </p:cNvPr>
          <p:cNvSpPr>
            <a:spLocks noGrp="1"/>
          </p:cNvSpPr>
          <p:nvPr>
            <p:ph type="title"/>
          </p:nvPr>
        </p:nvSpPr>
        <p:spPr>
          <a:xfrm>
            <a:off x="376843" y="176976"/>
            <a:ext cx="11366269" cy="848533"/>
          </a:xfrm>
        </p:spPr>
        <p:txBody>
          <a:bodyPr>
            <a:noAutofit/>
          </a:bodyPr>
          <a:lstStyle/>
          <a:p>
            <a:pPr algn="ctr"/>
            <a:r>
              <a:rPr lang="en-GB" sz="3200" b="1" dirty="0"/>
              <a:t>Project 4: </a:t>
            </a:r>
            <a:r>
              <a:rPr lang="en-GB" sz="3600" b="1" dirty="0">
                <a:solidFill>
                  <a:schemeClr val="accent1"/>
                </a:solidFill>
              </a:rPr>
              <a:t>App </a:t>
            </a:r>
            <a:r>
              <a:rPr lang="en-GB" sz="3600" b="1" dirty="0" err="1">
                <a:solidFill>
                  <a:schemeClr val="accent1"/>
                </a:solidFill>
              </a:rPr>
              <a:t>sàng</a:t>
            </a:r>
            <a:r>
              <a:rPr lang="en-GB" sz="3600" b="1" dirty="0">
                <a:solidFill>
                  <a:schemeClr val="accent1"/>
                </a:solidFill>
              </a:rPr>
              <a:t> </a:t>
            </a:r>
            <a:r>
              <a:rPr lang="en-GB" sz="3600" b="1" dirty="0" err="1">
                <a:solidFill>
                  <a:schemeClr val="accent1"/>
                </a:solidFill>
              </a:rPr>
              <a:t>lọc</a:t>
            </a:r>
            <a:r>
              <a:rPr lang="en-GB" sz="3600" b="1" dirty="0">
                <a:solidFill>
                  <a:schemeClr val="accent1"/>
                </a:solidFill>
              </a:rPr>
              <a:t> </a:t>
            </a:r>
            <a:r>
              <a:rPr lang="en-GB" sz="3600" b="1" dirty="0" err="1">
                <a:solidFill>
                  <a:schemeClr val="accent1"/>
                </a:solidFill>
              </a:rPr>
              <a:t>ung</a:t>
            </a:r>
            <a:r>
              <a:rPr lang="en-GB" sz="3600" b="1" dirty="0">
                <a:solidFill>
                  <a:schemeClr val="accent1"/>
                </a:solidFill>
              </a:rPr>
              <a:t> </a:t>
            </a:r>
            <a:r>
              <a:rPr lang="en-GB" sz="3600" b="1" dirty="0" err="1">
                <a:solidFill>
                  <a:schemeClr val="accent1"/>
                </a:solidFill>
              </a:rPr>
              <a:t>thư</a:t>
            </a:r>
            <a:r>
              <a:rPr lang="en-GB" sz="3600" b="1" dirty="0">
                <a:solidFill>
                  <a:schemeClr val="accent1"/>
                </a:solidFill>
              </a:rPr>
              <a:t> </a:t>
            </a:r>
            <a:r>
              <a:rPr lang="en-GB" sz="3600" b="1" dirty="0" err="1">
                <a:solidFill>
                  <a:schemeClr val="accent1"/>
                </a:solidFill>
              </a:rPr>
              <a:t>vú</a:t>
            </a:r>
            <a:r>
              <a:rPr lang="en-GB" sz="3600" b="1" dirty="0">
                <a:solidFill>
                  <a:schemeClr val="accent1"/>
                </a:solidFill>
              </a:rPr>
              <a:t> </a:t>
            </a:r>
            <a:r>
              <a:rPr lang="en-GB" sz="3600" b="1" dirty="0" err="1">
                <a:solidFill>
                  <a:schemeClr val="accent1"/>
                </a:solidFill>
              </a:rPr>
              <a:t>và</a:t>
            </a:r>
            <a:r>
              <a:rPr lang="en-GB" sz="3600" b="1" dirty="0">
                <a:solidFill>
                  <a:schemeClr val="accent1"/>
                </a:solidFill>
              </a:rPr>
              <a:t> </a:t>
            </a:r>
            <a:r>
              <a:rPr lang="en-GB" sz="3600" b="1" dirty="0" err="1">
                <a:solidFill>
                  <a:schemeClr val="accent1"/>
                </a:solidFill>
              </a:rPr>
              <a:t>học</a:t>
            </a:r>
            <a:r>
              <a:rPr lang="en-GB" sz="3600" b="1" dirty="0">
                <a:solidFill>
                  <a:schemeClr val="accent1"/>
                </a:solidFill>
              </a:rPr>
              <a:t> </a:t>
            </a:r>
            <a:r>
              <a:rPr lang="en-GB" sz="3600" b="1" dirty="0" err="1">
                <a:solidFill>
                  <a:schemeClr val="accent1"/>
                </a:solidFill>
              </a:rPr>
              <a:t>sâu</a:t>
            </a:r>
            <a:r>
              <a:rPr lang="en-GB" sz="3600" b="1" dirty="0">
                <a:solidFill>
                  <a:schemeClr val="accent1"/>
                </a:solidFill>
              </a:rPr>
              <a:t> </a:t>
            </a:r>
            <a:r>
              <a:rPr lang="en-GB" sz="3600" b="1" dirty="0" err="1">
                <a:solidFill>
                  <a:schemeClr val="accent1"/>
                </a:solidFill>
              </a:rPr>
              <a:t>sử</a:t>
            </a:r>
            <a:r>
              <a:rPr lang="en-GB" sz="3600" b="1" dirty="0">
                <a:solidFill>
                  <a:schemeClr val="accent1"/>
                </a:solidFill>
              </a:rPr>
              <a:t> </a:t>
            </a:r>
            <a:r>
              <a:rPr lang="en-GB" sz="3600" b="1" dirty="0" err="1">
                <a:solidFill>
                  <a:schemeClr val="accent1"/>
                </a:solidFill>
              </a:rPr>
              <a:t>dụng</a:t>
            </a:r>
            <a:r>
              <a:rPr lang="en-GB" sz="3600" b="1" dirty="0">
                <a:solidFill>
                  <a:schemeClr val="accent1"/>
                </a:solidFill>
              </a:rPr>
              <a:t> </a:t>
            </a:r>
            <a:r>
              <a:rPr lang="en-GB" sz="3600" b="1" dirty="0" err="1">
                <a:solidFill>
                  <a:schemeClr val="accent1"/>
                </a:solidFill>
              </a:rPr>
              <a:t>nhũ</a:t>
            </a:r>
            <a:r>
              <a:rPr lang="en-GB" sz="3600" b="1" dirty="0">
                <a:solidFill>
                  <a:schemeClr val="accent1"/>
                </a:solidFill>
              </a:rPr>
              <a:t> </a:t>
            </a:r>
            <a:r>
              <a:rPr lang="en-GB" sz="3600" b="1" dirty="0" err="1">
                <a:solidFill>
                  <a:schemeClr val="accent1"/>
                </a:solidFill>
              </a:rPr>
              <a:t>ảnh</a:t>
            </a:r>
            <a:endParaRPr lang="en-US" sz="3600" b="1" dirty="0">
              <a:solidFill>
                <a:schemeClr val="accent1"/>
              </a:solidFill>
            </a:endParaRPr>
          </a:p>
        </p:txBody>
      </p:sp>
      <p:pic>
        <p:nvPicPr>
          <p:cNvPr id="4" name="Picture 3">
            <a:extLst>
              <a:ext uri="{FF2B5EF4-FFF2-40B4-BE49-F238E27FC236}">
                <a16:creationId xmlns:a16="http://schemas.microsoft.com/office/drawing/2014/main" id="{E659EFCB-C5E1-AFDC-965B-F9BFE1602690}"/>
              </a:ext>
            </a:extLst>
          </p:cNvPr>
          <p:cNvPicPr>
            <a:picLocks noChangeAspect="1"/>
          </p:cNvPicPr>
          <p:nvPr/>
        </p:nvPicPr>
        <p:blipFill>
          <a:blip r:embed="rId2"/>
          <a:stretch>
            <a:fillRect/>
          </a:stretch>
        </p:blipFill>
        <p:spPr>
          <a:xfrm>
            <a:off x="5908648" y="1816588"/>
            <a:ext cx="6065346" cy="3503629"/>
          </a:xfrm>
          <a:prstGeom prst="rect">
            <a:avLst/>
          </a:prstGeom>
        </p:spPr>
      </p:pic>
      <p:pic>
        <p:nvPicPr>
          <p:cNvPr id="7" name="Picture 6">
            <a:extLst>
              <a:ext uri="{FF2B5EF4-FFF2-40B4-BE49-F238E27FC236}">
                <a16:creationId xmlns:a16="http://schemas.microsoft.com/office/drawing/2014/main" id="{6DD19405-1139-712C-1C78-74EF7290B100}"/>
              </a:ext>
            </a:extLst>
          </p:cNvPr>
          <p:cNvPicPr>
            <a:picLocks noChangeAspect="1"/>
          </p:cNvPicPr>
          <p:nvPr/>
        </p:nvPicPr>
        <p:blipFill>
          <a:blip r:embed="rId3"/>
          <a:stretch>
            <a:fillRect/>
          </a:stretch>
        </p:blipFill>
        <p:spPr>
          <a:xfrm>
            <a:off x="273424" y="1740989"/>
            <a:ext cx="5006963" cy="3654829"/>
          </a:xfrm>
          <a:prstGeom prst="rect">
            <a:avLst/>
          </a:prstGeom>
        </p:spPr>
      </p:pic>
      <p:sp>
        <p:nvSpPr>
          <p:cNvPr id="8" name="Arrow: Right 7">
            <a:extLst>
              <a:ext uri="{FF2B5EF4-FFF2-40B4-BE49-F238E27FC236}">
                <a16:creationId xmlns:a16="http://schemas.microsoft.com/office/drawing/2014/main" id="{2C8E9E88-480E-8B8C-34B0-8522EAC286BB}"/>
              </a:ext>
            </a:extLst>
          </p:cNvPr>
          <p:cNvSpPr/>
          <p:nvPr/>
        </p:nvSpPr>
        <p:spPr>
          <a:xfrm>
            <a:off x="5425440" y="3330632"/>
            <a:ext cx="421178"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Light" panose="020F0302020204030204" pitchFamily="34" charset="0"/>
            </a:endParaRPr>
          </a:p>
        </p:txBody>
      </p:sp>
      <p:sp>
        <p:nvSpPr>
          <p:cNvPr id="10" name="TextBox 9">
            <a:extLst>
              <a:ext uri="{FF2B5EF4-FFF2-40B4-BE49-F238E27FC236}">
                <a16:creationId xmlns:a16="http://schemas.microsoft.com/office/drawing/2014/main" id="{49949384-2C06-A5D9-5D41-B2D85897DE78}"/>
              </a:ext>
            </a:extLst>
          </p:cNvPr>
          <p:cNvSpPr txBox="1"/>
          <p:nvPr/>
        </p:nvSpPr>
        <p:spPr>
          <a:xfrm>
            <a:off x="315884" y="5741964"/>
            <a:ext cx="6096000" cy="369332"/>
          </a:xfrm>
          <a:prstGeom prst="rect">
            <a:avLst/>
          </a:prstGeom>
          <a:noFill/>
        </p:spPr>
        <p:txBody>
          <a:bodyPr wrap="square">
            <a:spAutoFit/>
          </a:bodyPr>
          <a:lstStyle/>
          <a:p>
            <a:r>
              <a:rPr lang="en-US" dirty="0">
                <a:latin typeface="Calibri Light" panose="020F0302020204030204" pitchFamily="34" charset="0"/>
              </a:rPr>
              <a:t>https://www.cancer.gov.hk/en/bctool/index.html</a:t>
            </a:r>
          </a:p>
        </p:txBody>
      </p:sp>
    </p:spTree>
    <p:extLst>
      <p:ext uri="{BB962C8B-B14F-4D97-AF65-F5344CB8AC3E}">
        <p14:creationId xmlns:p14="http://schemas.microsoft.com/office/powerpoint/2010/main" val="41664143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758B9-0765-B936-66BA-897991153ADC}"/>
              </a:ext>
            </a:extLst>
          </p:cNvPr>
          <p:cNvSpPr>
            <a:spLocks noGrp="1"/>
          </p:cNvSpPr>
          <p:nvPr>
            <p:ph type="title"/>
          </p:nvPr>
        </p:nvSpPr>
        <p:spPr>
          <a:xfrm>
            <a:off x="376843" y="176976"/>
            <a:ext cx="11366269" cy="848533"/>
          </a:xfrm>
        </p:spPr>
        <p:txBody>
          <a:bodyPr>
            <a:noAutofit/>
          </a:bodyPr>
          <a:lstStyle/>
          <a:p>
            <a:pPr algn="ctr"/>
            <a:r>
              <a:rPr lang="en-GB" sz="3200" b="1" dirty="0"/>
              <a:t>Project 4: </a:t>
            </a:r>
            <a:r>
              <a:rPr lang="en-GB" sz="3600" b="1" dirty="0">
                <a:solidFill>
                  <a:schemeClr val="accent1"/>
                </a:solidFill>
              </a:rPr>
              <a:t>App </a:t>
            </a:r>
            <a:r>
              <a:rPr lang="en-GB" sz="3600" b="1" dirty="0" err="1">
                <a:solidFill>
                  <a:schemeClr val="accent1"/>
                </a:solidFill>
              </a:rPr>
              <a:t>sàng</a:t>
            </a:r>
            <a:r>
              <a:rPr lang="en-GB" sz="3600" b="1" dirty="0">
                <a:solidFill>
                  <a:schemeClr val="accent1"/>
                </a:solidFill>
              </a:rPr>
              <a:t> </a:t>
            </a:r>
            <a:r>
              <a:rPr lang="en-GB" sz="3600" b="1" dirty="0" err="1">
                <a:solidFill>
                  <a:schemeClr val="accent1"/>
                </a:solidFill>
              </a:rPr>
              <a:t>lọc</a:t>
            </a:r>
            <a:r>
              <a:rPr lang="en-GB" sz="3600" b="1" dirty="0">
                <a:solidFill>
                  <a:schemeClr val="accent1"/>
                </a:solidFill>
              </a:rPr>
              <a:t> </a:t>
            </a:r>
            <a:r>
              <a:rPr lang="en-GB" sz="3600" b="1" dirty="0" err="1">
                <a:solidFill>
                  <a:schemeClr val="accent1"/>
                </a:solidFill>
              </a:rPr>
              <a:t>ung</a:t>
            </a:r>
            <a:r>
              <a:rPr lang="en-GB" sz="3600" b="1" dirty="0">
                <a:solidFill>
                  <a:schemeClr val="accent1"/>
                </a:solidFill>
              </a:rPr>
              <a:t> </a:t>
            </a:r>
            <a:r>
              <a:rPr lang="en-GB" sz="3600" b="1" dirty="0" err="1">
                <a:solidFill>
                  <a:schemeClr val="accent1"/>
                </a:solidFill>
              </a:rPr>
              <a:t>thư</a:t>
            </a:r>
            <a:r>
              <a:rPr lang="en-GB" sz="3600" b="1" dirty="0">
                <a:solidFill>
                  <a:schemeClr val="accent1"/>
                </a:solidFill>
              </a:rPr>
              <a:t> </a:t>
            </a:r>
            <a:r>
              <a:rPr lang="en-GB" sz="3600" b="1" dirty="0" err="1">
                <a:solidFill>
                  <a:schemeClr val="accent1"/>
                </a:solidFill>
              </a:rPr>
              <a:t>vú</a:t>
            </a:r>
            <a:r>
              <a:rPr lang="en-GB" sz="3600" b="1" dirty="0">
                <a:solidFill>
                  <a:schemeClr val="accent1"/>
                </a:solidFill>
              </a:rPr>
              <a:t> </a:t>
            </a:r>
            <a:r>
              <a:rPr lang="en-GB" sz="3600" b="1" dirty="0" err="1">
                <a:solidFill>
                  <a:schemeClr val="accent1"/>
                </a:solidFill>
              </a:rPr>
              <a:t>và</a:t>
            </a:r>
            <a:r>
              <a:rPr lang="en-GB" sz="3600" b="1" dirty="0">
                <a:solidFill>
                  <a:schemeClr val="accent1"/>
                </a:solidFill>
              </a:rPr>
              <a:t> </a:t>
            </a:r>
            <a:r>
              <a:rPr lang="en-GB" sz="3600" b="1" dirty="0" err="1">
                <a:solidFill>
                  <a:schemeClr val="accent1"/>
                </a:solidFill>
              </a:rPr>
              <a:t>học</a:t>
            </a:r>
            <a:r>
              <a:rPr lang="en-GB" sz="3600" b="1" dirty="0">
                <a:solidFill>
                  <a:schemeClr val="accent1"/>
                </a:solidFill>
              </a:rPr>
              <a:t> </a:t>
            </a:r>
            <a:r>
              <a:rPr lang="en-GB" sz="3600" b="1" dirty="0" err="1">
                <a:solidFill>
                  <a:schemeClr val="accent1"/>
                </a:solidFill>
              </a:rPr>
              <a:t>sâu</a:t>
            </a:r>
            <a:r>
              <a:rPr lang="en-GB" sz="3600" b="1" dirty="0">
                <a:solidFill>
                  <a:schemeClr val="accent1"/>
                </a:solidFill>
              </a:rPr>
              <a:t> </a:t>
            </a:r>
            <a:r>
              <a:rPr lang="en-GB" sz="3600" b="1" dirty="0" err="1">
                <a:solidFill>
                  <a:schemeClr val="accent1"/>
                </a:solidFill>
              </a:rPr>
              <a:t>sử</a:t>
            </a:r>
            <a:r>
              <a:rPr lang="en-GB" sz="3600" b="1" dirty="0">
                <a:solidFill>
                  <a:schemeClr val="accent1"/>
                </a:solidFill>
              </a:rPr>
              <a:t> </a:t>
            </a:r>
            <a:r>
              <a:rPr lang="en-GB" sz="3600" b="1" dirty="0" err="1">
                <a:solidFill>
                  <a:schemeClr val="accent1"/>
                </a:solidFill>
              </a:rPr>
              <a:t>dụng</a:t>
            </a:r>
            <a:r>
              <a:rPr lang="en-GB" sz="3600" b="1" dirty="0">
                <a:solidFill>
                  <a:schemeClr val="accent1"/>
                </a:solidFill>
              </a:rPr>
              <a:t> </a:t>
            </a:r>
            <a:r>
              <a:rPr lang="en-GB" sz="3600" b="1" dirty="0" err="1">
                <a:solidFill>
                  <a:schemeClr val="accent1"/>
                </a:solidFill>
              </a:rPr>
              <a:t>nhũ</a:t>
            </a:r>
            <a:r>
              <a:rPr lang="en-GB" sz="3600" b="1" dirty="0">
                <a:solidFill>
                  <a:schemeClr val="accent1"/>
                </a:solidFill>
              </a:rPr>
              <a:t> </a:t>
            </a:r>
            <a:r>
              <a:rPr lang="en-GB" sz="3600" b="1" dirty="0" err="1">
                <a:solidFill>
                  <a:schemeClr val="accent1"/>
                </a:solidFill>
              </a:rPr>
              <a:t>ảnh</a:t>
            </a:r>
            <a:endParaRPr lang="en-US" sz="4000" b="1" dirty="0">
              <a:solidFill>
                <a:schemeClr val="accent1"/>
              </a:solidFill>
            </a:endParaRPr>
          </a:p>
        </p:txBody>
      </p:sp>
      <p:pic>
        <p:nvPicPr>
          <p:cNvPr id="4098" name="Picture 2" descr="ROI segmentation with mammogram; The first line showing from left to right: 1- the original image without contour, 2- the original image in DDSM database detoured by an experimented radiologic (red line), 3-the image segmented in this approach (red line). The second line showing the ROI isolated region in three cases: texture, boundary and area. image is the original image without contour, the second image is the original image in DDSM database detoured by a radiologic (red line), and the third image is segmented in the context of this approach (red line) and in the second line, in every raw, we have region isolated ROI in the original texture, boundary and region, respectively. These three sub-images will be like entries for the vector which is based on texture, boundary and region. Likewise, it is clear that our results about segmentation are quite close to the manual segmentation results obtained by the radiologist. So, what remains is to see the quality of the segmentation that can be proven by the analysis step. Moreover, breast tumours and masses appear in mammograms with different shape characteristics. In this context, the method can reflect the irregularity or regularity of region and more precisely if compared to the manual process. Hence, the performance is illustrated according to two standpoints: precision of ROI segmentation in diagnostic relevance and computation time of optimization. After the ROI segmentation, the extraction of features is adopted in ROI: this is the point of interest that we will focus on, in the next section of the paper. ">
            <a:extLst>
              <a:ext uri="{FF2B5EF4-FFF2-40B4-BE49-F238E27FC236}">
                <a16:creationId xmlns:a16="http://schemas.microsoft.com/office/drawing/2014/main" id="{08B4D2C8-AEB6-6CB8-7159-420E82A7F7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1852" y="1211580"/>
            <a:ext cx="8096250" cy="4191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8588977-5C1D-9033-E3AE-F2EA8A2ACB3E}"/>
              </a:ext>
            </a:extLst>
          </p:cNvPr>
          <p:cNvSpPr txBox="1"/>
          <p:nvPr/>
        </p:nvSpPr>
        <p:spPr>
          <a:xfrm>
            <a:off x="5242561" y="5950126"/>
            <a:ext cx="6096000" cy="369332"/>
          </a:xfrm>
          <a:prstGeom prst="rect">
            <a:avLst/>
          </a:prstGeom>
          <a:noFill/>
        </p:spPr>
        <p:txBody>
          <a:bodyPr wrap="square">
            <a:spAutoFit/>
          </a:bodyPr>
          <a:lstStyle/>
          <a:p>
            <a:pPr algn="r"/>
            <a:r>
              <a:rPr lang="en-US" b="0" i="0" dirty="0">
                <a:solidFill>
                  <a:srgbClr val="555555"/>
                </a:solidFill>
                <a:effectLst/>
                <a:latin typeface="Calibri Light" panose="020F0302020204030204" pitchFamily="34" charset="0"/>
              </a:rPr>
              <a:t>DOI:</a:t>
            </a:r>
            <a:r>
              <a:rPr lang="en-US" b="0" i="0" u="sng" dirty="0">
                <a:effectLst/>
                <a:latin typeface="Calibri Light" panose="020F0302020204030204" pitchFamily="34" charset="0"/>
                <a:hlinkClick r:id="rId3"/>
              </a:rPr>
              <a:t>10.5772/22565</a:t>
            </a:r>
            <a:endParaRPr lang="en-US" dirty="0">
              <a:latin typeface="Calibri Light" panose="020F0302020204030204" pitchFamily="34" charset="0"/>
            </a:endParaRPr>
          </a:p>
        </p:txBody>
      </p:sp>
    </p:spTree>
    <p:extLst>
      <p:ext uri="{BB962C8B-B14F-4D97-AF65-F5344CB8AC3E}">
        <p14:creationId xmlns:p14="http://schemas.microsoft.com/office/powerpoint/2010/main" val="42688521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758B9-0765-B936-66BA-897991153ADC}"/>
              </a:ext>
            </a:extLst>
          </p:cNvPr>
          <p:cNvSpPr>
            <a:spLocks noGrp="1"/>
          </p:cNvSpPr>
          <p:nvPr>
            <p:ph type="title"/>
          </p:nvPr>
        </p:nvSpPr>
        <p:spPr>
          <a:xfrm>
            <a:off x="376843" y="176976"/>
            <a:ext cx="11366269" cy="848533"/>
          </a:xfrm>
        </p:spPr>
        <p:txBody>
          <a:bodyPr>
            <a:noAutofit/>
          </a:bodyPr>
          <a:lstStyle/>
          <a:p>
            <a:pPr algn="ctr"/>
            <a:r>
              <a:rPr lang="en-GB" sz="3600" b="1" dirty="0"/>
              <a:t>Project 5: </a:t>
            </a:r>
            <a:r>
              <a:rPr lang="en-GB" sz="4000" b="1" dirty="0">
                <a:solidFill>
                  <a:schemeClr val="accent1"/>
                </a:solidFill>
              </a:rPr>
              <a:t>App </a:t>
            </a:r>
            <a:r>
              <a:rPr lang="en-GB" sz="4000" b="1" dirty="0" err="1">
                <a:solidFill>
                  <a:schemeClr val="accent1"/>
                </a:solidFill>
              </a:rPr>
              <a:t>sàng</a:t>
            </a:r>
            <a:r>
              <a:rPr lang="en-GB" sz="4000" b="1" dirty="0">
                <a:solidFill>
                  <a:schemeClr val="accent1"/>
                </a:solidFill>
              </a:rPr>
              <a:t> </a:t>
            </a:r>
            <a:r>
              <a:rPr lang="en-GB" sz="4000" b="1" dirty="0" err="1">
                <a:solidFill>
                  <a:schemeClr val="accent1"/>
                </a:solidFill>
              </a:rPr>
              <a:t>lọc</a:t>
            </a:r>
            <a:r>
              <a:rPr lang="en-GB" sz="4000" b="1" dirty="0">
                <a:solidFill>
                  <a:schemeClr val="accent1"/>
                </a:solidFill>
              </a:rPr>
              <a:t> </a:t>
            </a:r>
            <a:r>
              <a:rPr lang="en-GB" sz="4000" b="1" dirty="0" err="1">
                <a:solidFill>
                  <a:schemeClr val="accent1"/>
                </a:solidFill>
              </a:rPr>
              <a:t>nguy</a:t>
            </a:r>
            <a:r>
              <a:rPr lang="en-GB" sz="4000" b="1" dirty="0">
                <a:solidFill>
                  <a:schemeClr val="accent1"/>
                </a:solidFill>
              </a:rPr>
              <a:t> </a:t>
            </a:r>
            <a:r>
              <a:rPr lang="en-GB" sz="4000" b="1" dirty="0" err="1">
                <a:solidFill>
                  <a:schemeClr val="accent1"/>
                </a:solidFill>
              </a:rPr>
              <a:t>cơ</a:t>
            </a:r>
            <a:r>
              <a:rPr lang="en-GB" sz="4000" b="1" dirty="0">
                <a:solidFill>
                  <a:schemeClr val="accent1"/>
                </a:solidFill>
              </a:rPr>
              <a:t> </a:t>
            </a:r>
            <a:r>
              <a:rPr lang="en-GB" sz="4000" b="1" dirty="0" err="1">
                <a:solidFill>
                  <a:schemeClr val="accent1"/>
                </a:solidFill>
              </a:rPr>
              <a:t>ung</a:t>
            </a:r>
            <a:r>
              <a:rPr lang="en-GB" sz="4000" b="1" dirty="0">
                <a:solidFill>
                  <a:schemeClr val="accent1"/>
                </a:solidFill>
              </a:rPr>
              <a:t> </a:t>
            </a:r>
            <a:r>
              <a:rPr lang="en-GB" sz="4000" b="1" dirty="0" err="1">
                <a:solidFill>
                  <a:schemeClr val="accent1"/>
                </a:solidFill>
              </a:rPr>
              <a:t>thư</a:t>
            </a:r>
            <a:r>
              <a:rPr lang="en-GB" sz="4000" b="1" dirty="0">
                <a:solidFill>
                  <a:schemeClr val="accent1"/>
                </a:solidFill>
              </a:rPr>
              <a:t> </a:t>
            </a:r>
            <a:r>
              <a:rPr lang="en-GB" sz="4000" b="1" dirty="0" err="1">
                <a:solidFill>
                  <a:schemeClr val="accent1"/>
                </a:solidFill>
              </a:rPr>
              <a:t>vú</a:t>
            </a:r>
            <a:endParaRPr lang="en-US" sz="4000" b="1" dirty="0">
              <a:solidFill>
                <a:schemeClr val="accent1"/>
              </a:solidFill>
            </a:endParaRPr>
          </a:p>
        </p:txBody>
      </p:sp>
      <p:pic>
        <p:nvPicPr>
          <p:cNvPr id="5" name="Picture 4">
            <a:extLst>
              <a:ext uri="{FF2B5EF4-FFF2-40B4-BE49-F238E27FC236}">
                <a16:creationId xmlns:a16="http://schemas.microsoft.com/office/drawing/2014/main" id="{5C6DFD8D-BDB9-275D-D90B-6612237DC3DD}"/>
              </a:ext>
            </a:extLst>
          </p:cNvPr>
          <p:cNvPicPr>
            <a:picLocks noChangeAspect="1"/>
          </p:cNvPicPr>
          <p:nvPr/>
        </p:nvPicPr>
        <p:blipFill>
          <a:blip r:embed="rId2"/>
          <a:stretch>
            <a:fillRect/>
          </a:stretch>
        </p:blipFill>
        <p:spPr>
          <a:xfrm>
            <a:off x="1208117" y="1281420"/>
            <a:ext cx="9288087" cy="4797596"/>
          </a:xfrm>
          <a:prstGeom prst="rect">
            <a:avLst/>
          </a:prstGeom>
        </p:spPr>
      </p:pic>
    </p:spTree>
    <p:extLst>
      <p:ext uri="{BB962C8B-B14F-4D97-AF65-F5344CB8AC3E}">
        <p14:creationId xmlns:p14="http://schemas.microsoft.com/office/powerpoint/2010/main" val="14456152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415611" y="992767"/>
            <a:ext cx="11360800" cy="2736800"/>
          </a:xfrm>
          <a:prstGeom prst="rect">
            <a:avLst/>
          </a:prstGeom>
        </p:spPr>
        <p:txBody>
          <a:bodyPr spcFirstLastPara="1" vert="horz" wrap="square" lIns="121900" tIns="121900" rIns="121900" bIns="121900" rtlCol="0" anchor="b" anchorCtr="0">
            <a:normAutofit/>
          </a:bodyPr>
          <a:lstStyle/>
          <a:p>
            <a:pPr>
              <a:spcBef>
                <a:spcPts val="0"/>
              </a:spcBef>
            </a:pPr>
            <a:r>
              <a:rPr lang="en" b="1" dirty="0">
                <a:solidFill>
                  <a:srgbClr val="7030A0"/>
                </a:solidFill>
              </a:rPr>
              <a:t>Deepseek Variant Automating Annotation (DeepVAA)</a:t>
            </a:r>
            <a:endParaRPr b="1" dirty="0">
              <a:solidFill>
                <a:srgbClr val="7030A0"/>
              </a:solidFill>
            </a:endParaRPr>
          </a:p>
        </p:txBody>
      </p:sp>
      <p:sp>
        <p:nvSpPr>
          <p:cNvPr id="55" name="Google Shape;55;p13"/>
          <p:cNvSpPr txBox="1">
            <a:spLocks noGrp="1"/>
          </p:cNvSpPr>
          <p:nvPr>
            <p:ph type="subTitle" idx="1"/>
          </p:nvPr>
        </p:nvSpPr>
        <p:spPr>
          <a:xfrm>
            <a:off x="415600" y="3778833"/>
            <a:ext cx="11360800" cy="1056800"/>
          </a:xfrm>
          <a:prstGeom prst="rect">
            <a:avLst/>
          </a:prstGeom>
        </p:spPr>
        <p:txBody>
          <a:bodyPr spcFirstLastPara="1" vert="horz" wrap="square" lIns="121900" tIns="121900" rIns="121900" bIns="121900" rtlCol="0" anchor="t" anchorCtr="0">
            <a:normAutofit/>
          </a:bodyPr>
          <a:lstStyle/>
          <a:p>
            <a:pPr>
              <a:spcBef>
                <a:spcPts val="0"/>
              </a:spcBef>
            </a:pPr>
            <a:r>
              <a:rPr lang="en" dirty="0"/>
              <a:t>Hong Ong</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body" idx="1"/>
          </p:nvPr>
        </p:nvSpPr>
        <p:spPr>
          <a:xfrm>
            <a:off x="415600" y="1536633"/>
            <a:ext cx="11360800" cy="5072000"/>
          </a:xfrm>
          <a:prstGeom prst="rect">
            <a:avLst/>
          </a:prstGeom>
        </p:spPr>
        <p:txBody>
          <a:bodyPr spcFirstLastPara="1" vert="horz" wrap="square" lIns="121900" tIns="121900" rIns="121900" bIns="121900" rtlCol="0" anchor="t" anchorCtr="0">
            <a:normAutofit fontScale="55000" lnSpcReduction="20000"/>
          </a:bodyPr>
          <a:lstStyle/>
          <a:p>
            <a:pPr marL="0" indent="0" algn="just">
              <a:lnSpc>
                <a:spcPct val="120000"/>
              </a:lnSpc>
              <a:buNone/>
            </a:pPr>
            <a:r>
              <a:rPr lang="en" b="1" dirty="0"/>
              <a:t>Academic Background:</a:t>
            </a:r>
            <a:r>
              <a:rPr lang="en" dirty="0"/>
              <a:t> </a:t>
            </a:r>
            <a:endParaRPr dirty="0"/>
          </a:p>
          <a:p>
            <a:pPr indent="-422899" algn="just">
              <a:lnSpc>
                <a:spcPct val="120000"/>
              </a:lnSpc>
              <a:spcBef>
                <a:spcPts val="1600"/>
              </a:spcBef>
              <a:buSzPct val="100000"/>
            </a:pPr>
            <a:r>
              <a:rPr lang="en" dirty="0"/>
              <a:t>Master of Information Science, Japan Advanced Institute of Science and Technology (JAIST) - 2016</a:t>
            </a:r>
            <a:endParaRPr dirty="0"/>
          </a:p>
          <a:p>
            <a:pPr indent="-422899" algn="just">
              <a:lnSpc>
                <a:spcPct val="120000"/>
              </a:lnSpc>
              <a:buSzPct val="100000"/>
            </a:pPr>
            <a:r>
              <a:rPr lang="en" dirty="0"/>
              <a:t>Major: Natural Language Processing</a:t>
            </a:r>
            <a:endParaRPr dirty="0"/>
          </a:p>
          <a:p>
            <a:pPr marL="0" indent="0" algn="just">
              <a:lnSpc>
                <a:spcPct val="120000"/>
              </a:lnSpc>
              <a:spcBef>
                <a:spcPts val="1600"/>
              </a:spcBef>
              <a:buNone/>
            </a:pPr>
            <a:r>
              <a:rPr lang="en" b="1" dirty="0"/>
              <a:t>Research Experience:</a:t>
            </a:r>
            <a:endParaRPr b="1" dirty="0"/>
          </a:p>
          <a:p>
            <a:pPr indent="-422899" algn="just">
              <a:lnSpc>
                <a:spcPct val="120000"/>
              </a:lnSpc>
              <a:spcBef>
                <a:spcPts val="1600"/>
              </a:spcBef>
              <a:buSzPct val="100000"/>
            </a:pPr>
            <a:r>
              <a:rPr lang="en" b="1" dirty="0"/>
              <a:t>2022: </a:t>
            </a:r>
            <a:r>
              <a:rPr lang="en" dirty="0"/>
              <a:t>Ensemble learning using traditional machine learning and deep neural network for diagnosis of Alzheimer’s disease, IBRO Neuroscience Reports. </a:t>
            </a:r>
            <a:r>
              <a:rPr lang="en" u="sng" dirty="0">
                <a:solidFill>
                  <a:schemeClr val="hlink"/>
                </a:solidFill>
                <a:hlinkClick r:id="rId3"/>
              </a:rPr>
              <a:t>DOI</a:t>
            </a:r>
            <a:endParaRPr dirty="0"/>
          </a:p>
          <a:p>
            <a:pPr indent="-422899" algn="just">
              <a:lnSpc>
                <a:spcPct val="120000"/>
              </a:lnSpc>
              <a:buSzPct val="100000"/>
            </a:pPr>
            <a:r>
              <a:rPr lang="en" b="1" dirty="0"/>
              <a:t>2016: </a:t>
            </a:r>
            <a:r>
              <a:rPr lang="en" dirty="0"/>
              <a:t>Reranking CCG parser for Jazz chord sequences, Eighth International Conference on Knowledge and Systems Engineering. </a:t>
            </a:r>
            <a:r>
              <a:rPr lang="en" u="sng" dirty="0">
                <a:solidFill>
                  <a:schemeClr val="hlink"/>
                </a:solidFill>
                <a:hlinkClick r:id="rId4"/>
              </a:rPr>
              <a:t>DOI</a:t>
            </a:r>
            <a:endParaRPr dirty="0"/>
          </a:p>
          <a:p>
            <a:pPr marL="0" indent="0" algn="just">
              <a:lnSpc>
                <a:spcPct val="120000"/>
              </a:lnSpc>
              <a:spcBef>
                <a:spcPts val="1600"/>
              </a:spcBef>
              <a:buNone/>
            </a:pPr>
            <a:r>
              <a:rPr lang="en" b="1" dirty="0"/>
              <a:t>Technical Skills:</a:t>
            </a:r>
            <a:endParaRPr dirty="0"/>
          </a:p>
          <a:p>
            <a:pPr indent="-422899" algn="just">
              <a:lnSpc>
                <a:spcPct val="120000"/>
              </a:lnSpc>
              <a:spcBef>
                <a:spcPts val="1600"/>
              </a:spcBef>
              <a:buSzPct val="100000"/>
            </a:pPr>
            <a:r>
              <a:rPr lang="en" b="1" dirty="0"/>
              <a:t>Programming Languages:</a:t>
            </a:r>
            <a:r>
              <a:rPr lang="en" dirty="0"/>
              <a:t> Python, Java, C++.</a:t>
            </a:r>
            <a:endParaRPr dirty="0"/>
          </a:p>
          <a:p>
            <a:pPr indent="-422899" algn="just">
              <a:lnSpc>
                <a:spcPct val="120000"/>
              </a:lnSpc>
              <a:buSzPct val="100000"/>
            </a:pPr>
            <a:r>
              <a:rPr lang="en" b="1" dirty="0"/>
              <a:t>Machine Learning Frameworks:</a:t>
            </a:r>
            <a:r>
              <a:rPr lang="en" dirty="0"/>
              <a:t> PyTorch, TensorFlow, Scikit-learn.</a:t>
            </a:r>
            <a:endParaRPr dirty="0"/>
          </a:p>
          <a:p>
            <a:pPr indent="-422899" algn="just">
              <a:lnSpc>
                <a:spcPct val="120000"/>
              </a:lnSpc>
              <a:buSzPct val="100000"/>
            </a:pPr>
            <a:r>
              <a:rPr lang="en" b="1" dirty="0"/>
              <a:t>Medical Imaging Tools:</a:t>
            </a:r>
            <a:r>
              <a:rPr lang="en" dirty="0"/>
              <a:t> FreeSurfer, ITK-SNAP, ANTs.</a:t>
            </a:r>
            <a:endParaRPr dirty="0"/>
          </a:p>
          <a:p>
            <a:pPr indent="-422899" algn="just">
              <a:lnSpc>
                <a:spcPct val="120000"/>
              </a:lnSpc>
              <a:buSzPct val="100000"/>
            </a:pPr>
            <a:r>
              <a:rPr lang="en" b="1" dirty="0"/>
              <a:t>Bioinformatics Tools:</a:t>
            </a:r>
            <a:r>
              <a:rPr lang="en" dirty="0"/>
              <a:t> RDKit, Deepchem, PyMOL, scverse (anndata, scanpy, scvi-tools, muon)..</a:t>
            </a:r>
            <a:endParaRPr dirty="0"/>
          </a:p>
          <a:p>
            <a:pPr indent="-422899" algn="just">
              <a:lnSpc>
                <a:spcPct val="120000"/>
              </a:lnSpc>
              <a:buSzPct val="100000"/>
            </a:pPr>
            <a:r>
              <a:rPr lang="en" b="1" dirty="0"/>
              <a:t>Data Analysis and Visualization:</a:t>
            </a:r>
            <a:r>
              <a:rPr lang="en" dirty="0"/>
              <a:t> Pandas, NumPy, Matplotlib.</a:t>
            </a:r>
            <a:endParaRPr dirty="0"/>
          </a:p>
        </p:txBody>
      </p:sp>
      <p:sp>
        <p:nvSpPr>
          <p:cNvPr id="61" name="Google Shape;61;p14"/>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b="1" dirty="0">
                <a:solidFill>
                  <a:srgbClr val="7030A0"/>
                </a:solidFill>
              </a:rPr>
              <a:t>Background and Expertise</a:t>
            </a:r>
            <a:endParaRPr b="1" dirty="0">
              <a:solidFill>
                <a:srgbClr val="7030A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b="1" dirty="0">
                <a:solidFill>
                  <a:srgbClr val="7030A0"/>
                </a:solidFill>
              </a:rPr>
              <a:t>Research Interests</a:t>
            </a:r>
            <a:endParaRPr b="1" dirty="0">
              <a:solidFill>
                <a:srgbClr val="7030A0"/>
              </a:solidFill>
            </a:endParaRPr>
          </a:p>
        </p:txBody>
      </p:sp>
      <p:sp>
        <p:nvSpPr>
          <p:cNvPr id="67" name="Google Shape;67;p15"/>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buNone/>
            </a:pPr>
            <a:r>
              <a:rPr lang="en" b="1" dirty="0">
                <a:latin typeface="+mj-lt"/>
              </a:rPr>
              <a:t>Focus Area: </a:t>
            </a:r>
            <a:endParaRPr b="1" dirty="0">
              <a:latin typeface="+mj-lt"/>
            </a:endParaRPr>
          </a:p>
          <a:p>
            <a:pPr>
              <a:spcBef>
                <a:spcPts val="1600"/>
              </a:spcBef>
            </a:pPr>
            <a:r>
              <a:rPr lang="en" dirty="0">
                <a:latin typeface="+mj-lt"/>
              </a:rPr>
              <a:t>Applying deep learning to genomic data for disease prediction</a:t>
            </a:r>
            <a:endParaRPr dirty="0">
              <a:latin typeface="+mj-lt"/>
            </a:endParaRPr>
          </a:p>
          <a:p>
            <a:r>
              <a:rPr lang="en" dirty="0">
                <a:latin typeface="+mj-lt"/>
              </a:rPr>
              <a:t>Drug discovery</a:t>
            </a:r>
            <a:endParaRPr dirty="0">
              <a:latin typeface="+mj-lt"/>
            </a:endParaRPr>
          </a:p>
          <a:p>
            <a:pPr marL="0" indent="0">
              <a:spcBef>
                <a:spcPts val="1600"/>
              </a:spcBef>
              <a:buNone/>
            </a:pPr>
            <a:r>
              <a:rPr lang="en" b="1" dirty="0">
                <a:latin typeface="+mj-lt"/>
              </a:rPr>
              <a:t>Research Questions:</a:t>
            </a:r>
            <a:r>
              <a:rPr lang="en" dirty="0">
                <a:latin typeface="+mj-lt"/>
              </a:rPr>
              <a:t> </a:t>
            </a:r>
            <a:endParaRPr dirty="0">
              <a:latin typeface="+mj-lt"/>
            </a:endParaRPr>
          </a:p>
          <a:p>
            <a:pPr marL="152396" indent="0" algn="just">
              <a:spcBef>
                <a:spcPts val="1600"/>
              </a:spcBef>
              <a:buNone/>
            </a:pPr>
            <a:r>
              <a:rPr lang="en" dirty="0">
                <a:latin typeface="+mj-lt"/>
              </a:rPr>
              <a:t>How can the Large Language Model integrate with genetic variant databases to improve the accuracy and efficiency of genetic variant annotation for clinicians?</a:t>
            </a:r>
            <a:endParaRPr dirty="0">
              <a:latin typeface="+mj-lt"/>
            </a:endParaRPr>
          </a:p>
          <a:p>
            <a:pPr marL="0" indent="0">
              <a:spcBef>
                <a:spcPts val="1600"/>
              </a:spcBef>
              <a:spcAft>
                <a:spcPts val="1600"/>
              </a:spcAft>
              <a:buNone/>
            </a:pPr>
            <a:endParaRPr dirty="0">
              <a:latin typeface="+mj-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9C3C916-A46A-97AD-E228-A8645C7ED85F}"/>
              </a:ext>
            </a:extLst>
          </p:cNvPr>
          <p:cNvSpPr/>
          <p:nvPr/>
        </p:nvSpPr>
        <p:spPr>
          <a:xfrm>
            <a:off x="0" y="5384381"/>
            <a:ext cx="12192000" cy="15069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Light" panose="020F0302020204030204" pitchFamily="34" charset="0"/>
            </a:endParaRPr>
          </a:p>
        </p:txBody>
      </p:sp>
      <p:sp>
        <p:nvSpPr>
          <p:cNvPr id="2" name="Title 1">
            <a:extLst>
              <a:ext uri="{FF2B5EF4-FFF2-40B4-BE49-F238E27FC236}">
                <a16:creationId xmlns:a16="http://schemas.microsoft.com/office/drawing/2014/main" id="{7CA8CBBC-5212-4C4D-4800-43F4AD25E729}"/>
              </a:ext>
            </a:extLst>
          </p:cNvPr>
          <p:cNvSpPr>
            <a:spLocks noGrp="1"/>
          </p:cNvSpPr>
          <p:nvPr>
            <p:ph type="title"/>
          </p:nvPr>
        </p:nvSpPr>
        <p:spPr>
          <a:xfrm>
            <a:off x="1302656" y="155714"/>
            <a:ext cx="9437914" cy="841729"/>
          </a:xfrm>
        </p:spPr>
        <p:txBody>
          <a:bodyPr>
            <a:normAutofit/>
          </a:bodyPr>
          <a:lstStyle/>
          <a:p>
            <a:pPr algn="ctr"/>
            <a:r>
              <a:rPr lang="en-US" sz="4000" b="1" dirty="0" err="1">
                <a:solidFill>
                  <a:srgbClr val="7030A0"/>
                </a:solidFill>
              </a:rPr>
              <a:t>Mối</a:t>
            </a:r>
            <a:r>
              <a:rPr lang="en-US" sz="4000" b="1" dirty="0">
                <a:solidFill>
                  <a:srgbClr val="7030A0"/>
                </a:solidFill>
              </a:rPr>
              <a:t> </a:t>
            </a:r>
            <a:r>
              <a:rPr lang="en-US" sz="4000" b="1" dirty="0" err="1">
                <a:solidFill>
                  <a:srgbClr val="7030A0"/>
                </a:solidFill>
              </a:rPr>
              <a:t>liên</a:t>
            </a:r>
            <a:r>
              <a:rPr lang="en-US" sz="4000" b="1" dirty="0">
                <a:solidFill>
                  <a:srgbClr val="7030A0"/>
                </a:solidFill>
              </a:rPr>
              <a:t> </a:t>
            </a:r>
            <a:r>
              <a:rPr lang="en-US" sz="4000" b="1" dirty="0" err="1">
                <a:solidFill>
                  <a:srgbClr val="7030A0"/>
                </a:solidFill>
              </a:rPr>
              <a:t>kết</a:t>
            </a:r>
            <a:r>
              <a:rPr lang="en-US" sz="4000" b="1" dirty="0">
                <a:solidFill>
                  <a:srgbClr val="7030A0"/>
                </a:solidFill>
              </a:rPr>
              <a:t>: </a:t>
            </a:r>
            <a:r>
              <a:rPr lang="en-US" sz="4000" b="1" dirty="0" err="1">
                <a:solidFill>
                  <a:srgbClr val="7030A0"/>
                </a:solidFill>
              </a:rPr>
              <a:t>Biến</a:t>
            </a:r>
            <a:r>
              <a:rPr lang="en-US" sz="4000" b="1" dirty="0">
                <a:solidFill>
                  <a:srgbClr val="7030A0"/>
                </a:solidFill>
              </a:rPr>
              <a:t> </a:t>
            </a:r>
            <a:r>
              <a:rPr lang="en-US" sz="4000" b="1" dirty="0" err="1">
                <a:solidFill>
                  <a:srgbClr val="7030A0"/>
                </a:solidFill>
              </a:rPr>
              <a:t>thể</a:t>
            </a:r>
            <a:r>
              <a:rPr lang="en-US" sz="4000" b="1" dirty="0">
                <a:solidFill>
                  <a:srgbClr val="7030A0"/>
                </a:solidFill>
              </a:rPr>
              <a:t> gen </a:t>
            </a:r>
            <a:r>
              <a:rPr lang="en-US" sz="4000" b="1" dirty="0" err="1">
                <a:solidFill>
                  <a:srgbClr val="7030A0"/>
                </a:solidFill>
              </a:rPr>
              <a:t>và</a:t>
            </a:r>
            <a:r>
              <a:rPr lang="en-US" sz="4000" b="1" dirty="0">
                <a:solidFill>
                  <a:srgbClr val="7030A0"/>
                </a:solidFill>
              </a:rPr>
              <a:t> </a:t>
            </a:r>
            <a:r>
              <a:rPr lang="en-US" sz="4000" b="1" dirty="0" err="1">
                <a:solidFill>
                  <a:srgbClr val="7030A0"/>
                </a:solidFill>
              </a:rPr>
              <a:t>bệnh</a:t>
            </a:r>
            <a:r>
              <a:rPr lang="en-US" sz="4000" b="1" dirty="0">
                <a:solidFill>
                  <a:srgbClr val="7030A0"/>
                </a:solidFill>
              </a:rPr>
              <a:t> </a:t>
            </a:r>
            <a:r>
              <a:rPr lang="en-US" sz="4000" b="1" i="0" dirty="0">
                <a:solidFill>
                  <a:srgbClr val="7030A0"/>
                </a:solidFill>
                <a:effectLst/>
              </a:rPr>
              <a:t>di </a:t>
            </a:r>
            <a:r>
              <a:rPr lang="en-US" sz="4000" b="1" i="0" dirty="0" err="1">
                <a:solidFill>
                  <a:srgbClr val="7030A0"/>
                </a:solidFill>
                <a:effectLst/>
              </a:rPr>
              <a:t>truyền</a:t>
            </a:r>
            <a:endParaRPr lang="en-US" sz="4000" b="1" dirty="0">
              <a:solidFill>
                <a:srgbClr val="7030A0"/>
              </a:solidFill>
            </a:endParaRPr>
          </a:p>
        </p:txBody>
      </p:sp>
      <p:sp>
        <p:nvSpPr>
          <p:cNvPr id="3" name="TextBox 2">
            <a:extLst>
              <a:ext uri="{FF2B5EF4-FFF2-40B4-BE49-F238E27FC236}">
                <a16:creationId xmlns:a16="http://schemas.microsoft.com/office/drawing/2014/main" id="{6F5BEF2B-3CFE-5574-4ABC-E7FDB8B6E07D}"/>
              </a:ext>
            </a:extLst>
          </p:cNvPr>
          <p:cNvSpPr txBox="1"/>
          <p:nvPr/>
        </p:nvSpPr>
        <p:spPr>
          <a:xfrm>
            <a:off x="574853" y="6317021"/>
            <a:ext cx="2417683" cy="230832"/>
          </a:xfrm>
          <a:prstGeom prst="rect">
            <a:avLst/>
          </a:prstGeom>
          <a:noFill/>
        </p:spPr>
        <p:txBody>
          <a:bodyPr wrap="square">
            <a:spAutoFit/>
          </a:bodyPr>
          <a:lstStyle/>
          <a:p>
            <a:r>
              <a:rPr lang="en-US" sz="900" b="0" i="0" dirty="0">
                <a:solidFill>
                  <a:srgbClr val="000000"/>
                </a:solidFill>
                <a:effectLst/>
                <a:latin typeface="Calibri Light" panose="020F0302020204030204" pitchFamily="34" charset="0"/>
              </a:rPr>
              <a:t>10.5772/intechopen.71769</a:t>
            </a:r>
            <a:endParaRPr lang="en-US" sz="900" dirty="0">
              <a:latin typeface="Calibri Light" panose="020F0302020204030204" pitchFamily="34" charset="0"/>
            </a:endParaRPr>
          </a:p>
        </p:txBody>
      </p:sp>
      <p:pic>
        <p:nvPicPr>
          <p:cNvPr id="1026" name="Picture 2" descr="Figure 1.Omics technologies have accelerated our understanding of the complex molecular interactions in biological systems.">
            <a:extLst>
              <a:ext uri="{FF2B5EF4-FFF2-40B4-BE49-F238E27FC236}">
                <a16:creationId xmlns:a16="http://schemas.microsoft.com/office/drawing/2014/main" id="{B9948071-8357-F05A-720F-702C209D041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9845" y="1076536"/>
            <a:ext cx="10893941" cy="244149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B535F71-61E4-384A-7B2D-163B2AD523AC}"/>
              </a:ext>
            </a:extLst>
          </p:cNvPr>
          <p:cNvSpPr txBox="1"/>
          <p:nvPr/>
        </p:nvSpPr>
        <p:spPr>
          <a:xfrm>
            <a:off x="559562" y="3658163"/>
            <a:ext cx="2417683" cy="1431161"/>
          </a:xfrm>
          <a:prstGeom prst="rect">
            <a:avLst/>
          </a:prstGeom>
          <a:noFill/>
          <a:ln w="19050" cap="rnd">
            <a:solidFill>
              <a:schemeClr val="accent1"/>
            </a:solidFill>
            <a:extLst>
              <a:ext uri="{C807C97D-BFC1-408E-A445-0C87EB9F89A2}">
                <ask:lineSketchStyleProps xmlns:ask="http://schemas.microsoft.com/office/drawing/2018/sketchyshapes" sd="1219033472">
                  <a:custGeom>
                    <a:avLst/>
                    <a:gdLst>
                      <a:gd name="connsiteX0" fmla="*/ 0 w 2417683"/>
                      <a:gd name="connsiteY0" fmla="*/ 0 h 1431161"/>
                      <a:gd name="connsiteX1" fmla="*/ 2417683 w 2417683"/>
                      <a:gd name="connsiteY1" fmla="*/ 0 h 1431161"/>
                      <a:gd name="connsiteX2" fmla="*/ 2417683 w 2417683"/>
                      <a:gd name="connsiteY2" fmla="*/ 1431161 h 1431161"/>
                      <a:gd name="connsiteX3" fmla="*/ 0 w 2417683"/>
                      <a:gd name="connsiteY3" fmla="*/ 1431161 h 1431161"/>
                      <a:gd name="connsiteX4" fmla="*/ 0 w 2417683"/>
                      <a:gd name="connsiteY4" fmla="*/ 0 h 1431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7683" h="1431161" extrusionOk="0">
                        <a:moveTo>
                          <a:pt x="0" y="0"/>
                        </a:moveTo>
                        <a:cubicBezTo>
                          <a:pt x="450879" y="118645"/>
                          <a:pt x="1421577" y="116012"/>
                          <a:pt x="2417683" y="0"/>
                        </a:cubicBezTo>
                        <a:cubicBezTo>
                          <a:pt x="2298412" y="472790"/>
                          <a:pt x="2310733" y="925072"/>
                          <a:pt x="2417683" y="1431161"/>
                        </a:cubicBezTo>
                        <a:cubicBezTo>
                          <a:pt x="1501515" y="1565761"/>
                          <a:pt x="678862" y="1273965"/>
                          <a:pt x="0" y="1431161"/>
                        </a:cubicBezTo>
                        <a:cubicBezTo>
                          <a:pt x="-960" y="775802"/>
                          <a:pt x="86719" y="447001"/>
                          <a:pt x="0" y="0"/>
                        </a:cubicBezTo>
                        <a:close/>
                      </a:path>
                    </a:pathLst>
                  </a:custGeom>
                  <ask:type>
                    <ask:lineSketchNone/>
                  </ask:type>
                </ask:lineSketchStyleProps>
              </a:ext>
            </a:extLst>
          </a:ln>
        </p:spPr>
        <p:txBody>
          <a:bodyPr wrap="square" rtlCol="0">
            <a:spAutoFit/>
          </a:bodyPr>
          <a:lstStyle/>
          <a:p>
            <a:pPr algn="ctr"/>
            <a:r>
              <a:rPr lang="en-US" dirty="0">
                <a:latin typeface="Calibri Light" panose="020F0302020204030204" pitchFamily="34" charset="0"/>
                <a:cs typeface="Calibri Light" panose="020F0302020204030204" pitchFamily="34" charset="0"/>
              </a:rPr>
              <a:t>    </a:t>
            </a:r>
            <a:r>
              <a:rPr lang="en-US" dirty="0">
                <a:highlight>
                  <a:srgbClr val="FFFF00"/>
                </a:highlight>
                <a:latin typeface="Calibri Light" panose="020F0302020204030204" pitchFamily="34" charset="0"/>
                <a:cs typeface="Calibri Light" panose="020F0302020204030204" pitchFamily="34" charset="0"/>
              </a:rPr>
              <a:t>PAH gene</a:t>
            </a:r>
          </a:p>
          <a:p>
            <a:r>
              <a:rPr lang="en-US" sz="2000" dirty="0">
                <a:latin typeface="Calibri Light" panose="020F0302020204030204" pitchFamily="34" charset="0"/>
                <a:cs typeface="Calibri Light" panose="020F0302020204030204" pitchFamily="34" charset="0"/>
              </a:rPr>
              <a:t>Ref  …A</a:t>
            </a:r>
            <a:r>
              <a:rPr lang="en-US" sz="2000" b="1" dirty="0">
                <a:solidFill>
                  <a:schemeClr val="accent6"/>
                </a:solidFill>
                <a:latin typeface="Calibri Light" panose="020F0302020204030204" pitchFamily="34" charset="0"/>
                <a:cs typeface="Calibri Light" panose="020F0302020204030204" pitchFamily="34" charset="0"/>
              </a:rPr>
              <a:t>T</a:t>
            </a:r>
            <a:r>
              <a:rPr lang="en-US" sz="2000" dirty="0">
                <a:latin typeface="Calibri Light" panose="020F0302020204030204" pitchFamily="34" charset="0"/>
                <a:cs typeface="Calibri Light" panose="020F0302020204030204" pitchFamily="34" charset="0"/>
              </a:rPr>
              <a:t>CGAT…</a:t>
            </a:r>
          </a:p>
          <a:p>
            <a:r>
              <a:rPr lang="en-US" sz="2000" dirty="0">
                <a:latin typeface="Calibri Light" panose="020F0302020204030204" pitchFamily="34" charset="0"/>
                <a:cs typeface="Calibri Light" panose="020F0302020204030204" pitchFamily="34" charset="0"/>
              </a:rPr>
              <a:t>P1   …A</a:t>
            </a:r>
            <a:r>
              <a:rPr lang="en-US" sz="2000" b="1" dirty="0">
                <a:solidFill>
                  <a:srgbClr val="FF0000"/>
                </a:solidFill>
                <a:latin typeface="Calibri Light" panose="020F0302020204030204" pitchFamily="34" charset="0"/>
                <a:cs typeface="Calibri Light" panose="020F0302020204030204" pitchFamily="34" charset="0"/>
              </a:rPr>
              <a:t>A</a:t>
            </a:r>
            <a:r>
              <a:rPr lang="en-US" sz="2000" dirty="0">
                <a:latin typeface="Calibri Light" panose="020F0302020204030204" pitchFamily="34" charset="0"/>
                <a:cs typeface="Calibri Light" panose="020F0302020204030204" pitchFamily="34" charset="0"/>
              </a:rPr>
              <a:t>CGAT…</a:t>
            </a:r>
          </a:p>
          <a:p>
            <a:endParaRPr lang="en-US" dirty="0">
              <a:latin typeface="Calibri Light" panose="020F0302020204030204" pitchFamily="34" charset="0"/>
              <a:cs typeface="Calibri Light" panose="020F0302020204030204" pitchFamily="34" charset="0"/>
            </a:endParaRPr>
          </a:p>
          <a:p>
            <a:r>
              <a:rPr lang="fr-FR" sz="1100" b="1" dirty="0">
                <a:latin typeface="Calibri Light" panose="020F0302020204030204" pitchFamily="34" charset="0"/>
                <a:cs typeface="Calibri Light" panose="020F0302020204030204" pitchFamily="34" charset="0"/>
              </a:rPr>
              <a:t>NM_000277.3(PAH):c.971T&gt;A</a:t>
            </a:r>
            <a:endParaRPr lang="en-US" sz="1100" b="1" dirty="0">
              <a:latin typeface="Calibri Light" panose="020F0302020204030204" pitchFamily="34" charset="0"/>
              <a:cs typeface="Calibri Light" panose="020F0302020204030204" pitchFamily="34" charset="0"/>
            </a:endParaRPr>
          </a:p>
        </p:txBody>
      </p:sp>
      <p:sp>
        <p:nvSpPr>
          <p:cNvPr id="10" name="TextBox 9">
            <a:extLst>
              <a:ext uri="{FF2B5EF4-FFF2-40B4-BE49-F238E27FC236}">
                <a16:creationId xmlns:a16="http://schemas.microsoft.com/office/drawing/2014/main" id="{909DC164-0BAA-7CDA-7A3E-A04E24BFB6B1}"/>
              </a:ext>
            </a:extLst>
          </p:cNvPr>
          <p:cNvSpPr txBox="1"/>
          <p:nvPr/>
        </p:nvSpPr>
        <p:spPr>
          <a:xfrm>
            <a:off x="3386921" y="3658163"/>
            <a:ext cx="2417683" cy="1431161"/>
          </a:xfrm>
          <a:prstGeom prst="rect">
            <a:avLst/>
          </a:prstGeom>
          <a:noFill/>
          <a:ln w="19050">
            <a:solidFill>
              <a:schemeClr val="accent1"/>
            </a:solidFill>
          </a:ln>
        </p:spPr>
        <p:txBody>
          <a:bodyPr wrap="square" rtlCol="0">
            <a:spAutoFit/>
          </a:bodyPr>
          <a:lstStyle/>
          <a:p>
            <a:pPr algn="ctr"/>
            <a:r>
              <a:rPr lang="en-US" dirty="0">
                <a:latin typeface="Calibri Light" panose="020F0302020204030204" pitchFamily="34" charset="0"/>
                <a:cs typeface="Calibri Light" panose="020F0302020204030204" pitchFamily="34" charset="0"/>
              </a:rPr>
              <a:t>    </a:t>
            </a:r>
            <a:r>
              <a:rPr lang="en-US" dirty="0">
                <a:highlight>
                  <a:srgbClr val="00FF00"/>
                </a:highlight>
                <a:latin typeface="Calibri Light" panose="020F0302020204030204" pitchFamily="34" charset="0"/>
                <a:cs typeface="Calibri Light" panose="020F0302020204030204" pitchFamily="34" charset="0"/>
              </a:rPr>
              <a:t>PAH mRNA</a:t>
            </a:r>
          </a:p>
          <a:p>
            <a:r>
              <a:rPr lang="en-US" sz="2000" dirty="0">
                <a:latin typeface="Calibri Light" panose="020F0302020204030204" pitchFamily="34" charset="0"/>
                <a:cs typeface="Calibri Light" panose="020F0302020204030204" pitchFamily="34" charset="0"/>
              </a:rPr>
              <a:t>Ref  …A</a:t>
            </a:r>
            <a:r>
              <a:rPr lang="en-US" sz="2000" b="1" dirty="0">
                <a:solidFill>
                  <a:schemeClr val="accent6"/>
                </a:solidFill>
                <a:latin typeface="Calibri Light" panose="020F0302020204030204" pitchFamily="34" charset="0"/>
                <a:cs typeface="Calibri Light" panose="020F0302020204030204" pitchFamily="34" charset="0"/>
              </a:rPr>
              <a:t>U</a:t>
            </a:r>
            <a:r>
              <a:rPr lang="en-US" sz="2000" dirty="0">
                <a:latin typeface="Calibri Light" panose="020F0302020204030204" pitchFamily="34" charset="0"/>
                <a:cs typeface="Calibri Light" panose="020F0302020204030204" pitchFamily="34" charset="0"/>
              </a:rPr>
              <a:t>CGAU…</a:t>
            </a:r>
          </a:p>
          <a:p>
            <a:r>
              <a:rPr lang="en-US" sz="2000" dirty="0">
                <a:latin typeface="Calibri Light" panose="020F0302020204030204" pitchFamily="34" charset="0"/>
                <a:cs typeface="Calibri Light" panose="020F0302020204030204" pitchFamily="34" charset="0"/>
              </a:rPr>
              <a:t>P1   …A</a:t>
            </a:r>
            <a:r>
              <a:rPr lang="en-US" sz="2000" b="1" dirty="0">
                <a:solidFill>
                  <a:srgbClr val="FF0000"/>
                </a:solidFill>
                <a:latin typeface="Calibri Light" panose="020F0302020204030204" pitchFamily="34" charset="0"/>
                <a:cs typeface="Calibri Light" panose="020F0302020204030204" pitchFamily="34" charset="0"/>
              </a:rPr>
              <a:t>A</a:t>
            </a:r>
            <a:r>
              <a:rPr lang="en-US" sz="2000" dirty="0">
                <a:latin typeface="Calibri Light" panose="020F0302020204030204" pitchFamily="34" charset="0"/>
                <a:cs typeface="Calibri Light" panose="020F0302020204030204" pitchFamily="34" charset="0"/>
              </a:rPr>
              <a:t>CGAU…</a:t>
            </a:r>
          </a:p>
          <a:p>
            <a:endParaRPr lang="en-US" dirty="0">
              <a:latin typeface="Calibri Light" panose="020F0302020204030204" pitchFamily="34" charset="0"/>
              <a:cs typeface="Calibri Light" panose="020F0302020204030204" pitchFamily="34" charset="0"/>
            </a:endParaRPr>
          </a:p>
          <a:p>
            <a:r>
              <a:rPr lang="fr-FR" sz="1100" b="1" dirty="0">
                <a:latin typeface="Calibri Light" panose="020F0302020204030204" pitchFamily="34" charset="0"/>
                <a:cs typeface="Calibri Light" panose="020F0302020204030204" pitchFamily="34" charset="0"/>
              </a:rPr>
              <a:t>NM_000277.3(PAH):c.971T&gt;A</a:t>
            </a:r>
            <a:endParaRPr lang="en-US" sz="1100" b="1" dirty="0">
              <a:latin typeface="Calibri Light" panose="020F0302020204030204" pitchFamily="34" charset="0"/>
              <a:cs typeface="Calibri Light" panose="020F0302020204030204" pitchFamily="34" charset="0"/>
            </a:endParaRPr>
          </a:p>
        </p:txBody>
      </p:sp>
      <p:sp>
        <p:nvSpPr>
          <p:cNvPr id="11" name="TextBox 10">
            <a:extLst>
              <a:ext uri="{FF2B5EF4-FFF2-40B4-BE49-F238E27FC236}">
                <a16:creationId xmlns:a16="http://schemas.microsoft.com/office/drawing/2014/main" id="{E18D15EA-9E89-5E53-A933-47C359EAF828}"/>
              </a:ext>
            </a:extLst>
          </p:cNvPr>
          <p:cNvSpPr txBox="1"/>
          <p:nvPr/>
        </p:nvSpPr>
        <p:spPr>
          <a:xfrm>
            <a:off x="6223622" y="3670856"/>
            <a:ext cx="2544821" cy="1431161"/>
          </a:xfrm>
          <a:prstGeom prst="rect">
            <a:avLst/>
          </a:prstGeom>
          <a:noFill/>
          <a:ln w="19050">
            <a:solidFill>
              <a:schemeClr val="accent1"/>
            </a:solidFill>
          </a:ln>
        </p:spPr>
        <p:txBody>
          <a:bodyPr wrap="square" rtlCol="0">
            <a:spAutoFit/>
          </a:bodyPr>
          <a:lstStyle/>
          <a:p>
            <a:pPr algn="just"/>
            <a:r>
              <a:rPr lang="en-US" dirty="0">
                <a:latin typeface="Calibri Light" panose="020F0302020204030204" pitchFamily="34" charset="0"/>
                <a:cs typeface="Calibri Light" panose="020F0302020204030204" pitchFamily="34" charset="0"/>
              </a:rPr>
              <a:t>     </a:t>
            </a:r>
            <a:r>
              <a:rPr lang="en-US" dirty="0">
                <a:highlight>
                  <a:srgbClr val="00FFFF"/>
                </a:highlight>
                <a:latin typeface="Calibri Light" panose="020F0302020204030204" pitchFamily="34" charset="0"/>
                <a:cs typeface="Calibri Light" panose="020F0302020204030204" pitchFamily="34" charset="0"/>
              </a:rPr>
              <a:t>PAH protein</a:t>
            </a:r>
          </a:p>
          <a:p>
            <a:pPr algn="just"/>
            <a:r>
              <a:rPr lang="en-US" sz="2000" dirty="0">
                <a:latin typeface="Calibri Light" panose="020F0302020204030204" pitchFamily="34" charset="0"/>
                <a:cs typeface="Calibri Light" panose="020F0302020204030204" pitchFamily="34" charset="0"/>
              </a:rPr>
              <a:t>Ref  …</a:t>
            </a:r>
            <a:r>
              <a:rPr lang="en-US" sz="2000" b="1" dirty="0">
                <a:solidFill>
                  <a:schemeClr val="accent6"/>
                </a:solidFill>
                <a:latin typeface="Calibri Light" panose="020F0302020204030204" pitchFamily="34" charset="0"/>
                <a:cs typeface="Calibri Light" panose="020F0302020204030204" pitchFamily="34" charset="0"/>
              </a:rPr>
              <a:t>Ile</a:t>
            </a:r>
            <a:r>
              <a:rPr lang="en-US" sz="2000" dirty="0">
                <a:latin typeface="Calibri Light" panose="020F0302020204030204" pitchFamily="34" charset="0"/>
                <a:cs typeface="Calibri Light" panose="020F0302020204030204" pitchFamily="34" charset="0"/>
              </a:rPr>
              <a:t>-Asp…</a:t>
            </a:r>
          </a:p>
          <a:p>
            <a:pPr algn="just"/>
            <a:r>
              <a:rPr lang="en-US" sz="2000" dirty="0">
                <a:latin typeface="Calibri Light" panose="020F0302020204030204" pitchFamily="34" charset="0"/>
                <a:cs typeface="Calibri Light" panose="020F0302020204030204" pitchFamily="34" charset="0"/>
              </a:rPr>
              <a:t>P1   …</a:t>
            </a:r>
            <a:r>
              <a:rPr lang="en-US" sz="2000" b="1" dirty="0" err="1">
                <a:solidFill>
                  <a:srgbClr val="FF0000"/>
                </a:solidFill>
                <a:latin typeface="Calibri Light" panose="020F0302020204030204" pitchFamily="34" charset="0"/>
                <a:cs typeface="Calibri Light" panose="020F0302020204030204" pitchFamily="34" charset="0"/>
              </a:rPr>
              <a:t>Asn</a:t>
            </a:r>
            <a:r>
              <a:rPr lang="en-US" sz="2000" dirty="0">
                <a:latin typeface="Calibri Light" panose="020F0302020204030204" pitchFamily="34" charset="0"/>
                <a:cs typeface="Calibri Light" panose="020F0302020204030204" pitchFamily="34" charset="0"/>
              </a:rPr>
              <a:t>-Asp…</a:t>
            </a:r>
          </a:p>
          <a:p>
            <a:pPr algn="just"/>
            <a:endParaRPr lang="en-US" dirty="0">
              <a:latin typeface="Calibri Light" panose="020F0302020204030204" pitchFamily="34" charset="0"/>
              <a:cs typeface="Calibri Light" panose="020F0302020204030204" pitchFamily="34" charset="0"/>
            </a:endParaRPr>
          </a:p>
          <a:p>
            <a:pPr algn="just"/>
            <a:r>
              <a:rPr lang="fr-FR" sz="1100" b="1" dirty="0">
                <a:latin typeface="Calibri Light" panose="020F0302020204030204" pitchFamily="34" charset="0"/>
                <a:cs typeface="Calibri Light" panose="020F0302020204030204" pitchFamily="34" charset="0"/>
              </a:rPr>
              <a:t>NM_000277.3(PAH):p.Ile324Asn</a:t>
            </a:r>
            <a:endParaRPr lang="en-US" sz="1100" b="1" dirty="0">
              <a:latin typeface="Calibri Light" panose="020F0302020204030204" pitchFamily="34" charset="0"/>
              <a:cs typeface="Calibri Light" panose="020F0302020204030204" pitchFamily="34" charset="0"/>
            </a:endParaRPr>
          </a:p>
        </p:txBody>
      </p:sp>
      <p:pic>
        <p:nvPicPr>
          <p:cNvPr id="13" name="Picture 12">
            <a:extLst>
              <a:ext uri="{FF2B5EF4-FFF2-40B4-BE49-F238E27FC236}">
                <a16:creationId xmlns:a16="http://schemas.microsoft.com/office/drawing/2014/main" id="{42D72F0C-6F5B-2D9E-E597-72C4C6B6531A}"/>
              </a:ext>
            </a:extLst>
          </p:cNvPr>
          <p:cNvPicPr>
            <a:picLocks noChangeAspect="1"/>
          </p:cNvPicPr>
          <p:nvPr/>
        </p:nvPicPr>
        <p:blipFill>
          <a:blip r:embed="rId3"/>
          <a:stretch>
            <a:fillRect/>
          </a:stretch>
        </p:blipFill>
        <p:spPr>
          <a:xfrm>
            <a:off x="7058877" y="5388925"/>
            <a:ext cx="1984767" cy="1389337"/>
          </a:xfrm>
          <a:prstGeom prst="rect">
            <a:avLst/>
          </a:prstGeom>
        </p:spPr>
      </p:pic>
      <p:sp>
        <p:nvSpPr>
          <p:cNvPr id="14" name="TextBox 13">
            <a:extLst>
              <a:ext uri="{FF2B5EF4-FFF2-40B4-BE49-F238E27FC236}">
                <a16:creationId xmlns:a16="http://schemas.microsoft.com/office/drawing/2014/main" id="{8E519413-B11A-A0BE-9788-952DD9A6D17B}"/>
              </a:ext>
            </a:extLst>
          </p:cNvPr>
          <p:cNvSpPr txBox="1"/>
          <p:nvPr/>
        </p:nvSpPr>
        <p:spPr>
          <a:xfrm>
            <a:off x="9080037" y="3651876"/>
            <a:ext cx="2593345" cy="1600438"/>
          </a:xfrm>
          <a:prstGeom prst="rect">
            <a:avLst/>
          </a:prstGeom>
          <a:noFill/>
          <a:ln w="19050">
            <a:solidFill>
              <a:schemeClr val="accent1"/>
            </a:solidFill>
          </a:ln>
        </p:spPr>
        <p:txBody>
          <a:bodyPr wrap="square" rtlCol="0">
            <a:spAutoFit/>
          </a:bodyPr>
          <a:lstStyle/>
          <a:p>
            <a:pPr algn="just"/>
            <a:r>
              <a:rPr lang="en-US" b="1" dirty="0">
                <a:solidFill>
                  <a:srgbClr val="00B050"/>
                </a:solidFill>
                <a:latin typeface="Calibri Light" panose="020F0302020204030204" pitchFamily="34" charset="0"/>
                <a:cs typeface="Calibri Light" panose="020F0302020204030204" pitchFamily="34" charset="0"/>
              </a:rPr>
              <a:t>         PAH</a:t>
            </a:r>
            <a:endParaRPr lang="en-US" sz="2000" b="1" dirty="0">
              <a:solidFill>
                <a:srgbClr val="00B050"/>
              </a:solidFill>
              <a:latin typeface="Calibri Light" panose="020F0302020204030204" pitchFamily="34" charset="0"/>
              <a:cs typeface="Calibri Light" panose="020F0302020204030204" pitchFamily="34" charset="0"/>
            </a:endParaRPr>
          </a:p>
          <a:p>
            <a:pPr algn="just"/>
            <a:r>
              <a:rPr lang="en-US" sz="2000" dirty="0">
                <a:latin typeface="Calibri Light" panose="020F0302020204030204" pitchFamily="34" charset="0"/>
                <a:cs typeface="Calibri Light" panose="020F0302020204030204" pitchFamily="34" charset="0"/>
              </a:rPr>
              <a:t>Ref  </a:t>
            </a:r>
            <a:r>
              <a:rPr lang="en-US" sz="2000" dirty="0" err="1">
                <a:latin typeface="Calibri Light" panose="020F0302020204030204" pitchFamily="34" charset="0"/>
                <a:cs typeface="Calibri Light" panose="020F0302020204030204" pitchFamily="34" charset="0"/>
              </a:rPr>
              <a:t>Phe</a:t>
            </a:r>
            <a:r>
              <a:rPr lang="en-US" sz="2000" dirty="0">
                <a:latin typeface="Calibri Light" panose="020F0302020204030204" pitchFamily="34" charset="0"/>
                <a:cs typeface="Calibri Light" panose="020F0302020204030204" pitchFamily="34" charset="0"/>
              </a:rPr>
              <a:t> </a:t>
            </a:r>
            <a:r>
              <a:rPr lang="en-US" sz="2000" dirty="0">
                <a:latin typeface="Calibri Light" panose="020F0302020204030204" pitchFamily="34" charset="0"/>
                <a:cs typeface="Calibri Light" panose="020F0302020204030204" pitchFamily="34" charset="0"/>
                <a:sym typeface="Wingdings" panose="05000000000000000000" pitchFamily="2" charset="2"/>
              </a:rPr>
              <a:t> Tyr</a:t>
            </a:r>
          </a:p>
          <a:p>
            <a:pPr algn="just"/>
            <a:endParaRPr lang="en-US" sz="2000" dirty="0">
              <a:latin typeface="Calibri Light" panose="020F0302020204030204" pitchFamily="34" charset="0"/>
              <a:cs typeface="Calibri Light" panose="020F0302020204030204" pitchFamily="34" charset="0"/>
            </a:endParaRPr>
          </a:p>
          <a:p>
            <a:pPr algn="just"/>
            <a:r>
              <a:rPr lang="en-US" sz="2000" dirty="0">
                <a:latin typeface="Calibri Light" panose="020F0302020204030204" pitchFamily="34" charset="0"/>
                <a:cs typeface="Calibri Light" panose="020F0302020204030204" pitchFamily="34" charset="0"/>
              </a:rPr>
              <a:t>        </a:t>
            </a:r>
            <a:r>
              <a:rPr lang="en-US" sz="2000" b="1" dirty="0">
                <a:solidFill>
                  <a:srgbClr val="FF0000"/>
                </a:solidFill>
                <a:latin typeface="Calibri Light" panose="020F0302020204030204" pitchFamily="34" charset="0"/>
                <a:cs typeface="Calibri Light" panose="020F0302020204030204" pitchFamily="34" charset="0"/>
              </a:rPr>
              <a:t>PAH</a:t>
            </a:r>
            <a:endParaRPr lang="en-US" sz="2000" dirty="0">
              <a:solidFill>
                <a:srgbClr val="FF0000"/>
              </a:solidFill>
              <a:latin typeface="Calibri Light" panose="020F0302020204030204" pitchFamily="34" charset="0"/>
              <a:cs typeface="Calibri Light" panose="020F0302020204030204" pitchFamily="34" charset="0"/>
            </a:endParaRPr>
          </a:p>
          <a:p>
            <a:pPr algn="just"/>
            <a:r>
              <a:rPr lang="en-US" sz="2000" dirty="0">
                <a:latin typeface="Calibri Light" panose="020F0302020204030204" pitchFamily="34" charset="0"/>
                <a:cs typeface="Calibri Light" panose="020F0302020204030204" pitchFamily="34" charset="0"/>
              </a:rPr>
              <a:t>P1   </a:t>
            </a:r>
            <a:r>
              <a:rPr lang="en-US" sz="2000" dirty="0" err="1">
                <a:latin typeface="Calibri Light" panose="020F0302020204030204" pitchFamily="34" charset="0"/>
                <a:cs typeface="Calibri Light" panose="020F0302020204030204" pitchFamily="34" charset="0"/>
              </a:rPr>
              <a:t>Phe</a:t>
            </a:r>
            <a:r>
              <a:rPr lang="en-US" sz="2000" dirty="0">
                <a:latin typeface="Calibri Light" panose="020F0302020204030204" pitchFamily="34" charset="0"/>
                <a:cs typeface="Calibri Light" panose="020F0302020204030204" pitchFamily="34" charset="0"/>
              </a:rPr>
              <a:t> </a:t>
            </a:r>
            <a:r>
              <a:rPr lang="en-US" sz="2000" dirty="0">
                <a:latin typeface="Calibri Light" panose="020F0302020204030204" pitchFamily="34" charset="0"/>
                <a:cs typeface="Calibri Light" panose="020F0302020204030204" pitchFamily="34" charset="0"/>
                <a:sym typeface="Wingdings" panose="05000000000000000000" pitchFamily="2" charset="2"/>
              </a:rPr>
              <a:t> Tyr</a:t>
            </a:r>
            <a:endParaRPr lang="en-US" sz="2000" dirty="0">
              <a:latin typeface="Calibri Light" panose="020F0302020204030204" pitchFamily="34" charset="0"/>
              <a:cs typeface="Calibri Light" panose="020F0302020204030204" pitchFamily="34" charset="0"/>
            </a:endParaRPr>
          </a:p>
        </p:txBody>
      </p:sp>
      <p:sp>
        <p:nvSpPr>
          <p:cNvPr id="4" name="Multiplication Sign 3">
            <a:extLst>
              <a:ext uri="{FF2B5EF4-FFF2-40B4-BE49-F238E27FC236}">
                <a16:creationId xmlns:a16="http://schemas.microsoft.com/office/drawing/2014/main" id="{890E1785-2E5D-2207-147E-F6316EC74024}"/>
              </a:ext>
            </a:extLst>
          </p:cNvPr>
          <p:cNvSpPr/>
          <p:nvPr/>
        </p:nvSpPr>
        <p:spPr>
          <a:xfrm>
            <a:off x="10041686" y="4717145"/>
            <a:ext cx="189673" cy="614262"/>
          </a:xfrm>
          <a:prstGeom prst="mathMultiply">
            <a:avLst/>
          </a:prstGeom>
          <a:noFill/>
          <a:ln w="19050">
            <a:solidFill>
              <a:srgbClr val="FF000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latin typeface="Calibri Light" panose="020F0302020204030204" pitchFamily="34" charset="0"/>
            </a:endParaRPr>
          </a:p>
        </p:txBody>
      </p:sp>
      <p:pic>
        <p:nvPicPr>
          <p:cNvPr id="5" name="Picture 4">
            <a:extLst>
              <a:ext uri="{FF2B5EF4-FFF2-40B4-BE49-F238E27FC236}">
                <a16:creationId xmlns:a16="http://schemas.microsoft.com/office/drawing/2014/main" id="{74CCF02D-08DC-0E27-2ECD-92CAF0E8B8C0}"/>
              </a:ext>
            </a:extLst>
          </p:cNvPr>
          <p:cNvPicPr>
            <a:picLocks noChangeAspect="1"/>
          </p:cNvPicPr>
          <p:nvPr/>
        </p:nvPicPr>
        <p:blipFill>
          <a:blip r:embed="rId4"/>
          <a:stretch>
            <a:fillRect/>
          </a:stretch>
        </p:blipFill>
        <p:spPr>
          <a:xfrm>
            <a:off x="4838990" y="5374742"/>
            <a:ext cx="1984767" cy="1441331"/>
          </a:xfrm>
          <a:prstGeom prst="rect">
            <a:avLst/>
          </a:prstGeom>
        </p:spPr>
      </p:pic>
      <p:pic>
        <p:nvPicPr>
          <p:cNvPr id="6" name="Content Placeholder 4">
            <a:extLst>
              <a:ext uri="{FF2B5EF4-FFF2-40B4-BE49-F238E27FC236}">
                <a16:creationId xmlns:a16="http://schemas.microsoft.com/office/drawing/2014/main" id="{4281A177-19A4-F359-1895-E2C92B064896}"/>
              </a:ext>
            </a:extLst>
          </p:cNvPr>
          <p:cNvPicPr>
            <a:picLocks noChangeAspect="1"/>
          </p:cNvPicPr>
          <p:nvPr/>
        </p:nvPicPr>
        <p:blipFill>
          <a:blip r:embed="rId5" cstate="print">
            <a:extLst>
              <a:ext uri="{28A0092B-C50C-407E-A947-70E740481C1C}">
                <a14:useLocalDpi xmlns:a14="http://schemas.microsoft.com/office/drawing/2010/main" val="0"/>
              </a:ext>
            </a:extLst>
          </a:blip>
          <a:srcRect l="25959" r="25832"/>
          <a:stretch/>
        </p:blipFill>
        <p:spPr>
          <a:xfrm>
            <a:off x="9448718" y="5384381"/>
            <a:ext cx="1799853" cy="1329661"/>
          </a:xfrm>
          <a:prstGeom prst="rect">
            <a:avLst/>
          </a:prstGeom>
        </p:spPr>
      </p:pic>
    </p:spTree>
    <p:extLst>
      <p:ext uri="{BB962C8B-B14F-4D97-AF65-F5344CB8AC3E}">
        <p14:creationId xmlns:p14="http://schemas.microsoft.com/office/powerpoint/2010/main" val="13960651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04EDFB62-E6DF-DFD6-1E57-768C6256377B}"/>
              </a:ext>
            </a:extLst>
          </p:cNvPr>
          <p:cNvSpPr txBox="1">
            <a:spLocks/>
          </p:cNvSpPr>
          <p:nvPr/>
        </p:nvSpPr>
        <p:spPr>
          <a:xfrm>
            <a:off x="387818" y="1785257"/>
            <a:ext cx="11103593" cy="34039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lvl="1"/>
            <a:r>
              <a:rPr lang="en-US" sz="5400" b="1" dirty="0">
                <a:solidFill>
                  <a:srgbClr val="7030A0"/>
                </a:solidFill>
                <a:latin typeface="Calibri Light" panose="020F0302020204030204" pitchFamily="34" charset="0"/>
              </a:rPr>
              <a:t>Quy </a:t>
            </a:r>
            <a:r>
              <a:rPr lang="en-US" sz="5400" b="1" dirty="0" err="1">
                <a:solidFill>
                  <a:srgbClr val="7030A0"/>
                </a:solidFill>
                <a:latin typeface="Calibri Light" panose="020F0302020204030204" pitchFamily="34" charset="0"/>
              </a:rPr>
              <a:t>trình</a:t>
            </a:r>
            <a:r>
              <a:rPr lang="en-US" sz="5400" b="1" dirty="0">
                <a:solidFill>
                  <a:srgbClr val="7030A0"/>
                </a:solidFill>
                <a:latin typeface="Calibri Light" panose="020F0302020204030204" pitchFamily="34" charset="0"/>
              </a:rPr>
              <a:t> </a:t>
            </a:r>
            <a:r>
              <a:rPr lang="vi-VN" sz="5400" b="1" i="0" dirty="0">
                <a:solidFill>
                  <a:schemeClr val="accent2"/>
                </a:solidFill>
                <a:effectLst/>
                <a:latin typeface="Calibri Light" panose="020F0302020204030204" pitchFamily="34" charset="0"/>
              </a:rPr>
              <a:t>XÉT NGHIỆM </a:t>
            </a:r>
            <a:r>
              <a:rPr lang="en-US" sz="5400" b="1" dirty="0">
                <a:solidFill>
                  <a:srgbClr val="7030A0"/>
                </a:solidFill>
                <a:latin typeface="Calibri Light" panose="020F0302020204030204" pitchFamily="34" charset="0"/>
              </a:rPr>
              <a:t>gen </a:t>
            </a:r>
            <a:r>
              <a:rPr lang="en-US" sz="5400" b="1" dirty="0" err="1">
                <a:solidFill>
                  <a:srgbClr val="7030A0"/>
                </a:solidFill>
                <a:latin typeface="Calibri Light" panose="020F0302020204030204" pitchFamily="34" charset="0"/>
              </a:rPr>
              <a:t>bằng</a:t>
            </a:r>
            <a:r>
              <a:rPr lang="en-US" sz="5400" b="1" dirty="0">
                <a:solidFill>
                  <a:srgbClr val="7030A0"/>
                </a:solidFill>
                <a:latin typeface="Calibri Light" panose="020F0302020204030204" pitchFamily="34" charset="0"/>
              </a:rPr>
              <a:t> </a:t>
            </a:r>
            <a:r>
              <a:rPr lang="en-US" sz="5400" b="1" dirty="0" err="1">
                <a:solidFill>
                  <a:srgbClr val="7030A0"/>
                </a:solidFill>
                <a:latin typeface="Calibri Light" panose="020F0302020204030204" pitchFamily="34" charset="0"/>
              </a:rPr>
              <a:t>phương</a:t>
            </a:r>
            <a:r>
              <a:rPr lang="en-US" sz="5400" b="1" dirty="0">
                <a:solidFill>
                  <a:srgbClr val="7030A0"/>
                </a:solidFill>
                <a:latin typeface="Calibri Light" panose="020F0302020204030204" pitchFamily="34" charset="0"/>
              </a:rPr>
              <a:t> </a:t>
            </a:r>
            <a:r>
              <a:rPr lang="en-US" sz="5400" b="1" dirty="0" err="1">
                <a:solidFill>
                  <a:srgbClr val="7030A0"/>
                </a:solidFill>
                <a:latin typeface="Calibri Light" panose="020F0302020204030204" pitchFamily="34" charset="0"/>
              </a:rPr>
              <a:t>pháp</a:t>
            </a:r>
            <a:r>
              <a:rPr lang="en-US" sz="5400" b="1" dirty="0">
                <a:solidFill>
                  <a:srgbClr val="7030A0"/>
                </a:solidFill>
                <a:latin typeface="Calibri Light" panose="020F0302020204030204" pitchFamily="34" charset="0"/>
              </a:rPr>
              <a:t> </a:t>
            </a:r>
            <a:r>
              <a:rPr lang="en-US" sz="5400" b="1" dirty="0" err="1">
                <a:solidFill>
                  <a:srgbClr val="7030A0"/>
                </a:solidFill>
                <a:latin typeface="Calibri Light" panose="020F0302020204030204" pitchFamily="34" charset="0"/>
              </a:rPr>
              <a:t>giải</a:t>
            </a:r>
            <a:r>
              <a:rPr lang="en-US" sz="5400" b="1" dirty="0">
                <a:solidFill>
                  <a:srgbClr val="7030A0"/>
                </a:solidFill>
                <a:latin typeface="Calibri Light" panose="020F0302020204030204" pitchFamily="34" charset="0"/>
              </a:rPr>
              <a:t> </a:t>
            </a:r>
            <a:r>
              <a:rPr lang="en-US" sz="5400" b="1" dirty="0" err="1">
                <a:solidFill>
                  <a:srgbClr val="7030A0"/>
                </a:solidFill>
                <a:latin typeface="Calibri Light" panose="020F0302020204030204" pitchFamily="34" charset="0"/>
              </a:rPr>
              <a:t>trình</a:t>
            </a:r>
            <a:r>
              <a:rPr lang="en-US" sz="5400" b="1" dirty="0">
                <a:solidFill>
                  <a:srgbClr val="7030A0"/>
                </a:solidFill>
                <a:latin typeface="Calibri Light" panose="020F0302020204030204" pitchFamily="34" charset="0"/>
              </a:rPr>
              <a:t> </a:t>
            </a:r>
            <a:r>
              <a:rPr lang="en-US" sz="5400" b="1" dirty="0" err="1">
                <a:solidFill>
                  <a:srgbClr val="7030A0"/>
                </a:solidFill>
                <a:latin typeface="Calibri Light" panose="020F0302020204030204" pitchFamily="34" charset="0"/>
              </a:rPr>
              <a:t>tự</a:t>
            </a:r>
            <a:r>
              <a:rPr lang="en-US" sz="5400" b="1" dirty="0">
                <a:solidFill>
                  <a:srgbClr val="7030A0"/>
                </a:solidFill>
                <a:latin typeface="Calibri Light" panose="020F0302020204030204" pitchFamily="34" charset="0"/>
              </a:rPr>
              <a:t> </a:t>
            </a:r>
            <a:r>
              <a:rPr lang="en-US" sz="5400" b="1" dirty="0" err="1">
                <a:solidFill>
                  <a:srgbClr val="7030A0"/>
                </a:solidFill>
                <a:latin typeface="Calibri Light" panose="020F0302020204030204" pitchFamily="34" charset="0"/>
              </a:rPr>
              <a:t>thế</a:t>
            </a:r>
            <a:r>
              <a:rPr lang="en-US" sz="5400" b="1" dirty="0">
                <a:solidFill>
                  <a:srgbClr val="7030A0"/>
                </a:solidFill>
                <a:latin typeface="Calibri Light" panose="020F0302020204030204" pitchFamily="34" charset="0"/>
              </a:rPr>
              <a:t> </a:t>
            </a:r>
            <a:r>
              <a:rPr lang="en-US" sz="5400" b="1" dirty="0" err="1">
                <a:solidFill>
                  <a:srgbClr val="7030A0"/>
                </a:solidFill>
                <a:latin typeface="Calibri Light" panose="020F0302020204030204" pitchFamily="34" charset="0"/>
              </a:rPr>
              <a:t>hệ</a:t>
            </a:r>
            <a:r>
              <a:rPr lang="en-US" sz="5400" b="1" dirty="0">
                <a:solidFill>
                  <a:srgbClr val="7030A0"/>
                </a:solidFill>
                <a:latin typeface="Calibri Light" panose="020F0302020204030204" pitchFamily="34" charset="0"/>
              </a:rPr>
              <a:t> </a:t>
            </a:r>
            <a:r>
              <a:rPr lang="en-US" sz="5400" b="1" dirty="0" err="1">
                <a:solidFill>
                  <a:srgbClr val="7030A0"/>
                </a:solidFill>
                <a:latin typeface="Calibri Light" panose="020F0302020204030204" pitchFamily="34" charset="0"/>
              </a:rPr>
              <a:t>mới</a:t>
            </a:r>
            <a:r>
              <a:rPr lang="en-US" sz="5400" b="1" dirty="0">
                <a:solidFill>
                  <a:srgbClr val="7030A0"/>
                </a:solidFill>
                <a:latin typeface="Calibri Light" panose="020F0302020204030204" pitchFamily="34" charset="0"/>
              </a:rPr>
              <a:t> (NGS)</a:t>
            </a:r>
          </a:p>
        </p:txBody>
      </p:sp>
    </p:spTree>
    <p:extLst>
      <p:ext uri="{BB962C8B-B14F-4D97-AF65-F5344CB8AC3E}">
        <p14:creationId xmlns:p14="http://schemas.microsoft.com/office/powerpoint/2010/main" val="31294783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1044F-6B55-F9C9-BF68-51966B313FC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1F3EE46-C52B-68BF-3391-A9EA2D405853}"/>
              </a:ext>
            </a:extLst>
          </p:cNvPr>
          <p:cNvPicPr>
            <a:picLocks noChangeAspect="1"/>
          </p:cNvPicPr>
          <p:nvPr/>
        </p:nvPicPr>
        <p:blipFill>
          <a:blip r:embed="rId2"/>
          <a:stretch>
            <a:fillRect/>
          </a:stretch>
        </p:blipFill>
        <p:spPr>
          <a:xfrm>
            <a:off x="1348426" y="605111"/>
            <a:ext cx="9851571" cy="4916734"/>
          </a:xfrm>
          <a:prstGeom prst="rect">
            <a:avLst/>
          </a:prstGeom>
        </p:spPr>
      </p:pic>
      <p:sp>
        <p:nvSpPr>
          <p:cNvPr id="3" name="Title 1">
            <a:extLst>
              <a:ext uri="{FF2B5EF4-FFF2-40B4-BE49-F238E27FC236}">
                <a16:creationId xmlns:a16="http://schemas.microsoft.com/office/drawing/2014/main" id="{11CE5251-8194-462A-A878-5CBF569F8BAF}"/>
              </a:ext>
            </a:extLst>
          </p:cNvPr>
          <p:cNvSpPr txBox="1">
            <a:spLocks/>
          </p:cNvSpPr>
          <p:nvPr/>
        </p:nvSpPr>
        <p:spPr>
          <a:xfrm>
            <a:off x="987899" y="605111"/>
            <a:ext cx="10398457" cy="520700"/>
          </a:xfrm>
          <a:prstGeom prst="rect">
            <a:avLst/>
          </a:prstGeom>
          <a:solidFill>
            <a:schemeClr val="bg1"/>
          </a:solidFill>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i="0" dirty="0" err="1">
                <a:solidFill>
                  <a:srgbClr val="7030A0"/>
                </a:solidFill>
                <a:effectLst/>
                <a:latin typeface="Calibri Light" panose="020F0302020204030204" pitchFamily="34" charset="0"/>
              </a:rPr>
              <a:t>Các</a:t>
            </a:r>
            <a:r>
              <a:rPr lang="en-US" sz="3200" b="1" i="0" dirty="0">
                <a:solidFill>
                  <a:srgbClr val="7030A0"/>
                </a:solidFill>
                <a:effectLst/>
                <a:latin typeface="Calibri Light" panose="020F0302020204030204" pitchFamily="34" charset="0"/>
              </a:rPr>
              <a:t> </a:t>
            </a:r>
            <a:r>
              <a:rPr lang="en-US" sz="3200" b="1" i="0" dirty="0" err="1">
                <a:solidFill>
                  <a:srgbClr val="7030A0"/>
                </a:solidFill>
                <a:effectLst/>
                <a:latin typeface="Calibri Light" panose="020F0302020204030204" pitchFamily="34" charset="0"/>
              </a:rPr>
              <a:t>bước</a:t>
            </a:r>
            <a:r>
              <a:rPr lang="en-US" sz="3200" b="1" i="0" dirty="0">
                <a:solidFill>
                  <a:srgbClr val="7030A0"/>
                </a:solidFill>
                <a:effectLst/>
                <a:latin typeface="Calibri Light" panose="020F0302020204030204" pitchFamily="34" charset="0"/>
              </a:rPr>
              <a:t> </a:t>
            </a:r>
            <a:r>
              <a:rPr lang="en-US" sz="3200" b="1" i="0" dirty="0" err="1">
                <a:solidFill>
                  <a:srgbClr val="7030A0"/>
                </a:solidFill>
                <a:effectLst/>
                <a:latin typeface="Calibri Light" panose="020F0302020204030204" pitchFamily="34" charset="0"/>
              </a:rPr>
              <a:t>trong</a:t>
            </a:r>
            <a:r>
              <a:rPr lang="en-US" sz="3200" b="1" i="0" dirty="0">
                <a:solidFill>
                  <a:srgbClr val="7030A0"/>
                </a:solidFill>
                <a:effectLst/>
                <a:latin typeface="Calibri Light" panose="020F0302020204030204" pitchFamily="34" charset="0"/>
              </a:rPr>
              <a:t> </a:t>
            </a:r>
            <a:r>
              <a:rPr lang="vi-VN" sz="3200" b="1" i="0" dirty="0">
                <a:solidFill>
                  <a:srgbClr val="7030A0"/>
                </a:solidFill>
                <a:effectLst/>
                <a:latin typeface="Calibri Light" panose="020F0302020204030204" pitchFamily="34" charset="0"/>
              </a:rPr>
              <a:t>XÉT NGHIỆM </a:t>
            </a:r>
            <a:r>
              <a:rPr lang="en-US" sz="3200" b="1" dirty="0">
                <a:solidFill>
                  <a:srgbClr val="7030A0"/>
                </a:solidFill>
                <a:latin typeface="Calibri Light" panose="020F0302020204030204" pitchFamily="34" charset="0"/>
              </a:rPr>
              <a:t>gen </a:t>
            </a:r>
            <a:r>
              <a:rPr lang="en-US" sz="3200" b="1" dirty="0" err="1">
                <a:solidFill>
                  <a:srgbClr val="7030A0"/>
                </a:solidFill>
                <a:latin typeface="Calibri Light" panose="020F0302020204030204" pitchFamily="34" charset="0"/>
              </a:rPr>
              <a:t>bằng</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phương</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pháp</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giải</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trình</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tự</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thế</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hệ</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mới</a:t>
            </a:r>
            <a:r>
              <a:rPr lang="en-US" sz="3200" b="1" dirty="0">
                <a:solidFill>
                  <a:srgbClr val="7030A0"/>
                </a:solidFill>
                <a:latin typeface="Calibri Light" panose="020F0302020204030204" pitchFamily="34" charset="0"/>
              </a:rPr>
              <a:t> (1)</a:t>
            </a:r>
            <a:endParaRPr lang="en-US" sz="3200" b="1" dirty="0">
              <a:solidFill>
                <a:srgbClr val="7030A0"/>
              </a:solidFill>
            </a:endParaRPr>
          </a:p>
        </p:txBody>
      </p:sp>
    </p:spTree>
    <p:extLst>
      <p:ext uri="{BB962C8B-B14F-4D97-AF65-F5344CB8AC3E}">
        <p14:creationId xmlns:p14="http://schemas.microsoft.com/office/powerpoint/2010/main" val="9532011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32435-8A42-304C-DDF8-46E80DE17070}"/>
              </a:ext>
            </a:extLst>
          </p:cNvPr>
          <p:cNvSpPr>
            <a:spLocks noGrp="1"/>
          </p:cNvSpPr>
          <p:nvPr>
            <p:ph type="title"/>
          </p:nvPr>
        </p:nvSpPr>
        <p:spPr>
          <a:xfrm>
            <a:off x="838200" y="365126"/>
            <a:ext cx="10515600" cy="797248"/>
          </a:xfrm>
        </p:spPr>
        <p:txBody>
          <a:bodyPr>
            <a:normAutofit fontScale="90000"/>
          </a:bodyPr>
          <a:lstStyle/>
          <a:p>
            <a:r>
              <a:rPr lang="en-US" b="1" dirty="0"/>
              <a:t>Whole genome sequencing – Shotgun Library Prep</a:t>
            </a:r>
          </a:p>
        </p:txBody>
      </p:sp>
      <p:pic>
        <p:nvPicPr>
          <p:cNvPr id="4" name="Picture 3">
            <a:extLst>
              <a:ext uri="{FF2B5EF4-FFF2-40B4-BE49-F238E27FC236}">
                <a16:creationId xmlns:a16="http://schemas.microsoft.com/office/drawing/2014/main" id="{CD5F0981-B616-5F44-9074-6CCB23213A54}"/>
              </a:ext>
            </a:extLst>
          </p:cNvPr>
          <p:cNvPicPr>
            <a:picLocks noChangeAspect="1"/>
          </p:cNvPicPr>
          <p:nvPr/>
        </p:nvPicPr>
        <p:blipFill>
          <a:blip r:embed="rId2"/>
          <a:stretch>
            <a:fillRect/>
          </a:stretch>
        </p:blipFill>
        <p:spPr>
          <a:xfrm>
            <a:off x="1310373" y="1269490"/>
            <a:ext cx="9571253" cy="5257449"/>
          </a:xfrm>
          <a:prstGeom prst="rect">
            <a:avLst/>
          </a:prstGeom>
        </p:spPr>
      </p:pic>
      <p:sp>
        <p:nvSpPr>
          <p:cNvPr id="3" name="TextBox 2">
            <a:extLst>
              <a:ext uri="{FF2B5EF4-FFF2-40B4-BE49-F238E27FC236}">
                <a16:creationId xmlns:a16="http://schemas.microsoft.com/office/drawing/2014/main" id="{48B9350A-A01F-FBC1-4221-C2233CC6273E}"/>
              </a:ext>
            </a:extLst>
          </p:cNvPr>
          <p:cNvSpPr txBox="1"/>
          <p:nvPr/>
        </p:nvSpPr>
        <p:spPr>
          <a:xfrm>
            <a:off x="838200" y="1450994"/>
            <a:ext cx="2392311" cy="1384995"/>
          </a:xfrm>
          <a:prstGeom prst="rect">
            <a:avLst/>
          </a:prstGeom>
          <a:solidFill>
            <a:schemeClr val="bg1"/>
          </a:solidFill>
        </p:spPr>
        <p:txBody>
          <a:bodyPr wrap="square" rtlCol="0">
            <a:spAutoFit/>
          </a:bodyPr>
          <a:lstStyle/>
          <a:p>
            <a:endParaRPr lang="en-GB" sz="2800" b="1" dirty="0">
              <a:latin typeface="+mj-lt"/>
            </a:endParaRPr>
          </a:p>
          <a:p>
            <a:r>
              <a:rPr lang="en-GB" sz="2800" b="1" dirty="0">
                <a:latin typeface="+mj-lt"/>
              </a:rPr>
              <a:t>Genomics DNA</a:t>
            </a:r>
          </a:p>
          <a:p>
            <a:r>
              <a:rPr lang="en-GB" sz="2800" b="1" dirty="0">
                <a:latin typeface="+mj-lt"/>
              </a:rPr>
              <a:t> </a:t>
            </a:r>
            <a:endParaRPr lang="en-US" sz="2800" b="1" dirty="0">
              <a:latin typeface="+mj-lt"/>
            </a:endParaRPr>
          </a:p>
        </p:txBody>
      </p:sp>
      <p:sp>
        <p:nvSpPr>
          <p:cNvPr id="5" name="TextBox 4">
            <a:extLst>
              <a:ext uri="{FF2B5EF4-FFF2-40B4-BE49-F238E27FC236}">
                <a16:creationId xmlns:a16="http://schemas.microsoft.com/office/drawing/2014/main" id="{D05A90A9-4CA0-7C80-6200-C7045483A0AE}"/>
              </a:ext>
            </a:extLst>
          </p:cNvPr>
          <p:cNvSpPr txBox="1"/>
          <p:nvPr/>
        </p:nvSpPr>
        <p:spPr>
          <a:xfrm>
            <a:off x="3679502" y="1450994"/>
            <a:ext cx="596824" cy="369332"/>
          </a:xfrm>
          <a:prstGeom prst="rect">
            <a:avLst/>
          </a:prstGeom>
          <a:solidFill>
            <a:schemeClr val="bg1"/>
          </a:solidFill>
        </p:spPr>
        <p:txBody>
          <a:bodyPr wrap="square" rtlCol="0">
            <a:spAutoFit/>
          </a:bodyPr>
          <a:lstStyle/>
          <a:p>
            <a:endParaRPr lang="en-US" dirty="0">
              <a:latin typeface="Calibri Light" panose="020F0302020204030204" pitchFamily="34" charset="0"/>
            </a:endParaRPr>
          </a:p>
        </p:txBody>
      </p:sp>
    </p:spTree>
    <p:extLst>
      <p:ext uri="{BB962C8B-B14F-4D97-AF65-F5344CB8AC3E}">
        <p14:creationId xmlns:p14="http://schemas.microsoft.com/office/powerpoint/2010/main" val="26026304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1044F-6B55-F9C9-BF68-51966B313FC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06C2E5A-CE1C-96D8-7F37-D197931FF6D0}"/>
              </a:ext>
            </a:extLst>
          </p:cNvPr>
          <p:cNvPicPr>
            <a:picLocks noChangeAspect="1"/>
          </p:cNvPicPr>
          <p:nvPr/>
        </p:nvPicPr>
        <p:blipFill>
          <a:blip r:embed="rId2"/>
          <a:stretch>
            <a:fillRect/>
          </a:stretch>
        </p:blipFill>
        <p:spPr>
          <a:xfrm>
            <a:off x="112772" y="148973"/>
            <a:ext cx="11957221" cy="6522366"/>
          </a:xfrm>
          <a:prstGeom prst="rect">
            <a:avLst/>
          </a:prstGeom>
        </p:spPr>
      </p:pic>
      <p:sp>
        <p:nvSpPr>
          <p:cNvPr id="3" name="Title 1">
            <a:extLst>
              <a:ext uri="{FF2B5EF4-FFF2-40B4-BE49-F238E27FC236}">
                <a16:creationId xmlns:a16="http://schemas.microsoft.com/office/drawing/2014/main" id="{11CE5251-8194-462A-A878-5CBF569F8BAF}"/>
              </a:ext>
            </a:extLst>
          </p:cNvPr>
          <p:cNvSpPr txBox="1">
            <a:spLocks/>
          </p:cNvSpPr>
          <p:nvPr/>
        </p:nvSpPr>
        <p:spPr>
          <a:xfrm>
            <a:off x="711200" y="235191"/>
            <a:ext cx="10682513" cy="520700"/>
          </a:xfrm>
          <a:prstGeom prst="rect">
            <a:avLst/>
          </a:prstGeom>
          <a:solidFill>
            <a:schemeClr val="bg1"/>
          </a:solidFill>
        </p:spPr>
        <p:txBody>
          <a:bodyPr vert="horz" lIns="91440" tIns="45720" rIns="91440" bIns="45720" rtlCol="0" anchor="b">
            <a:normAutofit fontScale="8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i="0" dirty="0" err="1">
                <a:solidFill>
                  <a:srgbClr val="7030A0"/>
                </a:solidFill>
                <a:effectLst/>
                <a:latin typeface="Calibri Light" panose="020F0302020204030204" pitchFamily="34" charset="0"/>
              </a:rPr>
              <a:t>Các</a:t>
            </a:r>
            <a:r>
              <a:rPr lang="en-US" sz="3200" b="1" i="0" dirty="0">
                <a:solidFill>
                  <a:srgbClr val="7030A0"/>
                </a:solidFill>
                <a:effectLst/>
                <a:latin typeface="Calibri Light" panose="020F0302020204030204" pitchFamily="34" charset="0"/>
              </a:rPr>
              <a:t> </a:t>
            </a:r>
            <a:r>
              <a:rPr lang="en-US" sz="3200" b="1" i="0" dirty="0" err="1">
                <a:solidFill>
                  <a:srgbClr val="7030A0"/>
                </a:solidFill>
                <a:effectLst/>
                <a:latin typeface="Calibri Light" panose="020F0302020204030204" pitchFamily="34" charset="0"/>
              </a:rPr>
              <a:t>bước</a:t>
            </a:r>
            <a:r>
              <a:rPr lang="en-US" sz="3200" b="1" i="0" dirty="0">
                <a:solidFill>
                  <a:srgbClr val="7030A0"/>
                </a:solidFill>
                <a:effectLst/>
                <a:latin typeface="Calibri Light" panose="020F0302020204030204" pitchFamily="34" charset="0"/>
              </a:rPr>
              <a:t> </a:t>
            </a:r>
            <a:r>
              <a:rPr lang="en-US" sz="3200" b="1" i="0" dirty="0" err="1">
                <a:solidFill>
                  <a:srgbClr val="7030A0"/>
                </a:solidFill>
                <a:effectLst/>
                <a:latin typeface="Calibri Light" panose="020F0302020204030204" pitchFamily="34" charset="0"/>
              </a:rPr>
              <a:t>trong</a:t>
            </a:r>
            <a:r>
              <a:rPr lang="en-US" sz="3200" b="1" i="0" dirty="0">
                <a:solidFill>
                  <a:srgbClr val="7030A0"/>
                </a:solidFill>
                <a:effectLst/>
                <a:latin typeface="Calibri Light" panose="020F0302020204030204" pitchFamily="34" charset="0"/>
              </a:rPr>
              <a:t> </a:t>
            </a:r>
            <a:r>
              <a:rPr lang="vi-VN" sz="3200" b="1" i="0" dirty="0">
                <a:solidFill>
                  <a:srgbClr val="7030A0"/>
                </a:solidFill>
                <a:effectLst/>
                <a:latin typeface="Calibri Light" panose="020F0302020204030204" pitchFamily="34" charset="0"/>
              </a:rPr>
              <a:t>XÉT NGHIỆM </a:t>
            </a:r>
            <a:r>
              <a:rPr lang="en-US" sz="3200" b="1" dirty="0">
                <a:solidFill>
                  <a:srgbClr val="7030A0"/>
                </a:solidFill>
                <a:latin typeface="Calibri Light" panose="020F0302020204030204" pitchFamily="34" charset="0"/>
              </a:rPr>
              <a:t>gen </a:t>
            </a:r>
            <a:r>
              <a:rPr lang="en-US" sz="3200" b="1" dirty="0" err="1">
                <a:solidFill>
                  <a:srgbClr val="7030A0"/>
                </a:solidFill>
                <a:latin typeface="Calibri Light" panose="020F0302020204030204" pitchFamily="34" charset="0"/>
              </a:rPr>
              <a:t>bằng</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phương</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pháp</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giải</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trình</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tự</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thế</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hệ</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mới</a:t>
            </a:r>
            <a:r>
              <a:rPr lang="en-US" sz="3200" b="1" dirty="0">
                <a:solidFill>
                  <a:srgbClr val="7030A0"/>
                </a:solidFill>
                <a:latin typeface="Calibri Light" panose="020F0302020204030204" pitchFamily="34" charset="0"/>
              </a:rPr>
              <a:t> (2)</a:t>
            </a:r>
            <a:endParaRPr lang="en-US" sz="3200" b="1" dirty="0">
              <a:solidFill>
                <a:srgbClr val="7030A0"/>
              </a:solidFill>
            </a:endParaRPr>
          </a:p>
        </p:txBody>
      </p:sp>
    </p:spTree>
    <p:extLst>
      <p:ext uri="{BB962C8B-B14F-4D97-AF65-F5344CB8AC3E}">
        <p14:creationId xmlns:p14="http://schemas.microsoft.com/office/powerpoint/2010/main" val="10131594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1044F-6B55-F9C9-BF68-51966B313FC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11CE5251-8194-462A-A878-5CBF569F8BAF}"/>
              </a:ext>
            </a:extLst>
          </p:cNvPr>
          <p:cNvSpPr txBox="1">
            <a:spLocks/>
          </p:cNvSpPr>
          <p:nvPr/>
        </p:nvSpPr>
        <p:spPr>
          <a:xfrm>
            <a:off x="732971" y="336509"/>
            <a:ext cx="10726057" cy="1101627"/>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i="0" dirty="0" err="1">
                <a:solidFill>
                  <a:srgbClr val="7030A0"/>
                </a:solidFill>
                <a:effectLst/>
                <a:latin typeface="Calibri Light" panose="020F0302020204030204" pitchFamily="34" charset="0"/>
              </a:rPr>
              <a:t>Hội</a:t>
            </a:r>
            <a:r>
              <a:rPr lang="en-US" sz="3600" b="1" i="0" dirty="0">
                <a:solidFill>
                  <a:srgbClr val="7030A0"/>
                </a:solidFill>
                <a:effectLst/>
                <a:latin typeface="Calibri Light" panose="020F0302020204030204" pitchFamily="34" charset="0"/>
              </a:rPr>
              <a:t> </a:t>
            </a:r>
            <a:r>
              <a:rPr lang="en-US" sz="3600" b="1" i="0" dirty="0" err="1">
                <a:solidFill>
                  <a:srgbClr val="7030A0"/>
                </a:solidFill>
                <a:effectLst/>
                <a:latin typeface="Calibri Light" panose="020F0302020204030204" pitchFamily="34" charset="0"/>
              </a:rPr>
              <a:t>đồng</a:t>
            </a:r>
            <a:r>
              <a:rPr lang="en-US" sz="3600" b="1" i="0" dirty="0">
                <a:solidFill>
                  <a:srgbClr val="7030A0"/>
                </a:solidFill>
                <a:effectLst/>
                <a:latin typeface="Calibri Light" panose="020F0302020204030204" pitchFamily="34" charset="0"/>
              </a:rPr>
              <a:t> </a:t>
            </a:r>
            <a:r>
              <a:rPr lang="en-US" sz="3600" b="1" i="0" dirty="0" err="1">
                <a:solidFill>
                  <a:srgbClr val="7030A0"/>
                </a:solidFill>
                <a:effectLst/>
                <a:latin typeface="Calibri Light" panose="020F0302020204030204" pitchFamily="34" charset="0"/>
              </a:rPr>
              <a:t>Hệ</a:t>
            </a:r>
            <a:r>
              <a:rPr lang="en-US" sz="3600" b="1" i="0" dirty="0">
                <a:solidFill>
                  <a:srgbClr val="7030A0"/>
                </a:solidFill>
                <a:effectLst/>
                <a:latin typeface="Calibri Light" panose="020F0302020204030204" pitchFamily="34" charset="0"/>
              </a:rPr>
              <a:t> Gen: </a:t>
            </a:r>
            <a:r>
              <a:rPr lang="en-US" sz="3600" b="1" i="0" dirty="0" err="1">
                <a:solidFill>
                  <a:srgbClr val="7030A0"/>
                </a:solidFill>
                <a:effectLst/>
                <a:latin typeface="Calibri Light" panose="020F0302020204030204" pitchFamily="34" charset="0"/>
              </a:rPr>
              <a:t>phiên</a:t>
            </a:r>
            <a:r>
              <a:rPr lang="en-US" sz="3600" b="1" i="0" dirty="0">
                <a:solidFill>
                  <a:srgbClr val="7030A0"/>
                </a:solidFill>
                <a:effectLst/>
                <a:latin typeface="Calibri Light" panose="020F0302020204030204" pitchFamily="34" charset="0"/>
              </a:rPr>
              <a:t> </a:t>
            </a:r>
            <a:r>
              <a:rPr lang="en-US" sz="3600" b="1" i="0" dirty="0" err="1">
                <a:solidFill>
                  <a:srgbClr val="7030A0"/>
                </a:solidFill>
                <a:effectLst/>
                <a:latin typeface="Calibri Light" panose="020F0302020204030204" pitchFamily="34" charset="0"/>
              </a:rPr>
              <a:t>giải</a:t>
            </a:r>
            <a:r>
              <a:rPr lang="en-US" sz="3600" b="1" i="0" dirty="0">
                <a:solidFill>
                  <a:srgbClr val="7030A0"/>
                </a:solidFill>
                <a:effectLst/>
                <a:latin typeface="Calibri Light" panose="020F0302020204030204" pitchFamily="34" charset="0"/>
              </a:rPr>
              <a:t> </a:t>
            </a:r>
            <a:r>
              <a:rPr lang="en-US" sz="3600" b="1" i="0" dirty="0" err="1">
                <a:solidFill>
                  <a:srgbClr val="7030A0"/>
                </a:solidFill>
                <a:effectLst/>
                <a:latin typeface="Calibri Light" panose="020F0302020204030204" pitchFamily="34" charset="0"/>
              </a:rPr>
              <a:t>và</a:t>
            </a:r>
            <a:r>
              <a:rPr lang="en-US" sz="3600" b="1" i="0" dirty="0">
                <a:solidFill>
                  <a:srgbClr val="7030A0"/>
                </a:solidFill>
                <a:effectLst/>
                <a:latin typeface="Calibri Light" panose="020F0302020204030204" pitchFamily="34" charset="0"/>
              </a:rPr>
              <a:t> </a:t>
            </a:r>
            <a:r>
              <a:rPr lang="en-US" sz="3600" b="1" dirty="0" err="1">
                <a:solidFill>
                  <a:srgbClr val="7030A0"/>
                </a:solidFill>
                <a:latin typeface="Calibri Light" panose="020F0302020204030204" pitchFamily="34" charset="0"/>
              </a:rPr>
              <a:t>hội</a:t>
            </a:r>
            <a:r>
              <a:rPr lang="en-US" sz="3600" b="1" dirty="0">
                <a:solidFill>
                  <a:srgbClr val="7030A0"/>
                </a:solidFill>
                <a:latin typeface="Calibri Light" panose="020F0302020204030204" pitchFamily="34" charset="0"/>
              </a:rPr>
              <a:t> </a:t>
            </a:r>
            <a:r>
              <a:rPr lang="en-US" sz="3600" b="1" dirty="0" err="1">
                <a:solidFill>
                  <a:srgbClr val="7030A0"/>
                </a:solidFill>
                <a:latin typeface="Calibri Light" panose="020F0302020204030204" pitchFamily="34" charset="0"/>
              </a:rPr>
              <a:t>chẩn</a:t>
            </a:r>
            <a:r>
              <a:rPr lang="en-US" sz="3600" b="1" dirty="0">
                <a:solidFill>
                  <a:srgbClr val="7030A0"/>
                </a:solidFill>
                <a:latin typeface="Calibri Light" panose="020F0302020204030204" pitchFamily="34" charset="0"/>
              </a:rPr>
              <a:t> </a:t>
            </a:r>
            <a:r>
              <a:rPr lang="en-US" sz="3600" b="1" i="0" dirty="0" err="1">
                <a:solidFill>
                  <a:srgbClr val="7030A0"/>
                </a:solidFill>
                <a:effectLst/>
                <a:latin typeface="Calibri Light" panose="020F0302020204030204" pitchFamily="34" charset="0"/>
              </a:rPr>
              <a:t>những</a:t>
            </a:r>
            <a:r>
              <a:rPr lang="en-US" sz="3600" b="1" i="0" dirty="0">
                <a:solidFill>
                  <a:srgbClr val="7030A0"/>
                </a:solidFill>
                <a:effectLst/>
                <a:latin typeface="Calibri Light" panose="020F0302020204030204" pitchFamily="34" charset="0"/>
              </a:rPr>
              <a:t> </a:t>
            </a:r>
            <a:r>
              <a:rPr lang="en-US" sz="3600" b="1" i="0" dirty="0" err="1">
                <a:solidFill>
                  <a:srgbClr val="7030A0"/>
                </a:solidFill>
                <a:effectLst/>
                <a:latin typeface="Calibri Light" panose="020F0302020204030204" pitchFamily="34" charset="0"/>
              </a:rPr>
              <a:t>biến</a:t>
            </a:r>
            <a:r>
              <a:rPr lang="en-US" sz="3600" b="1" i="0" dirty="0">
                <a:solidFill>
                  <a:srgbClr val="7030A0"/>
                </a:solidFill>
                <a:effectLst/>
                <a:latin typeface="Calibri Light" panose="020F0302020204030204" pitchFamily="34" charset="0"/>
              </a:rPr>
              <a:t> </a:t>
            </a:r>
            <a:r>
              <a:rPr lang="en-US" sz="3600" b="1" i="0" dirty="0" err="1">
                <a:solidFill>
                  <a:srgbClr val="7030A0"/>
                </a:solidFill>
                <a:effectLst/>
                <a:latin typeface="Calibri Light" panose="020F0302020204030204" pitchFamily="34" charset="0"/>
              </a:rPr>
              <a:t>thể</a:t>
            </a:r>
            <a:r>
              <a:rPr lang="en-US" sz="3600" b="1" i="0" dirty="0">
                <a:solidFill>
                  <a:srgbClr val="7030A0"/>
                </a:solidFill>
                <a:effectLst/>
                <a:latin typeface="Calibri Light" panose="020F0302020204030204" pitchFamily="34" charset="0"/>
              </a:rPr>
              <a:t> </a:t>
            </a:r>
          </a:p>
          <a:p>
            <a:r>
              <a:rPr lang="en-US" sz="3600" b="1" i="0" dirty="0" err="1">
                <a:solidFill>
                  <a:srgbClr val="7030A0"/>
                </a:solidFill>
                <a:effectLst/>
                <a:latin typeface="Calibri Light" panose="020F0302020204030204" pitchFamily="34" charset="0"/>
              </a:rPr>
              <a:t>trong</a:t>
            </a:r>
            <a:r>
              <a:rPr lang="en-US" sz="3600" b="1" i="0" dirty="0">
                <a:solidFill>
                  <a:srgbClr val="7030A0"/>
                </a:solidFill>
                <a:effectLst/>
                <a:latin typeface="Calibri Light" panose="020F0302020204030204" pitchFamily="34" charset="0"/>
              </a:rPr>
              <a:t> </a:t>
            </a:r>
            <a:r>
              <a:rPr lang="en-US" sz="3600" b="1" i="0" dirty="0" err="1">
                <a:solidFill>
                  <a:srgbClr val="7030A0"/>
                </a:solidFill>
                <a:effectLst/>
                <a:latin typeface="Calibri Light" panose="020F0302020204030204" pitchFamily="34" charset="0"/>
              </a:rPr>
              <a:t>báo</a:t>
            </a:r>
            <a:r>
              <a:rPr lang="en-US" sz="3600" b="1" i="0" dirty="0">
                <a:solidFill>
                  <a:srgbClr val="7030A0"/>
                </a:solidFill>
                <a:effectLst/>
                <a:latin typeface="Calibri Light" panose="020F0302020204030204" pitchFamily="34" charset="0"/>
              </a:rPr>
              <a:t> </a:t>
            </a:r>
            <a:r>
              <a:rPr lang="en-US" sz="3600" b="1" i="0" dirty="0" err="1">
                <a:solidFill>
                  <a:srgbClr val="7030A0"/>
                </a:solidFill>
                <a:effectLst/>
                <a:latin typeface="Calibri Light" panose="020F0302020204030204" pitchFamily="34" charset="0"/>
              </a:rPr>
              <a:t>cáo</a:t>
            </a:r>
            <a:r>
              <a:rPr lang="en-US" sz="3600" b="1" i="0" dirty="0">
                <a:solidFill>
                  <a:srgbClr val="7030A0"/>
                </a:solidFill>
                <a:effectLst/>
                <a:latin typeface="Calibri Light" panose="020F0302020204030204" pitchFamily="34" charset="0"/>
              </a:rPr>
              <a:t> </a:t>
            </a:r>
            <a:r>
              <a:rPr lang="en-US" sz="3600" b="1" i="0" dirty="0" err="1">
                <a:solidFill>
                  <a:srgbClr val="7030A0"/>
                </a:solidFill>
                <a:effectLst/>
                <a:latin typeface="Calibri Light" panose="020F0302020204030204" pitchFamily="34" charset="0"/>
              </a:rPr>
              <a:t>kết</a:t>
            </a:r>
            <a:r>
              <a:rPr lang="en-US" sz="3600" b="1" i="0" dirty="0">
                <a:solidFill>
                  <a:srgbClr val="7030A0"/>
                </a:solidFill>
                <a:effectLst/>
                <a:latin typeface="Calibri Light" panose="020F0302020204030204" pitchFamily="34" charset="0"/>
              </a:rPr>
              <a:t> </a:t>
            </a:r>
            <a:r>
              <a:rPr lang="en-US" sz="3600" b="1" i="0" dirty="0" err="1">
                <a:solidFill>
                  <a:srgbClr val="7030A0"/>
                </a:solidFill>
                <a:effectLst/>
                <a:latin typeface="Calibri Light" panose="020F0302020204030204" pitchFamily="34" charset="0"/>
              </a:rPr>
              <a:t>quả</a:t>
            </a:r>
            <a:r>
              <a:rPr lang="en-US" sz="3600" b="1" i="0" dirty="0">
                <a:solidFill>
                  <a:srgbClr val="7030A0"/>
                </a:solidFill>
                <a:effectLst/>
                <a:latin typeface="Calibri Light" panose="020F0302020204030204" pitchFamily="34" charset="0"/>
              </a:rPr>
              <a:t> NGS </a:t>
            </a:r>
            <a:endParaRPr lang="en-US" sz="3600" b="1" dirty="0">
              <a:solidFill>
                <a:srgbClr val="7030A0"/>
              </a:solidFill>
            </a:endParaRPr>
          </a:p>
        </p:txBody>
      </p:sp>
      <p:pic>
        <p:nvPicPr>
          <p:cNvPr id="7170" name="Picture 2">
            <a:extLst>
              <a:ext uri="{FF2B5EF4-FFF2-40B4-BE49-F238E27FC236}">
                <a16:creationId xmlns:a16="http://schemas.microsoft.com/office/drawing/2014/main" id="{65A010FA-897E-14B5-7F31-7C6E1EABF6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0752" y="1825342"/>
            <a:ext cx="8287647" cy="377109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07ECB76-6FF6-2241-5357-587B1F2C95E4}"/>
              </a:ext>
            </a:extLst>
          </p:cNvPr>
          <p:cNvSpPr txBox="1"/>
          <p:nvPr/>
        </p:nvSpPr>
        <p:spPr>
          <a:xfrm>
            <a:off x="2024337" y="5749127"/>
            <a:ext cx="7516504" cy="338554"/>
          </a:xfrm>
          <a:prstGeom prst="rect">
            <a:avLst/>
          </a:prstGeom>
          <a:noFill/>
        </p:spPr>
        <p:txBody>
          <a:bodyPr wrap="square">
            <a:spAutoFit/>
          </a:bodyPr>
          <a:lstStyle/>
          <a:p>
            <a:pPr algn="ctr"/>
            <a:r>
              <a:rPr lang="en-US" sz="1600" dirty="0">
                <a:latin typeface="Calibri Light" panose="020F0302020204030204" pitchFamily="34" charset="0"/>
              </a:rPr>
              <a:t>https://ggba.swiss/en/the-first-medical-genomics-center-opens-in-geneva/</a:t>
            </a:r>
          </a:p>
        </p:txBody>
      </p:sp>
    </p:spTree>
    <p:extLst>
      <p:ext uri="{BB962C8B-B14F-4D97-AF65-F5344CB8AC3E}">
        <p14:creationId xmlns:p14="http://schemas.microsoft.com/office/powerpoint/2010/main" val="17699224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415600" y="199898"/>
            <a:ext cx="11360800" cy="763600"/>
          </a:xfrm>
          <a:prstGeom prst="rect">
            <a:avLst/>
          </a:prstGeom>
        </p:spPr>
        <p:txBody>
          <a:bodyPr spcFirstLastPara="1" vert="horz" wrap="square" lIns="121900" tIns="121900" rIns="121900" bIns="121900" rtlCol="0" anchor="t" anchorCtr="0">
            <a:normAutofit fontScale="90000"/>
          </a:bodyPr>
          <a:lstStyle/>
          <a:p>
            <a:pPr algn="ctr"/>
            <a:r>
              <a:rPr lang="en" b="1" dirty="0"/>
              <a:t>DeepVAA introduction</a:t>
            </a:r>
            <a:endParaRPr b="1" dirty="0"/>
          </a:p>
        </p:txBody>
      </p:sp>
      <p:sp>
        <p:nvSpPr>
          <p:cNvPr id="73" name="Google Shape;73;p16"/>
          <p:cNvSpPr txBox="1"/>
          <p:nvPr/>
        </p:nvSpPr>
        <p:spPr>
          <a:xfrm>
            <a:off x="415600" y="1157462"/>
            <a:ext cx="11197600" cy="1354176"/>
          </a:xfrm>
          <a:prstGeom prst="rect">
            <a:avLst/>
          </a:prstGeom>
          <a:noFill/>
          <a:ln>
            <a:noFill/>
          </a:ln>
        </p:spPr>
        <p:txBody>
          <a:bodyPr spcFirstLastPara="1" wrap="square" lIns="121900" tIns="121900" rIns="121900" bIns="121900" anchor="t" anchorCtr="0">
            <a:spAutoFit/>
          </a:bodyPr>
          <a:lstStyle/>
          <a:p>
            <a:r>
              <a:rPr lang="en" sz="2400" b="1" dirty="0">
                <a:solidFill>
                  <a:schemeClr val="dk2"/>
                </a:solidFill>
                <a:latin typeface="Calibri Light" panose="020F0302020204030204" pitchFamily="34" charset="0"/>
              </a:rPr>
              <a:t>Genetic variant annotation</a:t>
            </a:r>
            <a:r>
              <a:rPr lang="en" sz="2400" dirty="0">
                <a:solidFill>
                  <a:schemeClr val="dk2"/>
                </a:solidFill>
                <a:latin typeface="Calibri Light" panose="020F0302020204030204" pitchFamily="34" charset="0"/>
              </a:rPr>
              <a:t> and interpretation are critical tasks in clinical genomics, enabling personalized medicine and improved patient outcomes. However, the complexity and volume of genetic data pose significant challenges for clinicians.</a:t>
            </a:r>
            <a:endParaRPr sz="2400" dirty="0">
              <a:solidFill>
                <a:schemeClr val="dk2"/>
              </a:solidFill>
              <a:latin typeface="Calibri Light" panose="020F0302020204030204" pitchFamily="34" charset="0"/>
            </a:endParaRPr>
          </a:p>
        </p:txBody>
      </p:sp>
      <p:pic>
        <p:nvPicPr>
          <p:cNvPr id="74" name="Google Shape;74;p16"/>
          <p:cNvPicPr preferRelativeResize="0"/>
          <p:nvPr/>
        </p:nvPicPr>
        <p:blipFill>
          <a:blip r:embed="rId3">
            <a:alphaModFix/>
          </a:blip>
          <a:stretch>
            <a:fillRect/>
          </a:stretch>
        </p:blipFill>
        <p:spPr>
          <a:xfrm>
            <a:off x="5185934" y="4160610"/>
            <a:ext cx="1819367" cy="606433"/>
          </a:xfrm>
          <a:prstGeom prst="rect">
            <a:avLst/>
          </a:prstGeom>
          <a:noFill/>
          <a:ln>
            <a:noFill/>
          </a:ln>
        </p:spPr>
      </p:pic>
      <p:cxnSp>
        <p:nvCxnSpPr>
          <p:cNvPr id="75" name="Google Shape;75;p16"/>
          <p:cNvCxnSpPr>
            <a:stCxn id="76" idx="3"/>
            <a:endCxn id="74" idx="1"/>
          </p:cNvCxnSpPr>
          <p:nvPr/>
        </p:nvCxnSpPr>
        <p:spPr>
          <a:xfrm>
            <a:off x="4409933" y="4463825"/>
            <a:ext cx="776000" cy="0"/>
          </a:xfrm>
          <a:prstGeom prst="straightConnector1">
            <a:avLst/>
          </a:prstGeom>
          <a:noFill/>
          <a:ln w="19050" cap="flat" cmpd="sng">
            <a:solidFill>
              <a:schemeClr val="dk2"/>
            </a:solidFill>
            <a:prstDash val="solid"/>
            <a:round/>
            <a:headEnd type="none" w="med" len="med"/>
            <a:tailEnd type="triangle" w="med" len="med"/>
          </a:ln>
        </p:spPr>
      </p:cxnSp>
      <p:pic>
        <p:nvPicPr>
          <p:cNvPr id="77" name="Google Shape;77;p16"/>
          <p:cNvPicPr preferRelativeResize="0"/>
          <p:nvPr/>
        </p:nvPicPr>
        <p:blipFill>
          <a:blip r:embed="rId4">
            <a:alphaModFix/>
          </a:blip>
          <a:stretch>
            <a:fillRect/>
          </a:stretch>
        </p:blipFill>
        <p:spPr>
          <a:xfrm>
            <a:off x="7936134" y="2773001"/>
            <a:ext cx="4022735" cy="3381635"/>
          </a:xfrm>
          <a:prstGeom prst="rect">
            <a:avLst/>
          </a:prstGeom>
          <a:noFill/>
          <a:ln>
            <a:noFill/>
          </a:ln>
        </p:spPr>
      </p:pic>
      <p:cxnSp>
        <p:nvCxnSpPr>
          <p:cNvPr id="78" name="Google Shape;78;p16"/>
          <p:cNvCxnSpPr>
            <a:stCxn id="74" idx="3"/>
            <a:endCxn id="77" idx="1"/>
          </p:cNvCxnSpPr>
          <p:nvPr/>
        </p:nvCxnSpPr>
        <p:spPr>
          <a:xfrm>
            <a:off x="7005300" y="4463825"/>
            <a:ext cx="930800" cy="0"/>
          </a:xfrm>
          <a:prstGeom prst="straightConnector1">
            <a:avLst/>
          </a:prstGeom>
          <a:noFill/>
          <a:ln w="19050" cap="flat" cmpd="sng">
            <a:solidFill>
              <a:schemeClr val="dk2"/>
            </a:solidFill>
            <a:prstDash val="solid"/>
            <a:round/>
            <a:headEnd type="none" w="med" len="med"/>
            <a:tailEnd type="triangle" w="med" len="med"/>
          </a:ln>
        </p:spPr>
      </p:cxnSp>
      <p:sp>
        <p:nvSpPr>
          <p:cNvPr id="79" name="Google Shape;79;p16"/>
          <p:cNvSpPr txBox="1"/>
          <p:nvPr/>
        </p:nvSpPr>
        <p:spPr>
          <a:xfrm>
            <a:off x="8904433" y="6154633"/>
            <a:ext cx="2615200" cy="451302"/>
          </a:xfrm>
          <a:prstGeom prst="rect">
            <a:avLst/>
          </a:prstGeom>
          <a:noFill/>
          <a:ln>
            <a:noFill/>
          </a:ln>
        </p:spPr>
        <p:txBody>
          <a:bodyPr spcFirstLastPara="1" wrap="square" lIns="121900" tIns="121900" rIns="121900" bIns="121900" anchor="t" anchorCtr="0">
            <a:spAutoFit/>
          </a:bodyPr>
          <a:lstStyle/>
          <a:p>
            <a:r>
              <a:rPr lang="en" sz="1333" dirty="0">
                <a:solidFill>
                  <a:schemeClr val="dk1"/>
                </a:solidFill>
                <a:latin typeface="Calibri Light" panose="020F0302020204030204" pitchFamily="34" charset="0"/>
              </a:rPr>
              <a:t>Source: ClinVar (</a:t>
            </a:r>
            <a:r>
              <a:rPr lang="en" sz="1333" u="sng" dirty="0">
                <a:solidFill>
                  <a:schemeClr val="accent5"/>
                </a:solidFill>
                <a:latin typeface="Calibri Light" panose="020F0302020204030204" pitchFamily="34" charset="0"/>
                <a:hlinkClick r:id="rId5">
                  <a:extLst>
                    <a:ext uri="{A12FA001-AC4F-418D-AE19-62706E023703}">
                      <ahyp:hlinkClr xmlns:ahyp="http://schemas.microsoft.com/office/drawing/2018/hyperlinkcolor" val="tx"/>
                    </a:ext>
                  </a:extLst>
                </a:hlinkClick>
              </a:rPr>
              <a:t>rs746753722</a:t>
            </a:r>
            <a:r>
              <a:rPr lang="en" sz="1333" dirty="0">
                <a:solidFill>
                  <a:schemeClr val="dk1"/>
                </a:solidFill>
                <a:latin typeface="Calibri Light" panose="020F0302020204030204" pitchFamily="34" charset="0"/>
              </a:rPr>
              <a:t>)</a:t>
            </a:r>
            <a:endParaRPr sz="1333" dirty="0">
              <a:solidFill>
                <a:schemeClr val="dk2"/>
              </a:solidFill>
              <a:latin typeface="Calibri Light" panose="020F0302020204030204" pitchFamily="34" charset="0"/>
            </a:endParaRPr>
          </a:p>
        </p:txBody>
      </p:sp>
      <p:pic>
        <p:nvPicPr>
          <p:cNvPr id="80" name="Google Shape;80;p16"/>
          <p:cNvPicPr preferRelativeResize="0"/>
          <p:nvPr/>
        </p:nvPicPr>
        <p:blipFill>
          <a:blip r:embed="rId6">
            <a:alphaModFix/>
          </a:blip>
          <a:stretch>
            <a:fillRect/>
          </a:stretch>
        </p:blipFill>
        <p:spPr>
          <a:xfrm>
            <a:off x="809467" y="2635684"/>
            <a:ext cx="3445680" cy="381590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85" name="Google Shape;85;p17"/>
          <p:cNvPicPr preferRelativeResize="0"/>
          <p:nvPr/>
        </p:nvPicPr>
        <p:blipFill>
          <a:blip r:embed="rId3">
            <a:alphaModFix/>
          </a:blip>
          <a:stretch>
            <a:fillRect/>
          </a:stretch>
        </p:blipFill>
        <p:spPr>
          <a:xfrm>
            <a:off x="203201" y="203201"/>
            <a:ext cx="7932297" cy="6451601"/>
          </a:xfrm>
          <a:prstGeom prst="rect">
            <a:avLst/>
          </a:prstGeom>
          <a:noFill/>
          <a:ln>
            <a:noFill/>
          </a:ln>
        </p:spPr>
      </p:pic>
      <p:sp>
        <p:nvSpPr>
          <p:cNvPr id="86" name="Google Shape;86;p17"/>
          <p:cNvSpPr txBox="1"/>
          <p:nvPr/>
        </p:nvSpPr>
        <p:spPr>
          <a:xfrm>
            <a:off x="8378651" y="6189167"/>
            <a:ext cx="3863200" cy="574604"/>
          </a:xfrm>
          <a:prstGeom prst="rect">
            <a:avLst/>
          </a:prstGeom>
          <a:noFill/>
          <a:ln>
            <a:noFill/>
          </a:ln>
        </p:spPr>
        <p:txBody>
          <a:bodyPr spcFirstLastPara="1" wrap="square" lIns="121900" tIns="121900" rIns="121900" bIns="121900" anchor="t" anchorCtr="0">
            <a:spAutoFit/>
          </a:bodyPr>
          <a:lstStyle/>
          <a:p>
            <a:r>
              <a:rPr lang="en" sz="1067" dirty="0">
                <a:solidFill>
                  <a:schemeClr val="dk2"/>
                </a:solidFill>
                <a:latin typeface="Calibri Light" panose="020F0302020204030204" pitchFamily="34" charset="0"/>
              </a:rPr>
              <a:t>What are the ACMG Standards and Guidelines and how do they work? (</a:t>
            </a:r>
            <a:r>
              <a:rPr lang="en" sz="1067" u="sng" dirty="0">
                <a:solidFill>
                  <a:schemeClr val="hlink"/>
                </a:solidFill>
                <a:latin typeface="Calibri Light" panose="020F0302020204030204" pitchFamily="34" charset="0"/>
                <a:hlinkClick r:id="rId4"/>
              </a:rPr>
              <a:t>link</a:t>
            </a:r>
            <a:r>
              <a:rPr lang="en" sz="1067" dirty="0">
                <a:solidFill>
                  <a:schemeClr val="dk2"/>
                </a:solidFill>
                <a:latin typeface="Calibri Light" panose="020F0302020204030204" pitchFamily="34" charset="0"/>
              </a:rPr>
              <a:t>)</a:t>
            </a:r>
            <a:endParaRPr sz="1067" dirty="0">
              <a:solidFill>
                <a:schemeClr val="dk2"/>
              </a:solidFill>
              <a:latin typeface="Calibri Light" panose="020F0302020204030204" pitchFamily="34" charset="0"/>
            </a:endParaRPr>
          </a:p>
        </p:txBody>
      </p:sp>
      <p:sp>
        <p:nvSpPr>
          <p:cNvPr id="87" name="Google Shape;87;p17"/>
          <p:cNvSpPr txBox="1">
            <a:spLocks noGrp="1"/>
          </p:cNvSpPr>
          <p:nvPr>
            <p:ph type="title"/>
          </p:nvPr>
        </p:nvSpPr>
        <p:spPr>
          <a:xfrm>
            <a:off x="8433400" y="203201"/>
            <a:ext cx="3687200" cy="763600"/>
          </a:xfrm>
          <a:prstGeom prst="rect">
            <a:avLst/>
          </a:prstGeom>
        </p:spPr>
        <p:txBody>
          <a:bodyPr spcFirstLastPara="1" vert="horz" wrap="square" lIns="121900" tIns="121900" rIns="121900" bIns="121900" rtlCol="0" anchor="t" anchorCtr="0">
            <a:noAutofit/>
          </a:bodyPr>
          <a:lstStyle/>
          <a:p>
            <a:r>
              <a:rPr lang="en" sz="3600" dirty="0"/>
              <a:t>ACMG Guidelines</a:t>
            </a:r>
            <a:endParaRPr sz="3600" dirty="0"/>
          </a:p>
        </p:txBody>
      </p:sp>
      <p:sp>
        <p:nvSpPr>
          <p:cNvPr id="88" name="Google Shape;88;p17"/>
          <p:cNvSpPr txBox="1">
            <a:spLocks noGrp="1"/>
          </p:cNvSpPr>
          <p:nvPr>
            <p:ph type="body" idx="1"/>
          </p:nvPr>
        </p:nvSpPr>
        <p:spPr>
          <a:xfrm>
            <a:off x="8345400" y="1406833"/>
            <a:ext cx="3623600" cy="4555200"/>
          </a:xfrm>
          <a:prstGeom prst="rect">
            <a:avLst/>
          </a:prstGeom>
        </p:spPr>
        <p:txBody>
          <a:bodyPr spcFirstLastPara="1" vert="horz" wrap="square" lIns="121900" tIns="121900" rIns="121900" bIns="121900" rtlCol="0" anchor="t" anchorCtr="0">
            <a:normAutofit/>
          </a:bodyPr>
          <a:lstStyle/>
          <a:p>
            <a:pPr marL="0" indent="0" algn="just">
              <a:spcAft>
                <a:spcPts val="1600"/>
              </a:spcAft>
              <a:buNone/>
            </a:pPr>
            <a:r>
              <a:rPr lang="en" sz="1600" dirty="0"/>
              <a:t>There are </a:t>
            </a:r>
            <a:r>
              <a:rPr lang="en" sz="1600" b="1" dirty="0"/>
              <a:t>28 criteria</a:t>
            </a:r>
            <a:r>
              <a:rPr lang="en" sz="1600" dirty="0"/>
              <a:t> in the ACMG guidelines. During variant interpretation, variants are classified into </a:t>
            </a:r>
            <a:r>
              <a:rPr lang="en" sz="1600" b="1" dirty="0"/>
              <a:t>five tiers:</a:t>
            </a:r>
            <a:r>
              <a:rPr lang="en" sz="1600" dirty="0"/>
              <a:t> Pathogenic (P), Likely pathogenic (LP), Uncertain significance (VUS), Likely benign (LB), and Benign (B), depending on the applied criteria. 28 criteria can be </a:t>
            </a:r>
            <a:r>
              <a:rPr lang="en" sz="1600" b="1" dirty="0"/>
              <a:t>classified by the weight and type of evidence</a:t>
            </a:r>
            <a:r>
              <a:rPr lang="en" sz="1600" dirty="0"/>
              <a:t> indicated by each criterion.</a:t>
            </a:r>
            <a:endParaRPr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pPr algn="ctr"/>
            <a:r>
              <a:rPr lang="en" b="1" dirty="0"/>
              <a:t>ACMG/AMP - compatible point system</a:t>
            </a:r>
            <a:endParaRPr b="1" dirty="0"/>
          </a:p>
        </p:txBody>
      </p:sp>
      <p:sp>
        <p:nvSpPr>
          <p:cNvPr id="94" name="Google Shape;94;p18"/>
          <p:cNvSpPr txBox="1"/>
          <p:nvPr/>
        </p:nvSpPr>
        <p:spPr>
          <a:xfrm>
            <a:off x="2071200" y="5052004"/>
            <a:ext cx="8049600" cy="451302"/>
          </a:xfrm>
          <a:prstGeom prst="rect">
            <a:avLst/>
          </a:prstGeom>
          <a:noFill/>
          <a:ln>
            <a:noFill/>
          </a:ln>
        </p:spPr>
        <p:txBody>
          <a:bodyPr spcFirstLastPara="1" wrap="square" lIns="121900" tIns="121900" rIns="121900" bIns="121900" anchor="t" anchorCtr="0">
            <a:spAutoFit/>
          </a:bodyPr>
          <a:lstStyle/>
          <a:p>
            <a:r>
              <a:rPr lang="en" sz="1333" dirty="0">
                <a:solidFill>
                  <a:schemeClr val="dk2"/>
                </a:solidFill>
                <a:latin typeface="Calibri Light" panose="020F0302020204030204" pitchFamily="34" charset="0"/>
              </a:rPr>
              <a:t>Source: Fitting a naturally scaled point system to the ACMG/AMP variant classification guidelines (</a:t>
            </a:r>
            <a:r>
              <a:rPr lang="en" sz="1333" u="sng" dirty="0">
                <a:solidFill>
                  <a:schemeClr val="hlink"/>
                </a:solidFill>
                <a:latin typeface="Calibri Light" panose="020F0302020204030204" pitchFamily="34" charset="0"/>
                <a:hlinkClick r:id="rId3"/>
              </a:rPr>
              <a:t>link</a:t>
            </a:r>
            <a:r>
              <a:rPr lang="en" sz="1333" dirty="0">
                <a:solidFill>
                  <a:schemeClr val="dk2"/>
                </a:solidFill>
                <a:latin typeface="Calibri Light" panose="020F0302020204030204" pitchFamily="34" charset="0"/>
              </a:rPr>
              <a:t>)</a:t>
            </a:r>
            <a:endParaRPr sz="1333" dirty="0">
              <a:solidFill>
                <a:schemeClr val="dk2"/>
              </a:solidFill>
              <a:latin typeface="Calibri Light" panose="020F0302020204030204" pitchFamily="34" charset="0"/>
            </a:endParaRPr>
          </a:p>
        </p:txBody>
      </p:sp>
      <p:pic>
        <p:nvPicPr>
          <p:cNvPr id="95" name="Google Shape;95;p18"/>
          <p:cNvPicPr preferRelativeResize="0"/>
          <p:nvPr/>
        </p:nvPicPr>
        <p:blipFill>
          <a:blip r:embed="rId4">
            <a:alphaModFix/>
          </a:blip>
          <a:stretch>
            <a:fillRect/>
          </a:stretch>
        </p:blipFill>
        <p:spPr>
          <a:xfrm>
            <a:off x="1215135" y="2595439"/>
            <a:ext cx="9761731" cy="2092467"/>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7B11-EDF8-785C-500A-E4B9D5F258FD}"/>
              </a:ext>
            </a:extLst>
          </p:cNvPr>
          <p:cNvSpPr>
            <a:spLocks noGrp="1"/>
          </p:cNvSpPr>
          <p:nvPr>
            <p:ph type="title"/>
          </p:nvPr>
        </p:nvSpPr>
        <p:spPr>
          <a:xfrm>
            <a:off x="688571" y="1418071"/>
            <a:ext cx="10515600" cy="1325563"/>
          </a:xfrm>
        </p:spPr>
        <p:txBody>
          <a:bodyPr>
            <a:normAutofit/>
          </a:bodyPr>
          <a:lstStyle/>
          <a:p>
            <a:pPr algn="ctr"/>
            <a:r>
              <a:rPr lang="en-GB" sz="6600" b="1" dirty="0"/>
              <a:t>Thank you!</a:t>
            </a:r>
            <a:endParaRPr lang="en-US" sz="6600" b="1" dirty="0"/>
          </a:p>
        </p:txBody>
      </p:sp>
      <p:sp>
        <p:nvSpPr>
          <p:cNvPr id="3" name="Subtitle 2">
            <a:extLst>
              <a:ext uri="{FF2B5EF4-FFF2-40B4-BE49-F238E27FC236}">
                <a16:creationId xmlns:a16="http://schemas.microsoft.com/office/drawing/2014/main" id="{0D2A66CC-8FE5-A718-571C-7969F0C920BA}"/>
              </a:ext>
            </a:extLst>
          </p:cNvPr>
          <p:cNvSpPr txBox="1">
            <a:spLocks/>
          </p:cNvSpPr>
          <p:nvPr/>
        </p:nvSpPr>
        <p:spPr>
          <a:xfrm>
            <a:off x="1454213" y="4058949"/>
            <a:ext cx="8825658" cy="15244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latin typeface="Calibri Light" panose="020F0302020204030204" pitchFamily="34" charset="0"/>
              </a:rPr>
              <a:t>Luu Phuc Loi, PhD</a:t>
            </a:r>
          </a:p>
          <a:p>
            <a:pPr marL="0" indent="0" algn="ctr">
              <a:buNone/>
            </a:pPr>
            <a:r>
              <a:rPr lang="en-US" dirty="0" err="1">
                <a:latin typeface="Calibri Light" panose="020F0302020204030204" pitchFamily="34" charset="0"/>
              </a:rPr>
              <a:t>Zalo</a:t>
            </a:r>
            <a:r>
              <a:rPr lang="en-US" dirty="0">
                <a:latin typeface="Calibri Light" panose="020F0302020204030204" pitchFamily="34" charset="0"/>
              </a:rPr>
              <a:t>: 0901802182</a:t>
            </a:r>
          </a:p>
          <a:p>
            <a:pPr marL="0" indent="0" algn="ctr">
              <a:buNone/>
            </a:pPr>
            <a:r>
              <a:rPr lang="en-US" dirty="0">
                <a:latin typeface="Calibri Light" panose="020F0302020204030204" pitchFamily="34" charset="0"/>
              </a:rPr>
              <a:t>luu.p.loi@googlemail.com</a:t>
            </a:r>
          </a:p>
        </p:txBody>
      </p:sp>
    </p:spTree>
    <p:extLst>
      <p:ext uri="{BB962C8B-B14F-4D97-AF65-F5344CB8AC3E}">
        <p14:creationId xmlns:p14="http://schemas.microsoft.com/office/powerpoint/2010/main" val="615635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TotalTime>
  <Words>1181</Words>
  <Application>Microsoft Office PowerPoint</Application>
  <PresentationFormat>Widescreen</PresentationFormat>
  <Paragraphs>183</Paragraphs>
  <Slides>42</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 Light</vt:lpstr>
      <vt:lpstr>Office Theme</vt:lpstr>
      <vt:lpstr>K34: Biomedical Data Analysis</vt:lpstr>
      <vt:lpstr>Content</vt:lpstr>
      <vt:lpstr>Feature Selection</vt:lpstr>
      <vt:lpstr>Review 6 lectures: Feature Visualization</vt:lpstr>
      <vt:lpstr>Feature Visualization</vt:lpstr>
      <vt:lpstr>Automation with Chatbox/Agent</vt:lpstr>
      <vt:lpstr>Project 1: </vt:lpstr>
      <vt:lpstr>Mô phỏng  Gắn máy đa ký khi ngủ</vt:lpstr>
      <vt:lpstr>Thiết bị mô phỏng</vt:lpstr>
      <vt:lpstr>PowerPoint Presentation</vt:lpstr>
      <vt:lpstr>Cảm biến và tín hiệu</vt:lpstr>
      <vt:lpstr>Xác định sự kiện</vt:lpstr>
      <vt:lpstr>Thứ tự gắn</vt:lpstr>
      <vt:lpstr>Application of machine learning to predict HCV treatment</vt:lpstr>
      <vt:lpstr>PowerPoint Presentation</vt:lpstr>
      <vt:lpstr>PowerPoint Presentation</vt:lpstr>
      <vt:lpstr>PowerPoint Presentation</vt:lpstr>
      <vt:lpstr>PowerPoint Presentation</vt:lpstr>
      <vt:lpstr>PowerPoint Presentation</vt:lpstr>
      <vt:lpstr>PowerPoint Presentation</vt:lpstr>
      <vt:lpstr>Project 3</vt:lpstr>
      <vt:lpstr>Project 3: collect more data </vt:lpstr>
      <vt:lpstr>Project 3: Objectives</vt:lpstr>
      <vt:lpstr>Project 3: Objectives</vt:lpstr>
      <vt:lpstr>Project 3: Objectives</vt:lpstr>
      <vt:lpstr>Project 3: Objectives</vt:lpstr>
      <vt:lpstr>Project 4: App sàng lọc ung thư vú và học sâu sử dụng nhũ ảnh</vt:lpstr>
      <vt:lpstr>Project 4: App sàng lọc ung thư vú và học sâu sử dụng nhũ ảnh</vt:lpstr>
      <vt:lpstr>Project 5: App sàng lọc nguy cơ ung thư vú</vt:lpstr>
      <vt:lpstr>Deepseek Variant Automating Annotation (DeepVAA)</vt:lpstr>
      <vt:lpstr>Background and Expertise</vt:lpstr>
      <vt:lpstr>Research Interests</vt:lpstr>
      <vt:lpstr>Mối liên kết: Biến thể gen và bệnh di truyền</vt:lpstr>
      <vt:lpstr>PowerPoint Presentation</vt:lpstr>
      <vt:lpstr>PowerPoint Presentation</vt:lpstr>
      <vt:lpstr>Whole genome sequencing – Shotgun Library Prep</vt:lpstr>
      <vt:lpstr>PowerPoint Presentation</vt:lpstr>
      <vt:lpstr>PowerPoint Presentation</vt:lpstr>
      <vt:lpstr>DeepVAA introduction</vt:lpstr>
      <vt:lpstr>ACMG Guidelines</vt:lpstr>
      <vt:lpstr>ACMG/AMP - compatible point system</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Biomedical Data Science Review and Master Projects</dc:title>
  <dc:creator>Luu Loi</dc:creator>
  <cp:lastModifiedBy>Luu Loi</cp:lastModifiedBy>
  <cp:revision>81</cp:revision>
  <dcterms:created xsi:type="dcterms:W3CDTF">2025-01-08T10:43:31Z</dcterms:created>
  <dcterms:modified xsi:type="dcterms:W3CDTF">2025-12-02T09:10:01Z</dcterms:modified>
</cp:coreProperties>
</file>