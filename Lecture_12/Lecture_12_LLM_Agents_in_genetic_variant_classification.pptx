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52"/>
  </p:notesMasterIdLst>
  <p:sldIdLst>
    <p:sldId id="256" r:id="rId3"/>
    <p:sldId id="257" r:id="rId4"/>
    <p:sldId id="258" r:id="rId5"/>
    <p:sldId id="259" r:id="rId6"/>
    <p:sldId id="292" r:id="rId7"/>
    <p:sldId id="293" r:id="rId8"/>
    <p:sldId id="294" r:id="rId9"/>
    <p:sldId id="4685" r:id="rId10"/>
    <p:sldId id="4688" r:id="rId11"/>
    <p:sldId id="4694" r:id="rId12"/>
    <p:sldId id="4689" r:id="rId13"/>
    <p:sldId id="4691" r:id="rId14"/>
    <p:sldId id="4690" r:id="rId15"/>
    <p:sldId id="4693" r:id="rId16"/>
    <p:sldId id="4692" r:id="rId17"/>
    <p:sldId id="4686" r:id="rId18"/>
    <p:sldId id="4687" r:id="rId19"/>
    <p:sldId id="291" r:id="rId20"/>
    <p:sldId id="260" r:id="rId21"/>
    <p:sldId id="263" r:id="rId22"/>
    <p:sldId id="4695" r:id="rId23"/>
    <p:sldId id="4696" r:id="rId24"/>
    <p:sldId id="265" r:id="rId25"/>
    <p:sldId id="269" r:id="rId26"/>
    <p:sldId id="270" r:id="rId27"/>
    <p:sldId id="271" r:id="rId28"/>
    <p:sldId id="266" r:id="rId29"/>
    <p:sldId id="267" r:id="rId30"/>
    <p:sldId id="268" r:id="rId31"/>
    <p:sldId id="272" r:id="rId32"/>
    <p:sldId id="274" r:id="rId33"/>
    <p:sldId id="273" r:id="rId34"/>
    <p:sldId id="276" r:id="rId35"/>
    <p:sldId id="277" r:id="rId36"/>
    <p:sldId id="264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4697" r:id="rId51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53"/>
      <p:italic r:id="rId54"/>
    </p:embeddedFont>
    <p:embeddedFont>
      <p:font typeface="Roboto" panose="02000000000000000000" pitchFamily="2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E52154-9F5E-421E-930D-8C454976E81E}">
  <a:tblStyle styleId="{4FE52154-9F5E-421E-930D-8C454976E8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702"/>
  </p:normalViewPr>
  <p:slideViewPr>
    <p:cSldViewPr snapToGrid="0">
      <p:cViewPr varScale="1">
        <p:scale>
          <a:sx n="116" d="100"/>
          <a:sy n="116" d="100"/>
        </p:scale>
        <p:origin x="147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font" Target="fonts/font3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clinvar/variation/598744/?oq=NM_014738.6(TMEM94):c.765-1G%3EC&amp;m=NM_014738.6(TMEM94):c.765-1G%3EC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nomad.broadinstitute.org/variant/17-75489265-G-C?dataset=gnomad_r4" TargetMode="Externa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4c85865f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4c85865f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44f95ae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44f95ae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44f95aeb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44f95aeb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44f95aeb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44f95aeb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648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b1f40d878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b1f40d878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597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44f95aeb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44f95aeb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64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b1f40d8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b1f40d8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b1f40d87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b1f40d87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47a3821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47a3821a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911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b1f40d878_0_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b1f40d878_0_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b1f40d878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b1f40d878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b1f40d878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b1f40d878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b1f40d878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b1f40d878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043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b1f40d87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b1f40d87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"variant_name": "NM_014738.6(TMEM94):c.765-1G&gt;C",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ClinVar: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https://www.ncbi.nlm.nih.gov/clinvar/variation/598744/?oq=NM_014738.6(TMEM94):c.765-1G%3EC&amp;m=NM_014738.6(TMEM94):c.765-1G%3EC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gnomAD: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https://gnomad.broadinstitute.org/variant/17-75489265-G-C?dataset=gnomad_r4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992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b1f40d878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b1f40d878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49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47a3821a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47a3821a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7d5e0da5d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7d5e0da5d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b1f40d878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7b1f40d878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7d5e0da5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77d5e0da5d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7d5e0da5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7d5e0da5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44f95aeb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44f95aeb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9813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7d5e0da5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77d5e0da5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b1f40d878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b1f40d878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b1f40d878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7b1f40d878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b1f40d878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b1f40d878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b1f40d878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b1f40d878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b1f40d878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b1f40d878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b1f40d878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b1f40d878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47a3821a6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747a3821a6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b1f40d878_0_6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b1f40d878_0_6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44f95aeb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44f95aeb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b1f40d87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7b1f40d87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b1f40d87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7b1f40d87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44f95aeb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44f95aeb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744f95aeb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744f95aeb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35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796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3billion.io/blog/what-are-the-acmg-standards-and-guidelines-and-how-do-they-work" TargetMode="External"/><Relationship Id="rId4" Type="http://schemas.openxmlformats.org/officeDocument/2006/relationships/hyperlink" Target="https://doi.org/10.1038/gim.2015.3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hdgene.victorchang.edu.au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www.ahajournals.org/doi/10.1161/CIRCGEN.121.003539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hyperlink" Target="https://varsome.com/variant/hg19/rs135201037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48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hyperlink" Target="https://www.ncbi.nlm.nih.gov/clinvar/variation/136253/?oq=%22NM_014049.5(ACAD9):c.976G%3EA%20(p.Ala326Thr)%22%5BVARNAME%5D&amp;m=NM_014049.5(ACAD9):c.976G%3EA%20(p.Ala326Thr)%3Fterm=NM_014049.5(ACAD9):c.976G%3EA%20(p.Ala326Thr)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ctrTitle"/>
          </p:nvPr>
        </p:nvSpPr>
        <p:spPr>
          <a:xfrm>
            <a:off x="311700" y="1211025"/>
            <a:ext cx="8520600" cy="11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34375"/>
              <a:buNone/>
            </a:pPr>
            <a:r>
              <a:rPr lang="en-US" sz="2880" b="1" dirty="0">
                <a:solidFill>
                  <a:srgbClr val="3C78D8"/>
                </a:solidFill>
              </a:rPr>
              <a:t>Large Language Model in genetic variant classification</a:t>
            </a:r>
            <a:endParaRPr sz="2880" b="1" dirty="0">
              <a:solidFill>
                <a:srgbClr val="3C78D8"/>
              </a:solidFill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1"/>
          </p:nvPr>
        </p:nvSpPr>
        <p:spPr>
          <a:xfrm>
            <a:off x="311700" y="23159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A Focus on Congenital Heart Disease</a:t>
            </a:r>
            <a:endParaRPr sz="2500" b="1"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251" y="69150"/>
            <a:ext cx="878051" cy="87805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305350" y="3539408"/>
            <a:ext cx="7438218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November 29 2025</a:t>
            </a:r>
            <a:endParaRPr sz="1600" b="1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Xuan-Hong Ong, Master</a:t>
            </a:r>
            <a:br>
              <a:rPr lang="en" sz="1600" dirty="0"/>
            </a:br>
            <a:r>
              <a:rPr lang="en" sz="1600" dirty="0">
                <a:solidFill>
                  <a:srgbClr val="080809"/>
                </a:solidFill>
                <a:highlight>
                  <a:srgbClr val="FFFFFF"/>
                </a:highlight>
              </a:rPr>
              <a:t>Institute for Applied Research in Health Sciences and Aging (</a:t>
            </a:r>
            <a:r>
              <a:rPr lang="en" sz="1600" dirty="0" err="1">
                <a:solidFill>
                  <a:srgbClr val="080809"/>
                </a:solidFill>
                <a:highlight>
                  <a:srgbClr val="FFFFFF"/>
                </a:highlight>
              </a:rPr>
              <a:t>ARiHA</a:t>
            </a:r>
            <a:r>
              <a:rPr lang="en" sz="1600" dirty="0">
                <a:solidFill>
                  <a:srgbClr val="080809"/>
                </a:solidFill>
                <a:highlight>
                  <a:srgbClr val="FFFFFF"/>
                </a:highlight>
              </a:rPr>
              <a:t>)</a:t>
            </a:r>
            <a:endParaRPr sz="1600" dirty="0">
              <a:solidFill>
                <a:srgbClr val="080809"/>
              </a:solidFill>
              <a:highlight>
                <a:srgbClr val="FFFFFF"/>
              </a:highlight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80809"/>
                </a:solidFill>
                <a:highlight>
                  <a:srgbClr val="FFFFFF"/>
                </a:highlight>
              </a:rPr>
              <a:t>Thong Nhat Hospital</a:t>
            </a:r>
            <a:endParaRPr sz="1600" dirty="0">
              <a:solidFill>
                <a:srgbClr val="080809"/>
              </a:solidFill>
              <a:highlight>
                <a:srgbClr val="FFFFFF"/>
              </a:highlight>
            </a:endParaRPr>
          </a:p>
        </p:txBody>
      </p:sp>
      <p:pic>
        <p:nvPicPr>
          <p:cNvPr id="60" name="Google Shape;6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6475" y="77975"/>
            <a:ext cx="878050" cy="87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0;p16">
            <a:extLst>
              <a:ext uri="{FF2B5EF4-FFF2-40B4-BE49-F238E27FC236}">
                <a16:creationId xmlns:a16="http://schemas.microsoft.com/office/drawing/2014/main" id="{A77CBAAD-CCB3-06E2-719E-747E53E076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7500" r="16166" b="48902"/>
          <a:stretch/>
        </p:blipFill>
        <p:spPr>
          <a:xfrm>
            <a:off x="6923903" y="2927677"/>
            <a:ext cx="1449859" cy="1491923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subTitle" idx="1"/>
          </p:nvPr>
        </p:nvSpPr>
        <p:spPr>
          <a:xfrm>
            <a:off x="311700" y="90925"/>
            <a:ext cx="85206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Acknowledgment</a:t>
            </a:r>
            <a:endParaRPr b="1"/>
          </a:p>
        </p:txBody>
      </p:sp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717" y="1070629"/>
            <a:ext cx="1040791" cy="132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 l="7004" t="7058" r="6197" b="3591"/>
          <a:stretch/>
        </p:blipFill>
        <p:spPr>
          <a:xfrm>
            <a:off x="2824558" y="2995795"/>
            <a:ext cx="1230950" cy="137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 rotWithShape="1">
          <a:blip r:embed="rId5">
            <a:alphaModFix/>
          </a:blip>
          <a:srcRect t="7063" r="22851"/>
          <a:stretch/>
        </p:blipFill>
        <p:spPr>
          <a:xfrm>
            <a:off x="4838850" y="2995792"/>
            <a:ext cx="1230950" cy="14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444367" y="2415742"/>
            <a:ext cx="1939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Thanh-Tra Nguyen, B. Pharm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660517" y="2415742"/>
            <a:ext cx="1104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Khương Duy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604079" y="2439850"/>
            <a:ext cx="1615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Do Nguyen Thao Vy, MD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720963" y="4467042"/>
            <a:ext cx="1466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Pham Van Quan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24283" y="4446642"/>
            <a:ext cx="1466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Phuc-Loi Luu, PhD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535496" y="4467042"/>
            <a:ext cx="1714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Duc-Minh Nguyen-Le, MD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6">
            <a:alphaModFix/>
          </a:blip>
          <a:srcRect l="14470" t="11073" r="21100" b="17528"/>
          <a:stretch/>
        </p:blipFill>
        <p:spPr>
          <a:xfrm>
            <a:off x="6785208" y="1032017"/>
            <a:ext cx="1466699" cy="141081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6536733" y="2513933"/>
            <a:ext cx="2043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Nguyen Thi Kim Nhi, MD, PhD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7">
            <a:alphaModFix/>
          </a:blip>
          <a:srcRect l="6660" r="9559"/>
          <a:stretch/>
        </p:blipFill>
        <p:spPr>
          <a:xfrm>
            <a:off x="806167" y="1091067"/>
            <a:ext cx="1104900" cy="12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6700700" y="4396292"/>
            <a:ext cx="174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Huyen-Trang Thi Tran, MD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8">
            <a:alphaModFix/>
          </a:blip>
          <a:srcRect b="32180"/>
          <a:stretch/>
        </p:blipFill>
        <p:spPr>
          <a:xfrm>
            <a:off x="4777842" y="994817"/>
            <a:ext cx="1268300" cy="147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9">
            <a:alphaModFix/>
          </a:blip>
          <a:srcRect t="7739" b="-4115"/>
          <a:stretch/>
        </p:blipFill>
        <p:spPr>
          <a:xfrm>
            <a:off x="7058575" y="2919979"/>
            <a:ext cx="1149601" cy="147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95251" y="58567"/>
            <a:ext cx="878051" cy="87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9059" y="67392"/>
            <a:ext cx="878050" cy="87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03704A-16F9-DE04-8CB8-B8474427FE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329" y="3032349"/>
            <a:ext cx="1250607" cy="1250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258154" y="34205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Content</a:t>
            </a:r>
            <a:endParaRPr b="1"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740076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Introduction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Congenital Heart Disease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Genetic testing workflow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Challenges in variant interpretation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ACMG guidelines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Large Language Model roles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Objectives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Automating Germline variant interpretation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Congenital Heart Disease data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Data gathering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Data preparation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2"/>
          </p:nvPr>
        </p:nvSpPr>
        <p:spPr>
          <a:xfrm>
            <a:off x="4762377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Automating the ACMG Guideline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In-context prompting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dirty="0">
                <a:solidFill>
                  <a:schemeClr val="dk1"/>
                </a:solidFill>
              </a:rPr>
              <a:t>Multi-agent system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Results and Discussion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</a:rPr>
              <a:t>Future work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20612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GB" b="1" dirty="0"/>
              <a:t>Congenital Heart Disease (CHD)</a:t>
            </a: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291106" y="1059071"/>
            <a:ext cx="6071297" cy="35098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algn="just"/>
            <a:r>
              <a:rPr lang="en-GB" dirty="0"/>
              <a:t>Congenital heart disease is a general term for a range of </a:t>
            </a:r>
            <a:r>
              <a:rPr lang="en-GB" b="1" dirty="0"/>
              <a:t>structural problems with the heart</a:t>
            </a:r>
            <a:r>
              <a:rPr lang="en-GB" dirty="0"/>
              <a:t> that are present at birth.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These defects occur when </a:t>
            </a:r>
            <a:r>
              <a:rPr lang="en-GB" b="1" dirty="0"/>
              <a:t>the heart or its blood vessels</a:t>
            </a:r>
            <a:r>
              <a:rPr lang="en-GB" dirty="0"/>
              <a:t> </a:t>
            </a:r>
            <a:r>
              <a:rPr lang="en-GB" b="1" dirty="0"/>
              <a:t>do not form correctly</a:t>
            </a:r>
            <a:r>
              <a:rPr lang="en-GB" dirty="0"/>
              <a:t> during </a:t>
            </a:r>
            <a:r>
              <a:rPr lang="en-GB" dirty="0" err="1"/>
              <a:t>fetal</a:t>
            </a:r>
            <a:r>
              <a:rPr lang="en-GB" dirty="0"/>
              <a:t> development.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They can affect </a:t>
            </a:r>
            <a:r>
              <a:rPr lang="en-GB" b="1" dirty="0"/>
              <a:t>the normal flow of blood through the heart</a:t>
            </a:r>
            <a:r>
              <a:rPr lang="en-GB" dirty="0"/>
              <a:t> and to the rest of the body.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CHD can range from simple issues, like a small hole in the heart, to complex and life-threatening conditions requiring immediate surgery.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An estimated </a:t>
            </a:r>
            <a:r>
              <a:rPr lang="en-GB" b="1" dirty="0"/>
              <a:t>15,000 infants</a:t>
            </a:r>
            <a:r>
              <a:rPr lang="en-GB" dirty="0"/>
              <a:t> are born with CHD annually </a:t>
            </a:r>
            <a:r>
              <a:rPr lang="en-GB" b="1" dirty="0"/>
              <a:t>in Vietnam.</a:t>
            </a:r>
          </a:p>
          <a:p>
            <a:pPr algn="just"/>
            <a:endParaRPr lang="en-GB" dirty="0"/>
          </a:p>
          <a:p>
            <a:pPr algn="just"/>
            <a:r>
              <a:rPr lang="en-US" dirty="0"/>
              <a:t>Key Challenges</a:t>
            </a:r>
            <a:r>
              <a:rPr lang="en-GB" dirty="0"/>
              <a:t>: Limited universal </a:t>
            </a:r>
            <a:r>
              <a:rPr lang="en-GB" dirty="0" err="1"/>
              <a:t>newborn</a:t>
            </a:r>
            <a:r>
              <a:rPr lang="en-GB" dirty="0"/>
              <a:t> screening and a scarcity of </a:t>
            </a:r>
            <a:r>
              <a:rPr lang="en-GB" dirty="0" err="1"/>
              <a:t>pediatric</a:t>
            </a:r>
            <a:r>
              <a:rPr lang="en-GB" dirty="0"/>
              <a:t> cardiac specialists in rural areas often lead to </a:t>
            </a:r>
            <a:r>
              <a:rPr lang="en-GB" b="1" dirty="0"/>
              <a:t>delayed diagnosis</a:t>
            </a:r>
            <a:r>
              <a:rPr lang="en-GB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CB000-2CBA-65EF-B44E-EC1138EF8159}"/>
              </a:ext>
            </a:extLst>
          </p:cNvPr>
          <p:cNvSpPr txBox="1"/>
          <p:nvPr/>
        </p:nvSpPr>
        <p:spPr>
          <a:xfrm>
            <a:off x="646670" y="4628975"/>
            <a:ext cx="8228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Morton, S.U.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et al.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Genomic frontiers in congenital heart disease.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 Rev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Cardiol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19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26–42 (2022).</a:t>
            </a:r>
            <a:endParaRPr lang="en-US" sz="1200" dirty="0"/>
          </a:p>
        </p:txBody>
      </p:sp>
      <p:pic>
        <p:nvPicPr>
          <p:cNvPr id="1027" name="Picture 3" descr="Comparing a normal heart to one with congenital heart disease shows issues that exist at birth">
            <a:extLst>
              <a:ext uri="{FF2B5EF4-FFF2-40B4-BE49-F238E27FC236}">
                <a16:creationId xmlns:a16="http://schemas.microsoft.com/office/drawing/2014/main" id="{00E401CD-0CD2-CD04-F266-F96DEB609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5"/>
          <a:stretch/>
        </p:blipFill>
        <p:spPr bwMode="auto">
          <a:xfrm>
            <a:off x="6543640" y="1009131"/>
            <a:ext cx="2331856" cy="326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885A-8060-14DD-4327-8CF59C5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0860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Congenital Heart Defect NGS Panel for diagnosis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09C9A-00D7-752C-D0C1-DDF3C1EB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23" y="1115974"/>
            <a:ext cx="8589582" cy="2899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2A7A51-7989-91D2-C828-82C45F33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423" y="2826852"/>
            <a:ext cx="1730381" cy="6268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868507-96DE-FB61-D8D2-A690C1AD2670}"/>
              </a:ext>
            </a:extLst>
          </p:cNvPr>
          <p:cNvSpPr txBox="1"/>
          <p:nvPr/>
        </p:nvSpPr>
        <p:spPr>
          <a:xfrm>
            <a:off x="3888255" y="4221831"/>
            <a:ext cx="49056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/>
              <a:t>https://www.fulgentgenetics.com/congenital-heart-defect</a:t>
            </a:r>
          </a:p>
        </p:txBody>
      </p:sp>
    </p:spTree>
    <p:extLst>
      <p:ext uri="{BB962C8B-B14F-4D97-AF65-F5344CB8AC3E}">
        <p14:creationId xmlns:p14="http://schemas.microsoft.com/office/powerpoint/2010/main" val="3822078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885A-8060-14DD-4327-8CF59C5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2599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Congenital Heart Defect NGS Panel: steps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68507-96DE-FB61-D8D2-A690C1AD2670}"/>
              </a:ext>
            </a:extLst>
          </p:cNvPr>
          <p:cNvSpPr txBox="1"/>
          <p:nvPr/>
        </p:nvSpPr>
        <p:spPr>
          <a:xfrm>
            <a:off x="3888255" y="4221831"/>
            <a:ext cx="49056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/>
              <a:t>https://www.fulgentgenetics.com/congenital-heart-defect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A38843-B478-025F-2B0F-1F212A4113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61"/>
          <a:stretch/>
        </p:blipFill>
        <p:spPr>
          <a:xfrm>
            <a:off x="115709" y="848497"/>
            <a:ext cx="8955974" cy="3881449"/>
          </a:xfrm>
          <a:prstGeom prst="rect">
            <a:avLst/>
          </a:prstGeom>
        </p:spPr>
      </p:pic>
      <p:pic>
        <p:nvPicPr>
          <p:cNvPr id="2050" name="Picture 2" descr="Cartoon illustration of two blood test tubes, one with a red cap and the other with a yellow cap">
            <a:extLst>
              <a:ext uri="{FF2B5EF4-FFF2-40B4-BE49-F238E27FC236}">
                <a16:creationId xmlns:a16="http://schemas.microsoft.com/office/drawing/2014/main" id="{9420822F-6468-6E00-541C-8E2103934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215" y="3854091"/>
            <a:ext cx="1824552" cy="10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487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885A-8060-14DD-4327-8CF59C54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0219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Congenital Heart Defect NGS Panel: steps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8F51C-27C7-1947-7D21-867E3CF584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371"/>
          <a:stretch/>
        </p:blipFill>
        <p:spPr>
          <a:xfrm>
            <a:off x="416014" y="926756"/>
            <a:ext cx="8401957" cy="410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94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044F-6B55-F9C9-BF68-51966B31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CE5251-8194-462A-A878-5CBF569F8BAF}"/>
              </a:ext>
            </a:extLst>
          </p:cNvPr>
          <p:cNvSpPr txBox="1">
            <a:spLocks/>
          </p:cNvSpPr>
          <p:nvPr/>
        </p:nvSpPr>
        <p:spPr>
          <a:xfrm>
            <a:off x="446754" y="178240"/>
            <a:ext cx="8044543" cy="826220"/>
          </a:xfrm>
          <a:prstGeom prst="rect">
            <a:avLst/>
          </a:prstGeom>
          <a:noFill/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Genome Board: interpretation of variants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5A010FA-897E-14B5-7F31-7C6E1EABF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65" y="1369007"/>
            <a:ext cx="6215735" cy="282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ECB76-6FF6-2241-5357-587B1F2C95E4}"/>
              </a:ext>
            </a:extLst>
          </p:cNvPr>
          <p:cNvSpPr txBox="1"/>
          <p:nvPr/>
        </p:nvSpPr>
        <p:spPr>
          <a:xfrm>
            <a:off x="1518253" y="4311846"/>
            <a:ext cx="5637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 Light" panose="020F0302020204030204" pitchFamily="34" charset="0"/>
              </a:rPr>
              <a:t>https://ggba.swiss/en/the-first-medical-genomics-center-opens-in-geneva/</a:t>
            </a:r>
          </a:p>
        </p:txBody>
      </p:sp>
    </p:spTree>
    <p:extLst>
      <p:ext uri="{BB962C8B-B14F-4D97-AF65-F5344CB8AC3E}">
        <p14:creationId xmlns:p14="http://schemas.microsoft.com/office/powerpoint/2010/main" val="376748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sz="2000" b="1" dirty="0" err="1"/>
              <a:t>ClinVar</a:t>
            </a:r>
            <a:r>
              <a:rPr lang="en-GB" sz="2000" dirty="0"/>
              <a:t>: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uman variations classified for diseases and drug responses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E9C99-05C6-C92B-C636-2A14B4F8C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49" y="891876"/>
            <a:ext cx="6857997" cy="3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688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sz="2000" b="1" dirty="0" err="1"/>
              <a:t>ClinVar</a:t>
            </a:r>
            <a:r>
              <a:rPr lang="en-GB" sz="2000" dirty="0"/>
              <a:t>: 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uman variations classified for diseases and drug responses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C46D2-9A8E-9CC3-A4FD-267076CD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86" y="1020747"/>
            <a:ext cx="7677665" cy="3712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82F607-33E5-CF89-078F-F46A7D94F4FE}"/>
              </a:ext>
            </a:extLst>
          </p:cNvPr>
          <p:cNvSpPr txBox="1"/>
          <p:nvPr/>
        </p:nvSpPr>
        <p:spPr>
          <a:xfrm>
            <a:off x="3933568" y="732131"/>
            <a:ext cx="109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CHD7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0430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b="1" dirty="0"/>
              <a:t>Annotation of CHD7 variants using </a:t>
            </a:r>
            <a:r>
              <a:rPr lang="en-GB" b="1" dirty="0" err="1"/>
              <a:t>ClinVar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75C3BA-9869-41EA-4856-EFE7BEBD7E11}"/>
              </a:ext>
            </a:extLst>
          </p:cNvPr>
          <p:cNvGrpSpPr/>
          <p:nvPr/>
        </p:nvGrpSpPr>
        <p:grpSpPr>
          <a:xfrm>
            <a:off x="1886468" y="1368023"/>
            <a:ext cx="5058029" cy="3274004"/>
            <a:chOff x="1886468" y="1368023"/>
            <a:chExt cx="5058029" cy="32740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B6ACC3-EE8A-A0E5-DB48-F44E49CFE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4956" r="57546" b="35705"/>
            <a:stretch/>
          </p:blipFill>
          <p:spPr>
            <a:xfrm>
              <a:off x="1886468" y="1368023"/>
              <a:ext cx="5058029" cy="320653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A04FA20-F41F-954E-17E4-85262C94570D}"/>
                </a:ext>
              </a:extLst>
            </p:cNvPr>
            <p:cNvSpPr/>
            <p:nvPr/>
          </p:nvSpPr>
          <p:spPr>
            <a:xfrm>
              <a:off x="4250724" y="4118925"/>
              <a:ext cx="321276" cy="5231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AA05CFC-E3BC-111C-B79B-9E873C692CB9}"/>
              </a:ext>
            </a:extLst>
          </p:cNvPr>
          <p:cNvSpPr/>
          <p:nvPr/>
        </p:nvSpPr>
        <p:spPr>
          <a:xfrm>
            <a:off x="4815016" y="840259"/>
            <a:ext cx="350108" cy="4602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25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b="1" dirty="0"/>
              <a:t>Annotation of CHD7 variants using </a:t>
            </a:r>
            <a:r>
              <a:rPr lang="en-GB" b="1" dirty="0" err="1"/>
              <a:t>ClinVar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BE1843-C69D-52B0-EA5E-5CF740C50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2" y="1137140"/>
            <a:ext cx="8688361" cy="30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02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b="1" dirty="0"/>
              <a:t>Annotation of CHD7 variants using </a:t>
            </a:r>
            <a:r>
              <a:rPr lang="en-GB" b="1" dirty="0" err="1"/>
              <a:t>ClinVar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044EA-7A36-C41B-45F4-B47D99E2B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98" y="862573"/>
            <a:ext cx="7463481" cy="393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76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b="1" dirty="0"/>
              <a:t>Annotation of CHD7 variants using </a:t>
            </a:r>
            <a:r>
              <a:rPr lang="en-GB" b="1" dirty="0" err="1"/>
              <a:t>ClinVar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7CB1F2-64CF-990A-CBE0-894A08D90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50" y="853976"/>
            <a:ext cx="6552758" cy="397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0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33D2-ED44-0766-D05D-B98C5C8C3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29" y="159431"/>
            <a:ext cx="8520600" cy="572700"/>
          </a:xfrm>
        </p:spPr>
        <p:txBody>
          <a:bodyPr>
            <a:noAutofit/>
          </a:bodyPr>
          <a:lstStyle/>
          <a:p>
            <a:pPr algn="ctr"/>
            <a:r>
              <a:rPr lang="en-GB" b="1" dirty="0"/>
              <a:t>Annotation of CHD7 variants using </a:t>
            </a:r>
            <a:r>
              <a:rPr lang="en-GB" b="1" dirty="0" err="1"/>
              <a:t>ClinVar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08A10-E127-7A02-E596-C3889208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45" y="909557"/>
            <a:ext cx="8703276" cy="350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89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5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ACMG guidelines</a:t>
            </a:r>
            <a:endParaRPr b="1" dirty="0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0" y="672525"/>
            <a:ext cx="5316830" cy="434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/>
        </p:nvSpPr>
        <p:spPr>
          <a:xfrm>
            <a:off x="5526525" y="868650"/>
            <a:ext cx="3488400" cy="3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963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2B2E33"/>
                </a:solidFill>
              </a:rPr>
              <a:t>There are </a:t>
            </a:r>
            <a:r>
              <a:rPr lang="en" sz="700" b="1">
                <a:solidFill>
                  <a:srgbClr val="2B2E33"/>
                </a:solidFill>
              </a:rPr>
              <a:t>28 criteria</a:t>
            </a:r>
            <a:r>
              <a:rPr lang="en" sz="700">
                <a:solidFill>
                  <a:srgbClr val="2B2E33"/>
                </a:solidFill>
              </a:rPr>
              <a:t> in the ACMG guidelines. During variant interpretation, variants are classified into </a:t>
            </a:r>
            <a:r>
              <a:rPr lang="en" sz="700" b="1">
                <a:solidFill>
                  <a:srgbClr val="2B2E33"/>
                </a:solidFill>
              </a:rPr>
              <a:t>five tiers: Pathogenic (P), Likely pathogenic (LP), Uncertain significance (VUS), Likely benign (LB), and Benign (B),</a:t>
            </a:r>
            <a:r>
              <a:rPr lang="en" sz="700">
                <a:solidFill>
                  <a:srgbClr val="2B2E33"/>
                </a:solidFill>
              </a:rPr>
              <a:t> depending on the applied criteria. 28 criteria can be classified by the weight and type of evidence indicated by each criterion.</a:t>
            </a:r>
            <a:endParaRPr sz="700">
              <a:solidFill>
                <a:srgbClr val="2B2E33"/>
              </a:solidFill>
            </a:endParaRPr>
          </a:p>
          <a:p>
            <a:pPr marL="457200" lvl="0" indent="-2730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B2E33"/>
              </a:buClr>
              <a:buSzPts val="700"/>
              <a:buChar char="●"/>
            </a:pPr>
            <a:r>
              <a:rPr lang="en" sz="700">
                <a:solidFill>
                  <a:srgbClr val="2B2E33"/>
                </a:solidFill>
              </a:rPr>
              <a:t>Classification by </a:t>
            </a:r>
            <a:r>
              <a:rPr lang="en" sz="700" b="1">
                <a:solidFill>
                  <a:srgbClr val="2B2E33"/>
                </a:solidFill>
              </a:rPr>
              <a:t>evidence weight</a:t>
            </a:r>
            <a:br>
              <a:rPr lang="en" sz="700">
                <a:solidFill>
                  <a:srgbClr val="2B2E33"/>
                </a:solidFill>
              </a:rPr>
            </a:br>
            <a:r>
              <a:rPr lang="en" sz="700">
                <a:solidFill>
                  <a:srgbClr val="2B2E33"/>
                </a:solidFill>
              </a:rPr>
              <a:t>The 28 criteria can be classified into two: </a:t>
            </a:r>
            <a:r>
              <a:rPr lang="en" sz="700" b="1">
                <a:solidFill>
                  <a:srgbClr val="2B2E33"/>
                </a:solidFill>
              </a:rPr>
              <a:t>16 Pathogenic criteria and 12 Benign criteria. </a:t>
            </a:r>
            <a:r>
              <a:rPr lang="en" sz="700">
                <a:solidFill>
                  <a:srgbClr val="2B2E33"/>
                </a:solidFill>
              </a:rPr>
              <a:t>Depending on the weight of evidence, the pathogenic criteria are divided into very strong (PVS1), strong (PS1–4), moderate (PM1–6), supporting (PP1–5); the benign criteria are divided into stand-alone (BA1), strong (BS1–4), supporting (BP1–7). Criteria within the same category are given the same weight.</a:t>
            </a:r>
            <a:endParaRPr sz="700">
              <a:solidFill>
                <a:srgbClr val="2B2E33"/>
              </a:solidFill>
            </a:endParaRPr>
          </a:p>
          <a:p>
            <a:pPr marL="457200" lvl="0" indent="-27305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2B2E33"/>
              </a:buClr>
              <a:buSzPts val="700"/>
              <a:buChar char="●"/>
            </a:pPr>
            <a:r>
              <a:rPr lang="en" sz="700">
                <a:solidFill>
                  <a:srgbClr val="2B2E33"/>
                </a:solidFill>
              </a:rPr>
              <a:t>Classification by </a:t>
            </a:r>
            <a:r>
              <a:rPr lang="en" sz="700" b="1">
                <a:solidFill>
                  <a:srgbClr val="2B2E33"/>
                </a:solidFill>
              </a:rPr>
              <a:t>evidence type</a:t>
            </a:r>
            <a:br>
              <a:rPr lang="en" sz="700">
                <a:solidFill>
                  <a:srgbClr val="2B2E33"/>
                </a:solidFill>
              </a:rPr>
            </a:br>
            <a:r>
              <a:rPr lang="en" sz="700">
                <a:solidFill>
                  <a:srgbClr val="2B2E33"/>
                </a:solidFill>
              </a:rPr>
              <a:t>The 28 criteria can be classified into </a:t>
            </a:r>
            <a:r>
              <a:rPr lang="en" sz="700" b="1">
                <a:solidFill>
                  <a:srgbClr val="2B2E33"/>
                </a:solidFill>
              </a:rPr>
              <a:t>8 types: population data, computational data, functional data, segregation data, </a:t>
            </a:r>
            <a:r>
              <a:rPr lang="en" sz="700" b="1" i="1">
                <a:solidFill>
                  <a:srgbClr val="2B2E33"/>
                </a:solidFill>
              </a:rPr>
              <a:t>de novo</a:t>
            </a:r>
            <a:r>
              <a:rPr lang="en" sz="700" b="1">
                <a:solidFill>
                  <a:srgbClr val="2B2E33"/>
                </a:solidFill>
              </a:rPr>
              <a:t> data, allelic data, other database, and other data,</a:t>
            </a:r>
            <a:r>
              <a:rPr lang="en" sz="700">
                <a:solidFill>
                  <a:srgbClr val="2B2E33"/>
                </a:solidFill>
              </a:rPr>
              <a:t> depending on the source of evidence. You can check the details of each criteria in Figure 1 and the </a:t>
            </a:r>
            <a:r>
              <a:rPr lang="en" sz="700" u="sng">
                <a:solidFill>
                  <a:srgbClr val="1A66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ACMG guidelines</a:t>
            </a:r>
            <a:r>
              <a:rPr lang="en" sz="700">
                <a:solidFill>
                  <a:srgbClr val="2B2E33"/>
                </a:solidFill>
              </a:rPr>
              <a:t>.</a:t>
            </a:r>
            <a:endParaRPr sz="700">
              <a:solidFill>
                <a:srgbClr val="2B2E3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Ref: </a:t>
            </a:r>
            <a:r>
              <a:rPr lang="en" sz="700" u="sng">
                <a:solidFill>
                  <a:schemeClr val="hlink"/>
                </a:solidFill>
                <a:hlinkClick r:id="rId5"/>
              </a:rPr>
              <a:t>https://3billion.io/blog/what-are-the-acmg-standards-and-guidelines-and-how-do-they-work</a:t>
            </a:r>
            <a:r>
              <a:rPr lang="en" sz="700">
                <a:solidFill>
                  <a:schemeClr val="dk2"/>
                </a:solidFill>
              </a:rPr>
              <a:t> </a:t>
            </a:r>
            <a:endParaRPr sz="7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157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1525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/>
              <a:t>Scoring and Classification</a:t>
            </a:r>
            <a:endParaRPr sz="3200" b="1"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608268" y="1007840"/>
            <a:ext cx="3999900" cy="18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ACMG Scoring System</a:t>
            </a:r>
            <a:endParaRPr sz="1200" b="1" dirty="0"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Very Strong (PVS): +8 points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Strong (PS): +4 points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Moderate (PM): +2 points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Supporting (PP): +1 point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Stand-alone Benign (BA): -8 points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Strong Benign (BS): -4 points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Supporting Benign (BP): -1 point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2"/>
          </p:nvPr>
        </p:nvSpPr>
        <p:spPr>
          <a:xfrm>
            <a:off x="4268105" y="1030344"/>
            <a:ext cx="3999900" cy="18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/>
              <a:t>Classification Based on Total Score</a:t>
            </a:r>
            <a:endParaRPr sz="1200" b="1" dirty="0"/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Pathogenic: Total score ≥10.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Likely Pathogenic: Total score 6-9.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Uncertain Significance (VUS): Total score 0-5.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Likely Benign: Total score -1 to -6.</a:t>
            </a:r>
            <a:endParaRPr sz="1200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/>
              <a:t>Benign: Total score ≤ -7.</a:t>
            </a:r>
            <a:endParaRPr sz="12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988" y="3312300"/>
            <a:ext cx="5976024" cy="1495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7943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135924"/>
            <a:ext cx="8520600" cy="1083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The Challenge of Variant Interpretation </a:t>
            </a:r>
            <a:br>
              <a:rPr lang="en" b="1" dirty="0"/>
            </a:b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following the ACMG-AMP 2015 </a:t>
            </a:r>
            <a:endParaRPr b="1"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59567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●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Complexity: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Interpreting germline variants is a major challenge in clinical genetics.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●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Guidelines: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The process follows the ACMG-AMP 2015 and ACGS 2020 best practice guidelines.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●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Current Limitations: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Existing annotation tools are incomplete or insufficient.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●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Need for Automation: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Better tools are needed to provide clear, consistent, and reproducible variant classifications.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Char char="●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Focus: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This project applies automated interpretation methods to Congenital Heart Disease (CHD).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95524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Why Large Language Models (LLM)?</a:t>
            </a:r>
            <a:endParaRPr b="1" dirty="0"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98199" y="1152475"/>
            <a:ext cx="800027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13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Solving tasks </a:t>
            </a: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without explicit programming 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(checking 28 criteria via prompting).</a:t>
            </a:r>
          </a:p>
          <a:p>
            <a:pPr marL="457200" lvl="0" indent="-342900" algn="just" rtl="0">
              <a:spcBef>
                <a:spcPts val="13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Understanding </a:t>
            </a: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large volumes of text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that would take longer to read manually (review PubMed articles).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Handling new scenarios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without predefined rules (AI Agents are able to break down goals into actionable steps).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1525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CHD data profile (189 genes, 408,231 variants)</a:t>
            </a:r>
            <a:endParaRPr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5400125" y="4412425"/>
            <a:ext cx="35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800" u="sng">
                <a:solidFill>
                  <a:schemeClr val="hlink"/>
                </a:solidFill>
                <a:hlinkClick r:id="rId3"/>
              </a:rPr>
              <a:t>https://chdgene.victorchang.edu.au/</a:t>
            </a:r>
            <a:r>
              <a:rPr lang="en" sz="800"/>
              <a:t> </a:t>
            </a:r>
            <a:endParaRPr sz="800"/>
          </a:p>
          <a:p>
            <a:pPr marL="177800" lvl="0" indent="0" algn="l" rtl="0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https://www.ahajournals.org/doi/10.1161/CIRCGEN.121.003539</a:t>
            </a:r>
            <a:r>
              <a:rPr lang="en" sz="800"/>
              <a:t> </a:t>
            </a:r>
            <a:endParaRPr sz="800"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75" y="909042"/>
            <a:ext cx="4731699" cy="389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5125" y="1094400"/>
            <a:ext cx="2943325" cy="20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A676-0AF5-3786-3F77-CF6CF332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0837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 err="1"/>
              <a:t>Varsome</a:t>
            </a:r>
            <a:r>
              <a:rPr lang="en-GB" b="1" dirty="0"/>
              <a:t> Variant Interpretation as gold standard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223C9-717B-8DE0-3987-03C8E55A6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5" y="989971"/>
            <a:ext cx="6783859" cy="35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71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A676-0AF5-3786-3F77-CF6CF332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30837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 err="1"/>
              <a:t>Varsome</a:t>
            </a:r>
            <a:r>
              <a:rPr lang="en-GB" b="1" dirty="0"/>
              <a:t> Variant Interpretation as gold standard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0FDC7F-62A7-EB0C-867B-B3592D50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97" y="1072340"/>
            <a:ext cx="7821827" cy="340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>
            <a:spLocks noGrp="1"/>
          </p:cNvSpPr>
          <p:nvPr>
            <p:ph type="title"/>
          </p:nvPr>
        </p:nvSpPr>
        <p:spPr>
          <a:xfrm>
            <a:off x="311700" y="1814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Data Preparation CHD (170 genes, 3312 variants)</a:t>
            </a:r>
            <a:endParaRPr b="1" dirty="0"/>
          </a:p>
        </p:txBody>
      </p:sp>
      <p:sp>
        <p:nvSpPr>
          <p:cNvPr id="140" name="Google Shape;140;p24"/>
          <p:cNvSpPr txBox="1"/>
          <p:nvPr/>
        </p:nvSpPr>
        <p:spPr>
          <a:xfrm>
            <a:off x="192800" y="1117100"/>
            <a:ext cx="1087800" cy="369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ACMG class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192800" y="2801675"/>
            <a:ext cx="1087800" cy="369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ACMG score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6168825" y="1117100"/>
            <a:ext cx="1165200" cy="369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ACMG criteria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6200" y="1218750"/>
            <a:ext cx="1504050" cy="35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8825" y="1585775"/>
            <a:ext cx="1007115" cy="32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625" y="1117100"/>
            <a:ext cx="4164826" cy="1500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3000" y="2769849"/>
            <a:ext cx="4254449" cy="1983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118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Evaluation Metrics</a:t>
            </a:r>
            <a:endParaRPr b="1" dirty="0"/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Pearson correlation:</a:t>
            </a:r>
            <a:r>
              <a:rPr lang="en" dirty="0"/>
              <a:t> Measures the correlation between true and predicted ACMG/ACGS scores.</a:t>
            </a:r>
            <a:endParaRPr dirty="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Confusion Matrix: </a:t>
            </a:r>
            <a:r>
              <a:rPr lang="en" dirty="0"/>
              <a:t>Visualizes the accuracy of classification by comparing true and predicted labels across categories (Benign, Likely Benign, VUS, Likely Pathogenic, Pathogenic).</a:t>
            </a:r>
            <a:endParaRPr dirty="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Jaccard Similarity: </a:t>
            </a:r>
            <a:r>
              <a:rPr lang="en" dirty="0"/>
              <a:t>Quantifies the overlap between the true and predicted sets of ACMG/ACGS criteria applied. A score of 0.600 indicates a 60% overlap.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675502" y="1250100"/>
            <a:ext cx="3561997" cy="26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|A ∩ B| / |A ∪ B|</a:t>
            </a:r>
            <a:endParaRPr sz="1600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</a:t>
            </a:r>
            <a:endParaRPr sz="1600" b="1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True:{'PVS1', 'PM2', 'PP5'}</a:t>
            </a:r>
            <a:endParaRPr sz="1600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Predicted:{'PVS1', 'PM2', 'PP3', 'BP4', 'BP7'}</a:t>
            </a:r>
            <a:endParaRPr sz="1600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Jaccard similarity = </a:t>
            </a:r>
            <a:r>
              <a:rPr lang="en" sz="1600" b="1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0.33</a:t>
            </a:r>
            <a:endParaRPr sz="1600" b="1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311700" y="2761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Jaccard Similarity</a:t>
            </a:r>
            <a:endParaRPr b="1" dirty="0"/>
          </a:p>
        </p:txBody>
      </p:sp>
      <p:sp>
        <p:nvSpPr>
          <p:cNvPr id="189" name="Google Shape;189;p29"/>
          <p:cNvSpPr txBox="1"/>
          <p:nvPr/>
        </p:nvSpPr>
        <p:spPr>
          <a:xfrm>
            <a:off x="4519800" y="1152475"/>
            <a:ext cx="43125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#1 Compute the intersection</a:t>
            </a:r>
            <a:endParaRPr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Intersection = True ∩ Predicted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            = { PVS1, PM2 } = 2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#2 Compute the union</a:t>
            </a:r>
            <a:endParaRPr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Union = True ∪ Predicted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     = { PVS1, PM2, PP5, PP3, BP4, BP7 }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     = 6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#3 Plug into the Jaccard formula</a:t>
            </a:r>
            <a:endParaRPr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Jaccard = 2/6 = 0.33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#4 Interpretation</a:t>
            </a:r>
            <a:endParaRPr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A Jaccard score of 0.33 means 33% overlap between the true and predicted criterion sets.</a:t>
            </a:r>
            <a:endParaRPr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DBE6"/>
          </a:solidFill>
          <a:ln w="1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95" name="Google Shape;195;p30"/>
          <p:cNvSpPr/>
          <p:nvPr/>
        </p:nvSpPr>
        <p:spPr>
          <a:xfrm>
            <a:off x="103400" y="1030750"/>
            <a:ext cx="8824200" cy="3218100"/>
          </a:xfrm>
          <a:prstGeom prst="rect">
            <a:avLst/>
          </a:prstGeom>
          <a:noFill/>
          <a:ln w="79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196" name="Google Shape;196;p30"/>
          <p:cNvSpPr/>
          <p:nvPr/>
        </p:nvSpPr>
        <p:spPr>
          <a:xfrm>
            <a:off x="6706283" y="296022"/>
            <a:ext cx="1304100" cy="673500"/>
          </a:xfrm>
          <a:prstGeom prst="rect">
            <a:avLst/>
          </a:prstGeom>
          <a:solidFill>
            <a:srgbClr val="E3F2FD"/>
          </a:solidFill>
          <a:ln w="3975" cap="flat" cmpd="sng">
            <a:solidFill>
              <a:srgbClr val="16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🧬 TMEM94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c.765-1G&gt;C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6604551" y="2009952"/>
            <a:ext cx="1514100" cy="339600"/>
          </a:xfrm>
          <a:prstGeom prst="rect">
            <a:avLst/>
          </a:prstGeom>
          <a:solidFill>
            <a:srgbClr val="E1BEE7"/>
          </a:solidFill>
          <a:ln w="3975" cap="flat" cmpd="sng">
            <a:solidFill>
              <a:srgbClr val="9C2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In-context Prompting 🤖</a:t>
            </a:r>
            <a:endParaRPr sz="1000"/>
          </a:p>
        </p:txBody>
      </p:sp>
      <p:sp>
        <p:nvSpPr>
          <p:cNvPr id="198" name="Google Shape;198;p30"/>
          <p:cNvSpPr/>
          <p:nvPr/>
        </p:nvSpPr>
        <p:spPr>
          <a:xfrm>
            <a:off x="6520125" y="4653307"/>
            <a:ext cx="1676400" cy="339600"/>
          </a:xfrm>
          <a:prstGeom prst="rect">
            <a:avLst/>
          </a:prstGeom>
          <a:solidFill>
            <a:srgbClr val="E3F2FD"/>
          </a:solidFill>
          <a:ln w="3975" cap="flat" cmpd="sng">
            <a:solidFill>
              <a:srgbClr val="16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Final Classification &amp; Explanation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cxnSp>
        <p:nvCxnSpPr>
          <p:cNvPr id="199" name="Google Shape;199;p30"/>
          <p:cNvCxnSpPr>
            <a:stCxn id="197" idx="2"/>
            <a:endCxn id="198" idx="0"/>
          </p:cNvCxnSpPr>
          <p:nvPr/>
        </p:nvCxnSpPr>
        <p:spPr>
          <a:xfrm flipH="1">
            <a:off x="7358301" y="2349552"/>
            <a:ext cx="3300" cy="23037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30"/>
          <p:cNvCxnSpPr>
            <a:stCxn id="196" idx="2"/>
            <a:endCxn id="197" idx="0"/>
          </p:cNvCxnSpPr>
          <p:nvPr/>
        </p:nvCxnSpPr>
        <p:spPr>
          <a:xfrm>
            <a:off x="7358333" y="969522"/>
            <a:ext cx="3300" cy="10404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1" name="Google Shape;20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08" y="579992"/>
            <a:ext cx="2029875" cy="43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800" y="1400225"/>
            <a:ext cx="6124499" cy="2562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30"/>
          <p:cNvCxnSpPr/>
          <p:nvPr/>
        </p:nvCxnSpPr>
        <p:spPr>
          <a:xfrm rot="10800000">
            <a:off x="6351650" y="1426150"/>
            <a:ext cx="252900" cy="58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30"/>
          <p:cNvCxnSpPr/>
          <p:nvPr/>
        </p:nvCxnSpPr>
        <p:spPr>
          <a:xfrm flipH="1">
            <a:off x="6351650" y="2349550"/>
            <a:ext cx="252900" cy="160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64A7C87-5C94-D574-C579-1276B1F03EEC}"/>
              </a:ext>
            </a:extLst>
          </p:cNvPr>
          <p:cNvSpPr txBox="1"/>
          <p:nvPr/>
        </p:nvSpPr>
        <p:spPr>
          <a:xfrm>
            <a:off x="2521813" y="171512"/>
            <a:ext cx="4574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/>
              <a:t>Baseline (deepseek-chat)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700" y="3338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 dirty="0"/>
              <a:t>Baseline</a:t>
            </a:r>
            <a:r>
              <a:rPr lang="en" sz="2500" dirty="0"/>
              <a:t>: in-context prompting</a:t>
            </a:r>
            <a:endParaRPr sz="2500" dirty="0"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6450"/>
            <a:ext cx="7923374" cy="33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/>
          <p:nvPr/>
        </p:nvSpPr>
        <p:spPr>
          <a:xfrm>
            <a:off x="2763250" y="3939700"/>
            <a:ext cx="5471700" cy="3558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4" name="Google Shape;154;p25"/>
          <p:cNvCxnSpPr>
            <a:endCxn id="153" idx="0"/>
          </p:cNvCxnSpPr>
          <p:nvPr/>
        </p:nvCxnSpPr>
        <p:spPr>
          <a:xfrm flipH="1">
            <a:off x="5499100" y="3180400"/>
            <a:ext cx="519900" cy="75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5" name="Google Shape;155;p25"/>
          <p:cNvSpPr txBox="1"/>
          <p:nvPr/>
        </p:nvSpPr>
        <p:spPr>
          <a:xfrm>
            <a:off x="4893450" y="2841700"/>
            <a:ext cx="2281500" cy="338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We initially aim to work on 18 criteria</a:t>
            </a:r>
            <a:endParaRPr sz="10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10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311700" y="2679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Baseline</a:t>
            </a:r>
            <a:r>
              <a:rPr lang="en" sz="2400" dirty="0"/>
              <a:t>: in-context prompting (example)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6849BB-C0D0-EDF9-1D2E-BC68647D322C}"/>
              </a:ext>
            </a:extLst>
          </p:cNvPr>
          <p:cNvGrpSpPr/>
          <p:nvPr/>
        </p:nvGrpSpPr>
        <p:grpSpPr>
          <a:xfrm>
            <a:off x="632980" y="1169600"/>
            <a:ext cx="7902851" cy="3526525"/>
            <a:chOff x="311700" y="1169600"/>
            <a:chExt cx="7902851" cy="3526525"/>
          </a:xfrm>
        </p:grpSpPr>
        <p:pic>
          <p:nvPicPr>
            <p:cNvPr id="161" name="Google Shape;16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243425"/>
              <a:ext cx="7902851" cy="345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26"/>
            <p:cNvSpPr/>
            <p:nvPr/>
          </p:nvSpPr>
          <p:spPr>
            <a:xfrm>
              <a:off x="1915125" y="1169600"/>
              <a:ext cx="2366700" cy="369300"/>
            </a:xfrm>
            <a:prstGeom prst="rect">
              <a:avLst/>
            </a:prstGeom>
            <a:noFill/>
            <a:ln w="19050" cap="flat" cmpd="sng">
              <a:solidFill>
                <a:srgbClr val="6AA8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1021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title"/>
          </p:nvPr>
        </p:nvSpPr>
        <p:spPr>
          <a:xfrm>
            <a:off x="311700" y="2555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/>
              <a:t>Baseline</a:t>
            </a:r>
            <a:r>
              <a:rPr lang="en" sz="2800" dirty="0"/>
              <a:t>: in-context prompting (example)</a:t>
            </a:r>
            <a:endParaRPr sz="2800" dirty="0"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168200"/>
            <a:ext cx="4871774" cy="26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175" y="1168200"/>
            <a:ext cx="4182824" cy="17113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3350" y="3353976"/>
            <a:ext cx="3058474" cy="14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8638" y="2973825"/>
            <a:ext cx="2527924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5574788" y="4788425"/>
            <a:ext cx="295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Varsome: </a:t>
            </a:r>
            <a:r>
              <a:rPr lang="en" sz="800" u="sng">
                <a:solidFill>
                  <a:schemeClr val="hlink"/>
                </a:solidFill>
                <a:hlinkClick r:id="rId7"/>
              </a:rPr>
              <a:t>https://varsome.com/variant/hg19/rs1352010373</a:t>
            </a:r>
            <a:r>
              <a:rPr lang="en" sz="800">
                <a:solidFill>
                  <a:schemeClr val="dk2"/>
                </a:solidFill>
              </a:rPr>
              <a:t>? 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195600" y="3926025"/>
            <a:ext cx="2673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LLM prediction</a:t>
            </a:r>
            <a:endParaRPr sz="1000" b="1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Score</a:t>
            </a:r>
            <a:r>
              <a:rPr lang="en" sz="1000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= 8 + 2 + 1 + 0 + 0 = 11</a:t>
            </a:r>
            <a:endParaRPr sz="1000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Pathogenic:</a:t>
            </a:r>
            <a:r>
              <a:rPr lang="en" sz="1000" dirty="0">
                <a:solidFill>
                  <a:schemeClr val="dk2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Total score ≥10.</a:t>
            </a:r>
            <a:endParaRPr sz="1000" dirty="0">
              <a:solidFill>
                <a:schemeClr val="dk2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7905300" y="1168200"/>
            <a:ext cx="123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2"/>
                </a:solidFill>
              </a:rPr>
              <a:t>Hallucinated!</a:t>
            </a:r>
            <a:endParaRPr sz="1200" i="1">
              <a:solidFill>
                <a:schemeClr val="dk2"/>
              </a:solidFill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72450" y="3028150"/>
            <a:ext cx="4871700" cy="811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3705450" y="3028150"/>
            <a:ext cx="123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2"/>
                </a:solidFill>
              </a:rPr>
              <a:t>Hallucinated!</a:t>
            </a:r>
            <a:endParaRPr sz="1200" i="1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780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Baseline (deepseek-chat)</a:t>
            </a:r>
            <a:endParaRPr b="1" dirty="0"/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34725"/>
            <a:ext cx="3923850" cy="19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49725"/>
            <a:ext cx="3923860" cy="19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9750" y="515576"/>
            <a:ext cx="4148751" cy="2197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9750" y="2912857"/>
            <a:ext cx="4148751" cy="2048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Hallucination example</a:t>
            </a:r>
            <a:endParaRPr dirty="0"/>
          </a:p>
        </p:txBody>
      </p:sp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25" y="1520825"/>
            <a:ext cx="4019925" cy="15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225" y="118275"/>
            <a:ext cx="3939025" cy="49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BF0B4E-488E-B199-8DF5-E12AA1171629}"/>
              </a:ext>
            </a:extLst>
          </p:cNvPr>
          <p:cNvSpPr/>
          <p:nvPr/>
        </p:nvSpPr>
        <p:spPr>
          <a:xfrm>
            <a:off x="7142205" y="3855308"/>
            <a:ext cx="1614617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LLM limitations</a:t>
            </a:r>
            <a:endParaRPr b="1" dirty="0"/>
          </a:p>
        </p:txBody>
      </p:sp>
      <p:sp>
        <p:nvSpPr>
          <p:cNvPr id="219" name="Google Shape;219;p32"/>
          <p:cNvSpPr txBox="1">
            <a:spLocks noGrp="1"/>
          </p:cNvSpPr>
          <p:nvPr>
            <p:ph type="body" idx="1"/>
          </p:nvPr>
        </p:nvSpPr>
        <p:spPr>
          <a:xfrm>
            <a:off x="492936" y="1152475"/>
            <a:ext cx="809913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Limited access to real-world data: </a:t>
            </a: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knowledge is restricted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to the training cut-off date (e.g. cannot update new data from ClinVar, gnomAD).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Hallucinations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: generate plausible but false information (e.g. predict plausible next words but incorrect)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Context window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constraints: limited memory for long conversations or large documents.</a:t>
            </a:r>
            <a:endParaRPr dirty="0">
              <a:solidFill>
                <a:srgbClr val="404040"/>
              </a:solidFill>
              <a:highlight>
                <a:srgbClr val="FFFFFF"/>
              </a:highlight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Roboto"/>
              <a:buAutoNum type="arabicPeriod"/>
            </a:pP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Struggles with </a:t>
            </a:r>
            <a:r>
              <a:rPr lang="en" b="1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complex reasoning</a:t>
            </a:r>
            <a:r>
              <a:rPr lang="en" dirty="0">
                <a:solidFill>
                  <a:srgbClr val="404040"/>
                </a:solidFill>
                <a:highlight>
                  <a:srgbClr val="FFFFFF"/>
                </a:highlight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– May fail at multi-step logical or mathematical tasks.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title"/>
          </p:nvPr>
        </p:nvSpPr>
        <p:spPr>
          <a:xfrm>
            <a:off x="311700" y="2555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Our approaches to resolve the LLM limitations</a:t>
            </a:r>
            <a:endParaRPr b="1" dirty="0"/>
          </a:p>
        </p:txBody>
      </p:sp>
      <p:graphicFrame>
        <p:nvGraphicFramePr>
          <p:cNvPr id="239" name="Google Shape;239;p35"/>
          <p:cNvGraphicFramePr/>
          <p:nvPr>
            <p:extLst>
              <p:ext uri="{D42A27DB-BD31-4B8C-83A1-F6EECF244321}">
                <p14:modId xmlns:p14="http://schemas.microsoft.com/office/powerpoint/2010/main" val="3665202180"/>
              </p:ext>
            </p:extLst>
          </p:nvPr>
        </p:nvGraphicFramePr>
        <p:xfrm>
          <a:off x="857763" y="1242478"/>
          <a:ext cx="7499522" cy="3077912"/>
        </p:xfrm>
        <a:graphic>
          <a:graphicData uri="http://schemas.openxmlformats.org/drawingml/2006/table">
            <a:tbl>
              <a:tblPr>
                <a:noFill/>
                <a:tableStyleId>{4FE52154-9F5E-421E-930D-8C454976E81E}</a:tableStyleId>
              </a:tblPr>
              <a:tblGrid>
                <a:gridCol w="266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3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Problem</a:t>
                      </a:r>
                      <a:endParaRPr sz="12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Solution</a:t>
                      </a:r>
                      <a:endParaRPr sz="12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1. Limited access to real-world data</a:t>
                      </a:r>
                      <a:endParaRPr sz="1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8593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1. Knowledge Integration via APIs</a:t>
                      </a:r>
                      <a:endParaRPr sz="1000" b="1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Tool-augmented accuracy: Fetch real-time data from ClinVar, gnomAD, UniProt to ground interpretations in evidence.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Dynamic updates: Overcome training cutoffs by querying latest research/classifications.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Standardized evidence: Map API outputs to ACMG/ACGS criteria (e.g., PS1, PM2).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/>
                        <a:t>2. Hallucinations</a:t>
                      </a:r>
                      <a:endParaRPr sz="1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8593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2. Evidence-Driven Automation</a:t>
                      </a:r>
                      <a:endParaRPr sz="1000" b="1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Rule-based reasoning: Automate ACMG classification steps (e.g., PVS1 for loss-of-function).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Uncertainty flags: Highlight low-confidence calls needing manual review.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Audit trails: Log evidence sources for reproducibility (e.g., "Pathogenic per ClinVar X/Y submissions").</a:t>
                      </a:r>
                      <a:endParaRPr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36"/>
          <p:cNvGraphicFramePr/>
          <p:nvPr>
            <p:extLst>
              <p:ext uri="{D42A27DB-BD31-4B8C-83A1-F6EECF244321}">
                <p14:modId xmlns:p14="http://schemas.microsoft.com/office/powerpoint/2010/main" val="967775219"/>
              </p:ext>
            </p:extLst>
          </p:nvPr>
        </p:nvGraphicFramePr>
        <p:xfrm>
          <a:off x="786714" y="1129501"/>
          <a:ext cx="7690021" cy="3520478"/>
        </p:xfrm>
        <a:graphic>
          <a:graphicData uri="http://schemas.openxmlformats.org/drawingml/2006/table">
            <a:tbl>
              <a:tblPr>
                <a:noFill/>
                <a:tableStyleId>{4FE52154-9F5E-421E-930D-8C454976E81E}</a:tableStyleId>
              </a:tblPr>
              <a:tblGrid>
                <a:gridCol w="255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/>
                        <a:t>Problem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/>
                        <a:t>Solution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</a:rPr>
                        <a:t>3. Context window constraints</a:t>
                      </a:r>
                      <a:endParaRPr sz="1000" b="1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593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3. Optimized LLM Workflow</a:t>
                      </a:r>
                      <a:endParaRPr sz="1000" b="1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Prompt engineering: Templates for consistent guideline adherence (e.g., "Extract POPMAX from gnomAD").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Memory management: Cache frequent queries (e.g., common variants) to reduce API costs/latency.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Hybrid logic: Combine LLM flexibility with deterministic rules (e.g., "If allele frequency &gt; 5%, auto-classify as BENIGN").</a:t>
                      </a:r>
                      <a:endParaRPr sz="1000" dirty="0">
                        <a:solidFill>
                          <a:srgbClr val="404040"/>
                        </a:solidFill>
                        <a:highlight>
                          <a:schemeClr val="lt1"/>
                        </a:highlight>
                        <a:latin typeface="Arial" panose="020B0604020202020204" pitchFamily="34" charset="0"/>
                        <a:ea typeface="Roboto"/>
                        <a:cs typeface="Arial" panose="020B0604020202020204" pitchFamily="34" charset="0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/>
                        <a:t>4. </a:t>
                      </a:r>
                      <a:r>
                        <a:rPr lang="en" sz="1000" b="1" dirty="0">
                          <a:solidFill>
                            <a:schemeClr val="dk1"/>
                          </a:solidFill>
                        </a:rPr>
                        <a:t>Struggles with complex reasoning</a:t>
                      </a:r>
                      <a:endParaRPr sz="10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78593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4. Multi-Agent Coordination</a:t>
                      </a: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Specialist agents: Divide tasks (e.g., one agent handles PubMed searches, another computes ACMG scores).</a:t>
                      </a: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Conflict resolution: Cross-check disagreements (e.g., </a:t>
                      </a:r>
                      <a:r>
                        <a:rPr lang="en-US" sz="1000" dirty="0" err="1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ClinVar</a:t>
                      </a:r>
                      <a:r>
                        <a:rPr lang="en-US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 vs. </a:t>
                      </a:r>
                      <a:r>
                        <a:rPr lang="en-US" sz="1000" dirty="0" err="1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UniProt</a:t>
                      </a:r>
                      <a:r>
                        <a:rPr lang="en-US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).</a:t>
                      </a:r>
                    </a:p>
                    <a:p>
                      <a:pPr marL="457200" lvl="0" indent="-2794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04040"/>
                        </a:buClr>
                        <a:buSzPts val="800"/>
                        <a:buFont typeface="Roboto"/>
                        <a:buChar char="●"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highlight>
                            <a:schemeClr val="lt1"/>
                          </a:highlight>
                          <a:latin typeface="Arial" panose="020B0604020202020204" pitchFamily="34" charset="0"/>
                          <a:ea typeface="Roboto"/>
                          <a:cs typeface="Arial" panose="020B0604020202020204" pitchFamily="34" charset="0"/>
                          <a:sym typeface="Roboto"/>
                        </a:rPr>
                        <a:t>Pipeline design: Orchestrate workflows (e.g., "Variant → Annotation → Classification → Report").</a:t>
                      </a:r>
                      <a:endParaRPr lang="en-US" sz="1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097239717"/>
                  </a:ext>
                </a:extLst>
              </a:tr>
            </a:tbl>
          </a:graphicData>
        </a:graphic>
      </p:graphicFrame>
      <p:sp>
        <p:nvSpPr>
          <p:cNvPr id="4" name="Google Shape;238;p35">
            <a:extLst>
              <a:ext uri="{FF2B5EF4-FFF2-40B4-BE49-F238E27FC236}">
                <a16:creationId xmlns:a16="http://schemas.microsoft.com/office/drawing/2014/main" id="{99490ADA-3A9B-874F-7008-31BE6256D2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814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Our approaches to resolve the LLM limitations</a:t>
            </a:r>
            <a:endParaRPr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44651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DeepVAA</a:t>
            </a:r>
            <a:r>
              <a:rPr lang="en" dirty="0"/>
              <a:t> System Architecture: A Multi-Agent Approach</a:t>
            </a:r>
            <a:endParaRPr dirty="0"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498389" y="1152475"/>
            <a:ext cx="80895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b="1" dirty="0"/>
              <a:t>DeepVAA (Deepseek Variant Automation and Annotation) System: </a:t>
            </a:r>
            <a:r>
              <a:rPr lang="en" dirty="0"/>
              <a:t>A novel multi-agent system designed to automate and interpret genetic variants.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b="1" dirty="0"/>
              <a:t>Key Objective:</a:t>
            </a:r>
            <a:r>
              <a:rPr lang="en" dirty="0"/>
              <a:t> To provide comprehensive variant annotation and interpretation through orchestrated specialized agents.</a:t>
            </a:r>
            <a:endParaRPr dirty="0"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b="1" dirty="0"/>
              <a:t>Four Specialized Agents:</a:t>
            </a:r>
            <a:endParaRPr b="1" dirty="0"/>
          </a:p>
          <a:p>
            <a:pPr marL="457200" lvl="0" indent="-308610" algn="just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Knowledge Integration Analyst (Knowledge Agent): Synthesizes structured variant data and consolidates evidence from various sources. This agent's goal is to extract, consolidate, and summarize evidence from ClinVar, gnomAD, and other external sources.</a:t>
            </a:r>
            <a:endParaRPr dirty="0"/>
          </a:p>
          <a:p>
            <a:pPr marL="457200" lvl="0" indent="-308610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ACMG Analysis Agent (ACMG Agent): Responsible for evaluating all 28 ACMG-AMP 2015 criteria based on available clinical, population, computational, and functional evidence.</a:t>
            </a:r>
            <a:endParaRPr dirty="0"/>
          </a:p>
          <a:p>
            <a:pPr marL="457200" lvl="0" indent="-308610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ACGS Scoring Specialist (ACGS Agent): Independently analyzes a variant's ACMG criteria to compute its point-based classification according to the ACGS 2020 Best Practice Guidelines.</a:t>
            </a:r>
            <a:endParaRPr dirty="0"/>
          </a:p>
          <a:p>
            <a:pPr marL="457200" lvl="0" indent="-308610" algn="just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dirty="0"/>
              <a:t>Quality Control Auditor (Quality Control Agent): Serves as a quality control gatekeeper, ensuring annotations are consistent, justified, and reproducible.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4521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CDBE6"/>
          </a:solidFill>
          <a:ln w="1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251" name="Google Shape;251;p37"/>
          <p:cNvSpPr/>
          <p:nvPr/>
        </p:nvSpPr>
        <p:spPr>
          <a:xfrm>
            <a:off x="2187717" y="1030758"/>
            <a:ext cx="6739800" cy="2304000"/>
          </a:xfrm>
          <a:prstGeom prst="rect">
            <a:avLst/>
          </a:prstGeom>
          <a:noFill/>
          <a:ln w="79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/>
          </a:p>
        </p:txBody>
      </p:sp>
      <p:sp>
        <p:nvSpPr>
          <p:cNvPr id="252" name="Google Shape;252;p37"/>
          <p:cNvSpPr/>
          <p:nvPr/>
        </p:nvSpPr>
        <p:spPr>
          <a:xfrm>
            <a:off x="4890733" y="296022"/>
            <a:ext cx="1304100" cy="673500"/>
          </a:xfrm>
          <a:prstGeom prst="rect">
            <a:avLst/>
          </a:prstGeom>
          <a:solidFill>
            <a:srgbClr val="E3F2FD"/>
          </a:solidFill>
          <a:ln w="3975" cap="flat" cmpd="sng">
            <a:solidFill>
              <a:srgbClr val="16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🧬 TMEM94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c.765-1G&gt;C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sp>
        <p:nvSpPr>
          <p:cNvPr id="253" name="Google Shape;253;p37"/>
          <p:cNvSpPr/>
          <p:nvPr/>
        </p:nvSpPr>
        <p:spPr>
          <a:xfrm>
            <a:off x="4375537" y="1227791"/>
            <a:ext cx="2334423" cy="339655"/>
          </a:xfrm>
          <a:prstGeom prst="flowChartPreparation">
            <a:avLst/>
          </a:prstGeom>
          <a:solidFill>
            <a:srgbClr val="E7F5E9"/>
          </a:solidFill>
          <a:ln w="3975" cap="flat" cmpd="sng">
            <a:solidFill>
              <a:srgbClr val="E65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DeepVAA Multi-Agent Orchestrator</a:t>
            </a:r>
            <a:endParaRPr sz="1000"/>
          </a:p>
        </p:txBody>
      </p:sp>
      <p:sp>
        <p:nvSpPr>
          <p:cNvPr id="254" name="Google Shape;254;p37"/>
          <p:cNvSpPr/>
          <p:nvPr/>
        </p:nvSpPr>
        <p:spPr>
          <a:xfrm>
            <a:off x="4789001" y="2009952"/>
            <a:ext cx="1514100" cy="339600"/>
          </a:xfrm>
          <a:prstGeom prst="rect">
            <a:avLst/>
          </a:prstGeom>
          <a:solidFill>
            <a:srgbClr val="E1BEE7"/>
          </a:solidFill>
          <a:ln w="3975" cap="flat" cmpd="sng">
            <a:solidFill>
              <a:srgbClr val="9C2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ACMG</a:t>
            </a:r>
            <a:endParaRPr sz="1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Analysis Agent 🤖</a:t>
            </a:r>
            <a:endParaRPr sz="1000"/>
          </a:p>
        </p:txBody>
      </p:sp>
      <p:sp>
        <p:nvSpPr>
          <p:cNvPr id="255" name="Google Shape;255;p37"/>
          <p:cNvSpPr/>
          <p:nvPr/>
        </p:nvSpPr>
        <p:spPr>
          <a:xfrm>
            <a:off x="6970878" y="2008439"/>
            <a:ext cx="1514100" cy="339600"/>
          </a:xfrm>
          <a:prstGeom prst="rect">
            <a:avLst/>
          </a:prstGeom>
          <a:solidFill>
            <a:srgbClr val="E1BEE7"/>
          </a:solidFill>
          <a:ln w="3975" cap="flat" cmpd="sng">
            <a:solidFill>
              <a:srgbClr val="9C2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Scoring</a:t>
            </a:r>
            <a:endParaRPr sz="1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Analysis Agent 🤖</a:t>
            </a:r>
            <a:endParaRPr sz="1000" dirty="0"/>
          </a:p>
        </p:txBody>
      </p:sp>
      <p:sp>
        <p:nvSpPr>
          <p:cNvPr id="256" name="Google Shape;256;p37"/>
          <p:cNvSpPr/>
          <p:nvPr/>
        </p:nvSpPr>
        <p:spPr>
          <a:xfrm>
            <a:off x="2576186" y="2011464"/>
            <a:ext cx="1514100" cy="339600"/>
          </a:xfrm>
          <a:prstGeom prst="rect">
            <a:avLst/>
          </a:prstGeom>
          <a:solidFill>
            <a:srgbClr val="E1BEE7"/>
          </a:solidFill>
          <a:ln w="3975" cap="flat" cmpd="sng">
            <a:solidFill>
              <a:srgbClr val="9C2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Knowledge Integration Agent 🤖</a:t>
            </a:r>
            <a:endParaRPr sz="1000"/>
          </a:p>
        </p:txBody>
      </p:sp>
      <p:sp>
        <p:nvSpPr>
          <p:cNvPr id="257" name="Google Shape;257;p37"/>
          <p:cNvSpPr/>
          <p:nvPr/>
        </p:nvSpPr>
        <p:spPr>
          <a:xfrm>
            <a:off x="4789000" y="2792137"/>
            <a:ext cx="1514100" cy="339600"/>
          </a:xfrm>
          <a:prstGeom prst="rect">
            <a:avLst/>
          </a:prstGeom>
          <a:solidFill>
            <a:srgbClr val="E1BEE7"/>
          </a:solidFill>
          <a:ln w="3975" cap="flat" cmpd="sng">
            <a:solidFill>
              <a:srgbClr val="9C27B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Quality Control Agent 🤖</a:t>
            </a:r>
            <a:endParaRPr sz="1000"/>
          </a:p>
        </p:txBody>
      </p:sp>
      <p:sp>
        <p:nvSpPr>
          <p:cNvPr id="258" name="Google Shape;258;p37"/>
          <p:cNvSpPr/>
          <p:nvPr/>
        </p:nvSpPr>
        <p:spPr>
          <a:xfrm>
            <a:off x="1396350" y="4059782"/>
            <a:ext cx="1676400" cy="339600"/>
          </a:xfrm>
          <a:prstGeom prst="rect">
            <a:avLst/>
          </a:prstGeom>
          <a:solidFill>
            <a:srgbClr val="E3F2FD"/>
          </a:solidFill>
          <a:ln w="3975" cap="flat" cmpd="sng">
            <a:solidFill>
              <a:srgbClr val="16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Final Classification &amp; Explanation</a:t>
            </a:r>
            <a:endParaRPr sz="10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  <p:grpSp>
        <p:nvGrpSpPr>
          <p:cNvPr id="259" name="Google Shape;259;p37"/>
          <p:cNvGrpSpPr/>
          <p:nvPr/>
        </p:nvGrpSpPr>
        <p:grpSpPr>
          <a:xfrm>
            <a:off x="216513" y="1030372"/>
            <a:ext cx="1676345" cy="2303779"/>
            <a:chOff x="1268050" y="13167275"/>
            <a:chExt cx="5800500" cy="11536200"/>
          </a:xfrm>
        </p:grpSpPr>
        <p:sp>
          <p:nvSpPr>
            <p:cNvPr id="260" name="Google Shape;260;p37"/>
            <p:cNvSpPr/>
            <p:nvPr/>
          </p:nvSpPr>
          <p:spPr>
            <a:xfrm>
              <a:off x="1268050" y="13167275"/>
              <a:ext cx="5800500" cy="11536200"/>
            </a:xfrm>
            <a:prstGeom prst="rect">
              <a:avLst/>
            </a:prstGeom>
            <a:solidFill>
              <a:srgbClr val="FFFFDE"/>
            </a:solidFill>
            <a:ln w="19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075" tIns="19075" rIns="19075" bIns="1907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/>
                <a:t>Reference Databases</a:t>
              </a:r>
              <a:endParaRPr sz="1000" b="1"/>
            </a:p>
          </p:txBody>
        </p:sp>
        <p:pic>
          <p:nvPicPr>
            <p:cNvPr id="261" name="Google Shape;26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2600" y="14365350"/>
              <a:ext cx="5111399" cy="1539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12600" y="16389353"/>
              <a:ext cx="5111400" cy="1840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12600" y="18713985"/>
              <a:ext cx="5111401" cy="2563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7"/>
            <p:cNvSpPr txBox="1"/>
            <p:nvPr/>
          </p:nvSpPr>
          <p:spPr>
            <a:xfrm>
              <a:off x="2678050" y="22956825"/>
              <a:ext cx="2980500" cy="16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75" tIns="19075" rIns="19075" bIns="190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chemeClr val="dk2"/>
                  </a:solidFill>
                </a:rPr>
                <a:t>…</a:t>
              </a:r>
              <a:endParaRPr sz="1900">
                <a:solidFill>
                  <a:schemeClr val="dk2"/>
                </a:solidFill>
              </a:endParaRPr>
            </a:p>
          </p:txBody>
        </p:sp>
        <p:pic>
          <p:nvPicPr>
            <p:cNvPr id="265" name="Google Shape;265;p3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78500" y="21762030"/>
              <a:ext cx="4779597" cy="1700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6" name="Google Shape;266;p37"/>
          <p:cNvCxnSpPr>
            <a:stCxn id="260" idx="3"/>
            <a:endCxn id="256" idx="1"/>
          </p:cNvCxnSpPr>
          <p:nvPr/>
        </p:nvCxnSpPr>
        <p:spPr>
          <a:xfrm rot="10800000" flipH="1">
            <a:off x="1892857" y="2181362"/>
            <a:ext cx="683400" cy="9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7" name="Google Shape;267;p37"/>
          <p:cNvCxnSpPr>
            <a:stCxn id="256" idx="3"/>
            <a:endCxn id="254" idx="1"/>
          </p:cNvCxnSpPr>
          <p:nvPr/>
        </p:nvCxnSpPr>
        <p:spPr>
          <a:xfrm rot="10800000" flipH="1">
            <a:off x="4090286" y="2179764"/>
            <a:ext cx="698700" cy="15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8" name="Google Shape;268;p37"/>
          <p:cNvCxnSpPr>
            <a:stCxn id="254" idx="3"/>
            <a:endCxn id="255" idx="1"/>
          </p:cNvCxnSpPr>
          <p:nvPr/>
        </p:nvCxnSpPr>
        <p:spPr>
          <a:xfrm rot="10800000" flipH="1">
            <a:off x="6303101" y="2178252"/>
            <a:ext cx="667800" cy="15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37"/>
          <p:cNvCxnSpPr>
            <a:stCxn id="254" idx="2"/>
            <a:endCxn id="257" idx="0"/>
          </p:cNvCxnSpPr>
          <p:nvPr/>
        </p:nvCxnSpPr>
        <p:spPr>
          <a:xfrm>
            <a:off x="5546051" y="2349552"/>
            <a:ext cx="0" cy="4425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0" name="Google Shape;270;p37"/>
          <p:cNvCxnSpPr>
            <a:stCxn id="255" idx="2"/>
            <a:endCxn id="257" idx="0"/>
          </p:cNvCxnSpPr>
          <p:nvPr/>
        </p:nvCxnSpPr>
        <p:spPr>
          <a:xfrm flipH="1">
            <a:off x="5546028" y="2348039"/>
            <a:ext cx="2181900" cy="4440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37"/>
          <p:cNvCxnSpPr>
            <a:stCxn id="257" idx="2"/>
            <a:endCxn id="258" idx="0"/>
          </p:cNvCxnSpPr>
          <p:nvPr/>
        </p:nvCxnSpPr>
        <p:spPr>
          <a:xfrm rot="5400000">
            <a:off x="3426400" y="1939987"/>
            <a:ext cx="927900" cy="3311400"/>
          </a:xfrm>
          <a:prstGeom prst="bentConnector3">
            <a:avLst>
              <a:gd name="adj1" fmla="val 37674"/>
            </a:avLst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2" name="Google Shape;272;p37"/>
          <p:cNvCxnSpPr>
            <a:stCxn id="252" idx="2"/>
            <a:endCxn id="253" idx="0"/>
          </p:cNvCxnSpPr>
          <p:nvPr/>
        </p:nvCxnSpPr>
        <p:spPr>
          <a:xfrm>
            <a:off x="5542783" y="969522"/>
            <a:ext cx="0" cy="2583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3" name="Google Shape;273;p37"/>
          <p:cNvCxnSpPr>
            <a:stCxn id="253" idx="2"/>
            <a:endCxn id="254" idx="0"/>
          </p:cNvCxnSpPr>
          <p:nvPr/>
        </p:nvCxnSpPr>
        <p:spPr>
          <a:xfrm>
            <a:off x="5542748" y="1567446"/>
            <a:ext cx="3300" cy="44250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74" name="Google Shape;27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7717" y="770818"/>
            <a:ext cx="1044475" cy="221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/>
          <p:nvPr/>
        </p:nvSpPr>
        <p:spPr>
          <a:xfrm>
            <a:off x="6565770" y="4118916"/>
            <a:ext cx="1514100" cy="221400"/>
          </a:xfrm>
          <a:prstGeom prst="flowChartAlternateProcess">
            <a:avLst/>
          </a:prstGeom>
          <a:solidFill>
            <a:srgbClr val="EB5A2B"/>
          </a:solidFill>
          <a:ln w="1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075" tIns="19075" rIns="19075" bIns="19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lt1"/>
                </a:solidFill>
              </a:rPr>
              <a:t>⚠️ Pathogenic</a:t>
            </a:r>
            <a:endParaRPr sz="800" b="1">
              <a:solidFill>
                <a:schemeClr val="lt1"/>
              </a:solidFill>
            </a:endParaRPr>
          </a:p>
        </p:txBody>
      </p:sp>
      <p:cxnSp>
        <p:nvCxnSpPr>
          <p:cNvPr id="276" name="Google Shape;276;p37"/>
          <p:cNvCxnSpPr>
            <a:stCxn id="258" idx="3"/>
            <a:endCxn id="277" idx="1"/>
          </p:cNvCxnSpPr>
          <p:nvPr/>
        </p:nvCxnSpPr>
        <p:spPr>
          <a:xfrm>
            <a:off x="3072750" y="4229582"/>
            <a:ext cx="798600" cy="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37"/>
          <p:cNvCxnSpPr>
            <a:stCxn id="277" idx="3"/>
            <a:endCxn id="275" idx="1"/>
          </p:cNvCxnSpPr>
          <p:nvPr/>
        </p:nvCxnSpPr>
        <p:spPr>
          <a:xfrm>
            <a:off x="5767170" y="4229616"/>
            <a:ext cx="798600" cy="0"/>
          </a:xfrm>
          <a:prstGeom prst="straightConnector1">
            <a:avLst/>
          </a:prstGeom>
          <a:noFill/>
          <a:ln w="159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79" name="Google Shape;279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71350" y="3785027"/>
            <a:ext cx="1895900" cy="8891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2576175" y="1618750"/>
            <a:ext cx="339600" cy="3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</a:t>
            </a:r>
            <a:endParaRPr sz="1000"/>
          </a:p>
        </p:txBody>
      </p:sp>
      <p:sp>
        <p:nvSpPr>
          <p:cNvPr id="281" name="Google Shape;281;p37"/>
          <p:cNvSpPr/>
          <p:nvPr/>
        </p:nvSpPr>
        <p:spPr>
          <a:xfrm>
            <a:off x="4649500" y="1618900"/>
            <a:ext cx="339600" cy="3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</a:t>
            </a:r>
            <a:endParaRPr sz="1000"/>
          </a:p>
        </p:txBody>
      </p:sp>
      <p:sp>
        <p:nvSpPr>
          <p:cNvPr id="282" name="Google Shape;282;p37"/>
          <p:cNvSpPr/>
          <p:nvPr/>
        </p:nvSpPr>
        <p:spPr>
          <a:xfrm>
            <a:off x="6915050" y="1618900"/>
            <a:ext cx="339600" cy="3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</a:t>
            </a:r>
            <a:endParaRPr sz="1000"/>
          </a:p>
        </p:txBody>
      </p:sp>
      <p:sp>
        <p:nvSpPr>
          <p:cNvPr id="283" name="Google Shape;283;p37"/>
          <p:cNvSpPr/>
          <p:nvPr/>
        </p:nvSpPr>
        <p:spPr>
          <a:xfrm>
            <a:off x="4649500" y="2429975"/>
            <a:ext cx="339600" cy="339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4</a:t>
            </a:r>
            <a:endParaRPr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E1A16-EBE1-FDD7-9EEB-8273ECDC130A}"/>
              </a:ext>
            </a:extLst>
          </p:cNvPr>
          <p:cNvSpPr txBox="1"/>
          <p:nvPr/>
        </p:nvSpPr>
        <p:spPr>
          <a:xfrm>
            <a:off x="2287030" y="130322"/>
            <a:ext cx="4574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/>
              <a:t>DeepVAA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Architecture of an AI Agent</a:t>
            </a:r>
            <a:endParaRPr b="1" dirty="0"/>
          </a:p>
        </p:txBody>
      </p:sp>
      <p:sp>
        <p:nvSpPr>
          <p:cNvPr id="289" name="Google Shape;289;p38"/>
          <p:cNvSpPr txBox="1"/>
          <p:nvPr/>
        </p:nvSpPr>
        <p:spPr>
          <a:xfrm>
            <a:off x="5520200" y="1318475"/>
            <a:ext cx="3433800" cy="3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Model</a:t>
            </a:r>
            <a:r>
              <a:rPr lang="en">
                <a:solidFill>
                  <a:schemeClr val="dk1"/>
                </a:solidFill>
              </a:rPr>
              <a:t>: DeepSeek Chat Model used for agent reasoning.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Memory</a:t>
            </a:r>
            <a:r>
              <a:rPr lang="en">
                <a:solidFill>
                  <a:schemeClr val="dk1"/>
                </a:solidFill>
              </a:rPr>
              <a:t>: a storage system for retaining information.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Tool</a:t>
            </a:r>
            <a:r>
              <a:rPr lang="en">
                <a:solidFill>
                  <a:schemeClr val="dk1"/>
                </a:solidFill>
              </a:rPr>
              <a:t>: APIs calling: "ClinVar API" and "gnomAD API," are external tools the AI Agent can access external world data.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0" name="Google Shape;2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3275"/>
            <a:ext cx="5215401" cy="30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>
            <a:spLocks noGrp="1"/>
          </p:cNvSpPr>
          <p:nvPr>
            <p:ph type="title"/>
          </p:nvPr>
        </p:nvSpPr>
        <p:spPr>
          <a:xfrm>
            <a:off x="123325" y="0"/>
            <a:ext cx="85206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1. Knowledge Agent</a:t>
            </a:r>
            <a:endParaRPr sz="1800" b="1" dirty="0"/>
          </a:p>
        </p:txBody>
      </p:sp>
      <p:pic>
        <p:nvPicPr>
          <p:cNvPr id="296" name="Google Shape;29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25" y="501000"/>
            <a:ext cx="3317861" cy="4490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2875" y="501000"/>
            <a:ext cx="2526349" cy="248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700" y="1505407"/>
            <a:ext cx="2709744" cy="950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7700" y="654762"/>
            <a:ext cx="2709746" cy="77054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 txBox="1"/>
          <p:nvPr/>
        </p:nvSpPr>
        <p:spPr>
          <a:xfrm>
            <a:off x="6370925" y="2748375"/>
            <a:ext cx="26433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</a:rPr>
              <a:t>ClinVar: </a:t>
            </a:r>
            <a:r>
              <a:rPr lang="en" sz="1100">
                <a:solidFill>
                  <a:schemeClr val="dk2"/>
                </a:solidFill>
              </a:rPr>
              <a:t>NM_014049.5(ACAD9):c.976G&gt;A (p.Ala326Thr)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Ref: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link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311700" y="49428"/>
            <a:ext cx="85206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2. ACMG Analysis Agent (BA1 tool calling)</a:t>
            </a:r>
            <a:endParaRPr sz="1800" b="1" dirty="0"/>
          </a:p>
        </p:txBody>
      </p:sp>
      <p:pic>
        <p:nvPicPr>
          <p:cNvPr id="306" name="Google Shape;3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3400"/>
            <a:ext cx="3958800" cy="243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41500"/>
            <a:ext cx="3958799" cy="118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653400"/>
            <a:ext cx="4379611" cy="433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>
            <a:spLocks noGrp="1"/>
          </p:cNvSpPr>
          <p:nvPr>
            <p:ph type="title"/>
          </p:nvPr>
        </p:nvSpPr>
        <p:spPr>
          <a:xfrm>
            <a:off x="311700" y="268050"/>
            <a:ext cx="85206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2. ACMG Analysis Agent (Report generation)</a:t>
            </a:r>
            <a:endParaRPr sz="1800" b="1" dirty="0"/>
          </a:p>
        </p:txBody>
      </p:sp>
      <p:pic>
        <p:nvPicPr>
          <p:cNvPr id="314" name="Google Shape;31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425" y="1586763"/>
            <a:ext cx="4354352" cy="165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375" y="1063229"/>
            <a:ext cx="4297000" cy="301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9000" y="1063225"/>
            <a:ext cx="2919200" cy="3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>
            <a:spLocks noGrp="1"/>
          </p:cNvSpPr>
          <p:nvPr>
            <p:ph type="title"/>
          </p:nvPr>
        </p:nvSpPr>
        <p:spPr>
          <a:xfrm>
            <a:off x="311700" y="74142"/>
            <a:ext cx="85206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3. ACGS Analysis Agent</a:t>
            </a:r>
            <a:endParaRPr sz="1800" b="1" dirty="0"/>
          </a:p>
        </p:txBody>
      </p:sp>
      <p:pic>
        <p:nvPicPr>
          <p:cNvPr id="322" name="Google Shape;3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53400"/>
            <a:ext cx="4606075" cy="335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8600" y="653400"/>
            <a:ext cx="4335400" cy="10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>
            <a:spLocks noGrp="1"/>
          </p:cNvSpPr>
          <p:nvPr>
            <p:ph type="title"/>
          </p:nvPr>
        </p:nvSpPr>
        <p:spPr>
          <a:xfrm>
            <a:off x="311700" y="78261"/>
            <a:ext cx="8520600" cy="5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/>
              <a:t>4. Quality Control Agent</a:t>
            </a:r>
            <a:endParaRPr sz="1800" b="1" dirty="0"/>
          </a:p>
        </p:txBody>
      </p:sp>
      <p:pic>
        <p:nvPicPr>
          <p:cNvPr id="329" name="Google Shape;32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354" y="726093"/>
            <a:ext cx="4837350" cy="23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30" y="727430"/>
            <a:ext cx="3849451" cy="229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>
            <a:spLocks noGrp="1"/>
          </p:cNvSpPr>
          <p:nvPr>
            <p:ph type="title"/>
          </p:nvPr>
        </p:nvSpPr>
        <p:spPr>
          <a:xfrm>
            <a:off x="311700" y="782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DeepVAA: Multi-agent with augmented Clinvar, gnomAD data</a:t>
            </a:r>
            <a:endParaRPr sz="2000" b="1" dirty="0"/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25" y="655313"/>
            <a:ext cx="4182511" cy="207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125" y="2879937"/>
            <a:ext cx="4416263" cy="218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8876" y="634613"/>
            <a:ext cx="3972722" cy="211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2325" y="2991512"/>
            <a:ext cx="3965826" cy="1964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" b="1" dirty="0"/>
              <a:t>DeepVAA outperformanced </a:t>
            </a:r>
            <a:r>
              <a:rPr lang="en-US" b="1" dirty="0"/>
              <a:t>Baseline (</a:t>
            </a:r>
            <a:r>
              <a:rPr lang="en-US" b="1" dirty="0" err="1"/>
              <a:t>deepseek</a:t>
            </a:r>
            <a:r>
              <a:rPr lang="en-US" b="1" dirty="0"/>
              <a:t>-chat)</a:t>
            </a:r>
            <a:endParaRPr b="1" dirty="0"/>
          </a:p>
        </p:txBody>
      </p:sp>
      <p:graphicFrame>
        <p:nvGraphicFramePr>
          <p:cNvPr id="345" name="Google Shape;345;p45"/>
          <p:cNvGraphicFramePr/>
          <p:nvPr>
            <p:extLst>
              <p:ext uri="{D42A27DB-BD31-4B8C-83A1-F6EECF244321}">
                <p14:modId xmlns:p14="http://schemas.microsoft.com/office/powerpoint/2010/main" val="797559335"/>
              </p:ext>
            </p:extLst>
          </p:nvPr>
        </p:nvGraphicFramePr>
        <p:xfrm>
          <a:off x="416011" y="1314977"/>
          <a:ext cx="7775490" cy="2865000"/>
        </p:xfrm>
        <a:graphic>
          <a:graphicData uri="http://schemas.openxmlformats.org/drawingml/2006/table">
            <a:tbl>
              <a:tblPr>
                <a:noFill/>
                <a:tableStyleId>{4FE52154-9F5E-421E-930D-8C454976E81E}</a:tableStyleId>
              </a:tblPr>
              <a:tblGrid>
                <a:gridCol w="196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1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Baseline (deepseek-chat)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DeepVAA (v1)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Pearson correlation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0.736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Jaccard similarity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Confusion matrix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6" name="Google Shape;34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3900" y="2594623"/>
            <a:ext cx="2752049" cy="14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599" y="2615218"/>
            <a:ext cx="2709775" cy="143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Discussion</a:t>
            </a:r>
            <a:endParaRPr b="1" dirty="0"/>
          </a:p>
        </p:txBody>
      </p:sp>
      <p:sp>
        <p:nvSpPr>
          <p:cNvPr id="353" name="Google Shape;353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Future Development</a:t>
            </a:r>
            <a:r>
              <a:rPr lang="en" dirty="0"/>
              <a:t>: continue to implement and refine specific ACMG criteria checks within the system.</a:t>
            </a:r>
            <a:endParaRPr dirty="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dirty="0"/>
              <a:t>Agent Refinement</a:t>
            </a:r>
            <a:r>
              <a:rPr lang="en" dirty="0"/>
              <a:t>: improve the instructions and reasoning capabilities of the individual agents.</a:t>
            </a:r>
            <a:endParaRPr dirty="0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DeepVAA project aims to enhance the efficiency and accuracy of genetic variant interpretation, thereby streamlining clinical genomics workflows and improving the reliability of variant classification in medical practice.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Current work: 28 criteria of ACMG guidelines</a:t>
            </a:r>
            <a:endParaRPr b="1" dirty="0"/>
          </a:p>
        </p:txBody>
      </p:sp>
      <p:pic>
        <p:nvPicPr>
          <p:cNvPr id="359" name="Google Shape;3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5600"/>
            <a:ext cx="8839200" cy="150111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7"/>
          <p:cNvSpPr txBox="1"/>
          <p:nvPr/>
        </p:nvSpPr>
        <p:spPr>
          <a:xfrm>
            <a:off x="182600" y="1294300"/>
            <a:ext cx="89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Solved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3317625" y="1294300"/>
            <a:ext cx="17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In-progress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6437425" y="1294300"/>
            <a:ext cx="171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Future-works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>
            <a:spLocks noGrp="1"/>
          </p:cNvSpPr>
          <p:nvPr>
            <p:ph type="title"/>
          </p:nvPr>
        </p:nvSpPr>
        <p:spPr>
          <a:xfrm>
            <a:off x="311700" y="50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Current work: 28 criteria of ACMG guidelines</a:t>
            </a:r>
            <a:endParaRPr b="1" dirty="0"/>
          </a:p>
        </p:txBody>
      </p:sp>
      <p:pic>
        <p:nvPicPr>
          <p:cNvPr id="368" name="Google Shape;3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814" y="623400"/>
            <a:ext cx="5316830" cy="434565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8"/>
          <p:cNvSpPr/>
          <p:nvPr/>
        </p:nvSpPr>
        <p:spPr>
          <a:xfrm>
            <a:off x="2007164" y="929725"/>
            <a:ext cx="795600" cy="5037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8"/>
          <p:cNvSpPr/>
          <p:nvPr/>
        </p:nvSpPr>
        <p:spPr>
          <a:xfrm>
            <a:off x="4487839" y="901150"/>
            <a:ext cx="873300" cy="5727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8"/>
          <p:cNvSpPr/>
          <p:nvPr/>
        </p:nvSpPr>
        <p:spPr>
          <a:xfrm>
            <a:off x="6824383" y="4783050"/>
            <a:ext cx="484800" cy="1860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8"/>
          <p:cNvSpPr txBox="1"/>
          <p:nvPr/>
        </p:nvSpPr>
        <p:spPr>
          <a:xfrm>
            <a:off x="7392939" y="4706700"/>
            <a:ext cx="94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In-progress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3736239" y="1433425"/>
            <a:ext cx="751500" cy="5643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8"/>
          <p:cNvSpPr/>
          <p:nvPr/>
        </p:nvSpPr>
        <p:spPr>
          <a:xfrm>
            <a:off x="2831739" y="1433425"/>
            <a:ext cx="904500" cy="3789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48"/>
          <p:cNvSpPr/>
          <p:nvPr/>
        </p:nvSpPr>
        <p:spPr>
          <a:xfrm>
            <a:off x="4487839" y="2605075"/>
            <a:ext cx="834300" cy="5037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48"/>
          <p:cNvSpPr/>
          <p:nvPr/>
        </p:nvSpPr>
        <p:spPr>
          <a:xfrm>
            <a:off x="6112739" y="1433425"/>
            <a:ext cx="576300" cy="6384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8"/>
          <p:cNvSpPr/>
          <p:nvPr/>
        </p:nvSpPr>
        <p:spPr>
          <a:xfrm>
            <a:off x="6824383" y="4520550"/>
            <a:ext cx="484800" cy="1860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8"/>
          <p:cNvSpPr txBox="1"/>
          <p:nvPr/>
        </p:nvSpPr>
        <p:spPr>
          <a:xfrm>
            <a:off x="7392939" y="4444200"/>
            <a:ext cx="595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Solved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5361138" y="1453527"/>
            <a:ext cx="751500" cy="4371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8"/>
          <p:cNvSpPr/>
          <p:nvPr/>
        </p:nvSpPr>
        <p:spPr>
          <a:xfrm>
            <a:off x="5322138" y="2605076"/>
            <a:ext cx="790500" cy="5037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8"/>
          <p:cNvSpPr/>
          <p:nvPr/>
        </p:nvSpPr>
        <p:spPr>
          <a:xfrm>
            <a:off x="4487839" y="1453825"/>
            <a:ext cx="834300" cy="5037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8"/>
          <p:cNvSpPr/>
          <p:nvPr/>
        </p:nvSpPr>
        <p:spPr>
          <a:xfrm>
            <a:off x="3736239" y="4397300"/>
            <a:ext cx="751500" cy="2331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8"/>
          <p:cNvSpPr/>
          <p:nvPr/>
        </p:nvSpPr>
        <p:spPr>
          <a:xfrm>
            <a:off x="3736239" y="2605075"/>
            <a:ext cx="751500" cy="5037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8"/>
          <p:cNvSpPr/>
          <p:nvPr/>
        </p:nvSpPr>
        <p:spPr>
          <a:xfrm>
            <a:off x="2831744" y="1812325"/>
            <a:ext cx="904500" cy="3228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8"/>
          <p:cNvSpPr/>
          <p:nvPr/>
        </p:nvSpPr>
        <p:spPr>
          <a:xfrm>
            <a:off x="2831639" y="2368150"/>
            <a:ext cx="904500" cy="2331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2831739" y="2135050"/>
            <a:ext cx="904500" cy="233100"/>
          </a:xfrm>
          <a:prstGeom prst="rect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8"/>
          <p:cNvSpPr/>
          <p:nvPr/>
        </p:nvSpPr>
        <p:spPr>
          <a:xfrm>
            <a:off x="2007168" y="2605075"/>
            <a:ext cx="824400" cy="5037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8"/>
          <p:cNvSpPr/>
          <p:nvPr/>
        </p:nvSpPr>
        <p:spPr>
          <a:xfrm>
            <a:off x="2831564" y="4397300"/>
            <a:ext cx="904500" cy="233100"/>
          </a:xfrm>
          <a:prstGeom prst="rect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References</a:t>
            </a:r>
            <a:endParaRPr b="1" dirty="0"/>
          </a:p>
        </p:txBody>
      </p:sp>
      <p:sp>
        <p:nvSpPr>
          <p:cNvPr id="394" name="Google Shape;394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[1] "A review of genetic variant databases and machine learning tools for predicting the pathogenicity of breast cancer,"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[2] "SpatialAgent: An autonomous AI agent for spatial biology,"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[3] "LEAP: Using machine learning to support variant classification in a clinical setting,"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[4] "Classification of genetic variants using machine learning,"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[5] "A machine learning approach based on ACMG-AMP guidelines for genomic variant classification and prioritization,"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[6] "A comprehensive review of deep learning-based variant calling methods," 2025.</a:t>
            </a:r>
            <a:endParaRPr sz="1000"/>
          </a:p>
        </p:txBody>
      </p:sp>
      <p:sp>
        <p:nvSpPr>
          <p:cNvPr id="395" name="Google Shape;395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[7] "Diagnostic Classification and Prognostic Prediction Using Common Genetic Variants in Autism Spectrum Disorder"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[8] "The future role of facial image analysis in ACMG classification guidelines,"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[9] "Biomedical informatics and machine learning for clinical genomics,"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[10] "Implementation of AMP Guidelines,"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[11] "ACMG-AMP updated guidelines and engaging underrepresented groups in ClinGen main session," 2025.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/>
              <a:t>[12] "ACMG Standards Guidelines for the Interpretation of Sequence," 2025.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311700" y="1313934"/>
            <a:ext cx="8520600" cy="2533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Thank you for your attention!</a:t>
            </a:r>
            <a:br>
              <a:rPr lang="en" sz="3600" b="1" dirty="0"/>
            </a:br>
            <a:r>
              <a:rPr lang="en" sz="3600" b="1" dirty="0"/>
              <a:t>Q&amp;A</a:t>
            </a:r>
            <a:br>
              <a:rPr lang="en" b="1" dirty="0"/>
            </a:br>
            <a:br>
              <a:rPr lang="en" b="1" dirty="0"/>
            </a:br>
            <a:r>
              <a:rPr lang="en" dirty="0">
                <a:solidFill>
                  <a:schemeClr val="accent1"/>
                </a:solidFill>
              </a:rPr>
              <a:t>Xuan-Hong Ong, Master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(</a:t>
            </a:r>
            <a:r>
              <a:rPr lang="en" dirty="0" err="1">
                <a:solidFill>
                  <a:schemeClr val="accent1"/>
                </a:solidFill>
              </a:rPr>
              <a:t>ongxuanhong@gmail.com</a:t>
            </a:r>
            <a:r>
              <a:rPr lang="en" dirty="0">
                <a:solidFill>
                  <a:schemeClr val="accent1"/>
                </a:solidFill>
              </a:rPr>
              <a:t>)</a:t>
            </a:r>
            <a:endParaRPr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4902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2288</Words>
  <Application>Microsoft Office PowerPoint</Application>
  <PresentationFormat>On-screen Show (16:9)</PresentationFormat>
  <Paragraphs>258</Paragraphs>
  <Slides>49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Roboto</vt:lpstr>
      <vt:lpstr>arial</vt:lpstr>
      <vt:lpstr>Calibri Light</vt:lpstr>
      <vt:lpstr>Simple Light</vt:lpstr>
      <vt:lpstr>Custom</vt:lpstr>
      <vt:lpstr>Large Language Model in genetic variant classification</vt:lpstr>
      <vt:lpstr>PowerPoint Presentation</vt:lpstr>
      <vt:lpstr>Content</vt:lpstr>
      <vt:lpstr>Congenital Heart Disease (CHD)</vt:lpstr>
      <vt:lpstr>Congenital Heart Defect NGS Panel for diagnosis</vt:lpstr>
      <vt:lpstr>Congenital Heart Defect NGS Panel: steps</vt:lpstr>
      <vt:lpstr>Congenital Heart Defect NGS Panel: steps</vt:lpstr>
      <vt:lpstr>PowerPoint Presentation</vt:lpstr>
      <vt:lpstr>ClinVar: Human variations classified for diseases and drug responses</vt:lpstr>
      <vt:lpstr>ClinVar: Human variations classified for diseases and drug responses</vt:lpstr>
      <vt:lpstr>Annotation of CHD7 variants using ClinVar</vt:lpstr>
      <vt:lpstr>Annotation of CHD7 variants using ClinVar</vt:lpstr>
      <vt:lpstr>Annotation of CHD7 variants using ClinVar</vt:lpstr>
      <vt:lpstr>Annotation of CHD7 variants using ClinVar</vt:lpstr>
      <vt:lpstr>Annotation of CHD7 variants using ClinVar</vt:lpstr>
      <vt:lpstr>ACMG guidelines</vt:lpstr>
      <vt:lpstr>Scoring and Classification</vt:lpstr>
      <vt:lpstr>The Challenge of Variant Interpretation  following the ACMG-AMP 2015 </vt:lpstr>
      <vt:lpstr>Why Large Language Models (LLM)?</vt:lpstr>
      <vt:lpstr>CHD data profile (189 genes, 408,231 variants)</vt:lpstr>
      <vt:lpstr>Varsome Variant Interpretation as gold standard</vt:lpstr>
      <vt:lpstr>Varsome Variant Interpretation as gold standard</vt:lpstr>
      <vt:lpstr>Data Preparation CHD (170 genes, 3312 variants)</vt:lpstr>
      <vt:lpstr>Evaluation Metrics</vt:lpstr>
      <vt:lpstr>Jaccard Similarity</vt:lpstr>
      <vt:lpstr>PowerPoint Presentation</vt:lpstr>
      <vt:lpstr>Baseline: in-context prompting</vt:lpstr>
      <vt:lpstr>Baseline: in-context prompting (example)</vt:lpstr>
      <vt:lpstr>Baseline: in-context prompting (example)</vt:lpstr>
      <vt:lpstr>Baseline (deepseek-chat)</vt:lpstr>
      <vt:lpstr>Hallucination example</vt:lpstr>
      <vt:lpstr>LLM limitations</vt:lpstr>
      <vt:lpstr>Our approaches to resolve the LLM limitations</vt:lpstr>
      <vt:lpstr>Our approaches to resolve the LLM limitations</vt:lpstr>
      <vt:lpstr>DeepVAA System Architecture: A Multi-Agent Approach</vt:lpstr>
      <vt:lpstr>PowerPoint Presentation</vt:lpstr>
      <vt:lpstr>Architecture of an AI Agent</vt:lpstr>
      <vt:lpstr>1. Knowledge Agent</vt:lpstr>
      <vt:lpstr>2. ACMG Analysis Agent (BA1 tool calling)</vt:lpstr>
      <vt:lpstr>2. ACMG Analysis Agent (Report generation)</vt:lpstr>
      <vt:lpstr>3. ACGS Analysis Agent</vt:lpstr>
      <vt:lpstr>4. Quality Control Agent</vt:lpstr>
      <vt:lpstr>DeepVAA: Multi-agent with augmented Clinvar, gnomAD data</vt:lpstr>
      <vt:lpstr>DeepVAA outperformanced Baseline (deepseek-chat)</vt:lpstr>
      <vt:lpstr>Discussion</vt:lpstr>
      <vt:lpstr>Current work: 28 criteria of ACMG guidelines</vt:lpstr>
      <vt:lpstr>Current work: 28 criteria of ACMG guidelines</vt:lpstr>
      <vt:lpstr>References</vt:lpstr>
      <vt:lpstr>Thank you for your attention! Q&amp;A  Xuan-Hong Ong, Master (ongxuanhong@gmail.com)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ACMG Guideline for Germline Variant Interpretation with Large Language Models</dc:title>
  <dc:creator>dell</dc:creator>
  <cp:lastModifiedBy>Luu Loi</cp:lastModifiedBy>
  <cp:revision>74</cp:revision>
  <dcterms:modified xsi:type="dcterms:W3CDTF">2025-11-30T05:19:38Z</dcterms:modified>
</cp:coreProperties>
</file>